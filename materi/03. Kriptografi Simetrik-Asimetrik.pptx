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handoutMasterIdLst>
    <p:handoutMasterId r:id="rId8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40" r:id="rId55"/>
    <p:sldId id="309" r:id="rId56"/>
    <p:sldId id="310" r:id="rId57"/>
    <p:sldId id="311" r:id="rId58"/>
    <p:sldId id="312" r:id="rId59"/>
    <p:sldId id="313" r:id="rId60"/>
    <p:sldId id="314" r:id="rId61"/>
    <p:sldId id="341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BA46C8-8110-8D0D-02BE-7AA92E29A11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BBA73-9FEA-5387-82DB-EE49CF1D8A8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FE93D-6270-65D1-6E48-9098FE023080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D046D-6296-19BB-53FA-0505D3A7B97F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9D1C246-34DA-49FE-86BA-0607B3069FD0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625019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7659B-67F6-44A0-5530-FE65E2710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5999" y="812517"/>
            <a:ext cx="7127281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2CF1B-E2CA-3399-FDF0-6363E3516D0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2002294-CD70-B501-D0EC-9B3BB7AA66E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8F1C7-65A2-4D84-5F56-2B422388F1B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34323-9571-849C-CAA8-06D0CB367B7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BF054-9A35-1BF3-A8B2-6F541FAD2C8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C87121BF-7881-4D01-A2C6-711A0DAB4F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8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F318F75-8B04-6F8E-D9C3-1D148C400654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8F37597-7A46-476C-B8F3-10718EFFD9D3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7BA0610-FA93-D36B-6391-50285F354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8D45C1D-55CB-5862-4C09-53631766D0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F0F17AE-466D-79F4-8E98-802BB38EF655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9FDC7C3-A147-4E5B-9BDE-293E1A061DDF}" type="slidenum">
              <a:t>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420663F-301E-7BE6-F80E-2C46D26AE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EFA0D16-0255-F16B-A202-A67D63102B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6196716-6CA1-1C70-67CD-C6C8DF29CD0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B439D85-0B34-4E2B-A5AA-B879322A5535}" type="slidenum">
              <a:t>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56128F9-A3FA-24F1-6274-CB81664CC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2096098-4458-F6FF-66A8-3E4D3FF78A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5FFD5D8-2B58-7E82-642E-4F06F061BA4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AED9661-D02F-4E71-89A0-22A84B8DC039}" type="slidenum">
              <a:t>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DDDB409-9B91-29C0-E8BD-C400551AB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72219CBB-9A60-5F8E-097A-DB15BE6F26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2F32BBC-75F8-DFBD-E4A3-715C2E3BD6AA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3AA75C0-2B54-4547-9FC8-13F3A4E6BE1E}" type="slidenum">
              <a:t>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768E874-034E-2420-6920-1284459DC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C928229-82EB-4B30-1E33-32CB6831E54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F2BA9CD-12E1-72AB-30F8-0BC599AA2E3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7929C0F-42E9-4867-BC56-5C8C770A79CB}" type="slidenum">
              <a:t>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89AD25E-8373-3FA9-0924-04D762C08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0B7C976-29A1-6058-7B41-409DBF4E6C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2872D3C-2C57-038E-1854-484538CD975D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11DA5F3-46A4-4AD2-820F-64BEF6B26BAD}" type="slidenum">
              <a:t>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22ABB6AC-948E-18A5-ED12-92A05774F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98C601C-EF3D-A7BB-A679-5DDA4E05F35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28CA54B-D76F-8E3B-8713-63B1D845B56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1FF1E73-A40A-4F67-B1A8-D980DFE3ACD5}" type="slidenum">
              <a:t>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74827FB-5178-FFAF-02DB-4C56E44AD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2F3148E-B21C-8FB1-4C3D-79F4BC38F0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48F97C5-0C61-8758-46B5-66256BFDC5EB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966447C-0F7F-47D3-AE53-E20F3753F03F}" type="slidenum">
              <a:t>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E3DD382-4B59-A19B-9789-BF65B8441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221B260-1DAD-1374-2028-DA3CACC190C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A44CA7A-0DF7-5503-71B0-F89A8B1C474C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C47A1D-A17B-4611-8F2D-CC2C79E198A4}" type="slidenum">
              <a:t>10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0BF377B-18EA-BD13-AA6D-C37A49EFA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6E7D7084-9FA3-C589-5A08-AD10CD549B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E8B2673-DBE0-88BC-DCD2-C5DDB76F51C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8B29362-D5E9-437D-9F2D-AF28668D6EA9}" type="slidenum">
              <a:t>11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A0F9E07-EDB6-C67D-E68D-B618E2E51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B0FAC66-860B-DE82-C50E-DDD78FFC902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7212D0B-53BC-0C26-5919-4BFA8C3E184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FC41D49-7FAD-4B39-B7DE-5499F3B2EDEC}" type="slidenum">
              <a:t>12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19B0513-4265-47F5-3851-99947119C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E3C4F19-C381-16C3-1E36-6D974E9F1C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7933BC9-2EF5-3C7C-52F0-3F25505918F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88BEE22-C296-48F7-A0CB-F2619B747C1A}" type="slidenum">
              <a:t>13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88A0D41-B2F2-9E3D-9F31-BCF4AE73C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D223B40-26C2-ED0B-9D1D-FD79F31493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19E7F02-D446-7160-C001-6425F97C799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4538C6-3315-4521-8A79-9FF910CD8B1A}" type="slidenum">
              <a:t>14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81EB43A4-40BD-0905-65F2-8041A0B4E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B89009C-6B46-A351-C522-BA19DF29A3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FAEB952-3ABC-788B-233F-99C1CEFA120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29CC6CF-066C-4652-A5C6-4E4BA7868D4B}" type="slidenum">
              <a:t>15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EC41147-C02F-01FB-4B4F-2A69E83F3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D57017A-E281-806B-C88C-B96EA7B4139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A188B90-05FE-6D51-CDEF-3BAA83F75753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1818678-C7A0-40BF-91A1-C16F0BCDB8E3}" type="slidenum">
              <a:t>16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007A44F5-BD37-EEEF-63D6-3522985A2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DC8A6CE-18CD-E2B1-12D1-2EE0DC408F4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3CC965B-E3C5-79F1-22C8-7CD3B41D540B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0AD1BCE-3E33-4652-8072-DD7DDFB52571}" type="slidenum">
              <a:t>17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63B5903-6F51-9B00-58D4-CB91D8F24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6873D0E-3A8E-B021-4227-FAE6EA1DE5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BBEE8B4-943C-53B0-DC2B-7F48F9EA495E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711150C-B0BB-4B7E-A783-7F811CA4CE59}" type="slidenum">
              <a:t>18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34BD1FB-C2E7-9AB5-EA39-0C402C545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63E8E25-958B-3023-89C5-2932D26393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3181E80-4676-3C1C-AB23-E9E91C3ED29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913032F-4BAB-4C9B-8A70-739433E75CA1}" type="slidenum">
              <a:t>19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0E6F022-549E-5BB7-AD44-FC433A8F4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03FBDE7-5860-E282-73D5-288009640CC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F71FFF2-32C2-1DD5-9BC4-C05A16046963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D2F2D16-CA25-4597-BFBB-C9054E121A02}" type="slidenum">
              <a:t>20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28C91D6-676E-114D-E67B-04936032C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BDA3DA0-F3D0-298D-CF20-D3D7B538CA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0E97AD8-4878-0BFA-DFD9-AEEEFD5991C4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7710566-F126-4683-AE82-141F52044131}" type="slidenum">
              <a:t>21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8C382F73-F320-A164-42CF-486C8BE0D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C81017E-CACE-14C8-9E43-6E50347635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6CE9B0D-E18F-F6D5-5054-0338FB5405A6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55E25F9-CF7D-4721-BDDC-4267D1E1E00F}" type="slidenum">
              <a:t>22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D6E324B-9C7C-C767-1C26-DF4A9244F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7007552-8D7E-3131-535E-AE6578F232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27E2779-4D5D-2CDC-3C26-E38E7103F82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EEB578A-FA5A-4002-9EFC-8FA6B92D24FE}" type="slidenum">
              <a:t>23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511C603-B975-4696-8F14-B9FCB2B58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785A5496-D6ED-AAB0-39CD-CECAA5B97B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83FF972-F17D-F033-DF07-17C172852F20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0D506B0-0803-43F6-ADB7-6FD78FC6B6D9}" type="slidenum">
              <a:t>24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C2F4F6E-B43F-1995-CE6B-EF1C06428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6B8F3C3-C27C-18DA-59BB-71226538ACF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6DA9738-E54C-B699-BFAD-5710B87C84C8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AC215BA-B4D1-40EF-BDD3-B8967797FAE2}" type="slidenum">
              <a:t>25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EEA4F59-17E5-FB13-7052-29D49BC26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D893343-3FFB-B095-CF10-B9F95F6441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CE808DF-B9AF-001D-8C95-C4F6694F0254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238A95A-B8FD-40CB-8672-DC5822512F1F}" type="slidenum">
              <a:t>26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26DF987-0F34-5B6C-8670-22191EFEB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AF5BE890-1A50-B254-DCCE-06581CC781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8253D24-C5C8-F0AA-53BB-482D8862C35D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ABB4BEB-6B30-4E49-AD4C-181C756B6A71}" type="slidenum">
              <a:t>27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1CD25F9-C569-889B-779B-286921D40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7A54CAEA-7D15-72D9-BFA2-5AA66CC9616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155188F-6073-1513-E382-8FE21DBFE68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5553270-2F4E-4DD0-A0AF-337AC58A0E3D}" type="slidenum">
              <a:t>28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E10898C-B6A6-3D8B-5466-D219FE1D2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643C330-F239-77DA-139B-86E47EF886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152112B-852C-1AB2-34BA-0FAAD40D648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8CD9D09-1E4E-463B-A865-A2F950CFC958}" type="slidenum">
              <a:t>29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52A2B5D-D5B7-CCEE-36E0-0007CE4A6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9513A03-5933-B721-C2B0-78AA413C274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EE1B002-AF45-0308-C742-9FA80CB6F4F5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59C447C-827A-4555-BBCC-C1B4B58E98E9}" type="slidenum">
              <a:t>30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9EE6216-696A-C3E2-C323-14B5C565F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0A0F379-21BD-C75E-0F5E-010D2028A7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E5C3F1D-78A2-1958-F7CE-4D2965D28085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030C640-B0E2-47E4-AB37-FDAE2B3B0DBB}" type="slidenum">
              <a:t>31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C848C92E-A2B5-BB5D-0B6E-A8587F4E7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890EAE9-E799-8F93-91DC-1222F4A68CB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3022E2A-5629-D43D-AB4B-2AAC9A3AB065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F6CCF48-B0F1-47C2-919B-E20302336C09}" type="slidenum">
              <a:t>32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F0096B7-427B-CEAD-911F-4290556D0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B95A077-78EB-B905-71E6-A021AC40B2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0D41149-9661-A1E5-DD5E-90C0F6C5675E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6C45E01-4AFB-41AF-9996-26EAE8C4BCF8}" type="slidenum">
              <a:t>33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1BD23EE-69B0-B136-D33A-1A3F750BB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65A8B29-8EBE-B350-5834-9732658C688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2D508E0-A31C-2FE8-570C-B20FEE636F10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89E8B14-A212-4483-9849-08C453B8D57D}" type="slidenum">
              <a:t>34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D741F4D-6E10-5C63-DEB9-B3644B1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DEAAC1C-1477-FBE0-8464-2F9B515709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E3457D2-11E0-3CB0-9304-C5014D326F37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E3C3216-9838-4012-9ED4-9CC09F1701D6}" type="slidenum">
              <a:t>35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13B278B-3330-7094-A1FC-8D1FBC37F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8D4C8B0-9C7B-9B32-DB2D-9E08AADEB9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D25E1E5-70EC-16CD-4C02-78DEBBC66BD8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F2A231D-19D9-493C-8172-23E5C7F6C814}" type="slidenum">
              <a:t>36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C8D6356F-26CE-99A8-6425-6632CADCB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65E85C6F-9592-FB1D-6531-5DF385EAFA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3BFCF0E-B2DC-EBB9-DC17-4A659D29F9FA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A0A4EB9-6C94-4078-94C9-281FA46A7CDA}" type="slidenum">
              <a:t>37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23BD5A2F-3300-02D4-879E-5DB2CEEDD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5B1D95E-FEDF-9E3A-22FF-2A6E143F47D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FCFF79B-5D91-1F22-5402-9BC0B363565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A223444-5BCE-4FBC-9503-87B53561C572}" type="slidenum">
              <a:t>38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0288F22D-CF77-872E-D973-0323E7C7C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5AC273B-835D-9F0D-C9E8-B95D0637EE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022D6B2-2FA2-A248-AAC7-2BE439C2C065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0FF6CC2-D95F-42BE-9B43-F59171845D10}" type="slidenum">
              <a:t>39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C00FBBCB-757B-9E21-64DD-F72BB6318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5D68194-0E2F-D181-4449-94AF532FC7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F4D2D61-CE4B-A371-4E46-A3421CDFF99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0C2EF7D-5F91-4B32-B4AB-B70674B6764E}" type="slidenum">
              <a:t>40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AB43FCE-165C-BEE5-D217-71F811AA0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5C11169C-15A3-576C-4F95-D750CE4C7D6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B81D950-2259-D72A-25A5-C155828AD7A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AE97C9E-B94F-40EC-8971-82C4B9E5901F}" type="slidenum">
              <a:t>41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D85BA3F-B5C6-0F2D-1B47-AB93E27A3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9F215FE-BF2A-B5A3-8974-AF139D3F81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7BD9780-F64F-21B0-8844-FBCEF29D9CB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4C3DB89-A24C-4F0D-912A-5C9691154C21}" type="slidenum">
              <a:t>42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8E3F855E-3B38-4199-6F99-7A505796E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F1BED7B-357B-B5D7-41FC-D0789FAE8C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9327A58-942F-2D5D-EFB3-8BAFACA98448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DEE8935-55E6-4CEB-AD77-CBA7AEC5A463}" type="slidenum">
              <a:t>43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89585ADF-7957-8985-068D-86C5307B5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2A42D78-535D-F282-9E47-375F57D495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0280B7B-BA30-2B5D-C9D0-BA3B5DD297A7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73AC229-21B7-4DD6-B97F-B46BDAAD4A21}" type="slidenum">
              <a:t>44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661175E-F3EB-9231-A366-87DD1CAFF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6C9480E-C992-4DE4-0753-F0FEDB2B73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60E45EF-8402-303B-C3DF-7F77F146366B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F3F3745-B68A-4474-B9C0-7BE87AD00983}" type="slidenum">
              <a:t>45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1BB4AD2-5E51-B12C-2723-55A71ACD0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A42B41F-57E2-6131-372D-35D9EA21EB7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C01E278-FDC4-EE40-AF90-F3DD4410AE2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C0F4B66-ED53-4A69-B320-7D8E73B37006}" type="slidenum">
              <a:t>46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4EA02BCA-D855-93B2-E2C2-4E1119574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5E1FBB6-0165-3890-71AA-9FA279C6E70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4BA3372-B44B-2601-84AE-6A143B09A358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8A0854-EE61-4369-A745-526CFB20BBBC}" type="slidenum">
              <a:t>47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2C387842-6010-68A4-A270-FF6511B94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8EEDF29-6764-27A1-3966-92DF7708C6A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C10AA40-0392-C55B-D868-C8849685874B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D7B1CF0-177C-4AA2-AD59-134B8A0B4BFA}" type="slidenum">
              <a:t>48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274B94B2-2F73-FC8C-5E8B-82FFDE00D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087DD2E-CC2E-0EDC-A1B5-99C8EED006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BD522ED-484E-13FA-C02C-203DF1378E7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EAEED79-1172-4686-909B-F0E906B15B93}" type="slidenum">
              <a:t>49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50F107C-B972-68F2-38A3-26FBE486A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51F387BD-EF1E-013A-7488-E49EDE9649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965EDDE-0AAD-D5D7-87F1-39E28D618F94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46E30BF-7817-4AFF-927E-CB98A16C4D71}" type="slidenum">
              <a:t>50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2FE6BD0-9256-31DD-798F-E33799451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732148D0-42B5-8455-59BE-A832753346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DA34F6E-8367-691D-C721-B85AC7BB4D7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07E11BC-5D69-42C0-B6FE-73EB0D51904D}" type="slidenum">
              <a:t>51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48EE7C2-FC02-A543-F006-A8D8BDEB4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5B9EFC2-7A5D-5CF3-7FF6-7B115E592E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7F46574-F488-DEDE-73F4-1B4A61AD5CD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700141A-4B85-42BD-91EC-C5BC7AA86DFD}" type="slidenum">
              <a:t>52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5892622-62F4-CA59-26B5-8EC4AEEA4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EAC5B2B-FDF5-847A-20E5-F9895A443CE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00E3838-B504-7CCC-E646-5D526C1500E0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65A82E1-FDC4-42E6-9587-E4ED475E56DB}" type="slidenum">
              <a:t>55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1515CEC-EEB9-F476-2D4D-42017C671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69F09A3-5408-0531-5C96-42133D3AA54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13157DB-2B65-06AE-63B4-41B84D3EBCAD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B29057-21CA-47FF-95F5-BAC0EC1DD82B}" type="slidenum">
              <a:t>56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4835E6A-DB50-EAE3-95CF-DF00890EF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5FB60E0-8847-23FD-1117-C908C9ED40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32B1F4C-982A-772B-A108-477C9B649EC8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51E073-F6F7-49F7-A766-C48556CAD2D7}" type="slidenum">
              <a:t>57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06679E68-89B2-DEC4-DA92-DB52398C3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169DBA5-E755-C344-6E4A-D7CFA374CA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1D233E1-CD79-FEE5-002A-138834E1477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0CC9DBB-7C86-4F74-BDD7-C8BF5DD8C140}" type="slidenum">
              <a:t>58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1D30F5F-CB6E-9B3B-B4F9-2DA946D42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D754436-18A2-81B8-498D-B8673B5701F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0C03473-FA02-D7E8-53D8-70132BC19D8C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1184C01-2DF9-4DC2-B214-458F1B324DCA}" type="slidenum">
              <a:t>59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ECCE228-6D31-2D54-8147-9CEACFAB1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A198890C-ACAC-F129-FA2C-2B09213B0DA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AD5426E-3C98-AE93-0A48-05DD5F81F620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BBBA840-7A6E-4310-80C4-BBC120799F2C}" type="slidenum">
              <a:t>60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0121774E-6411-839D-CF68-C717CC9DD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CF6DD08-E41A-F895-A1F2-867480E6583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6F3EDAF-588D-9316-E931-794E45424C6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E79A1FD-D805-4F91-8468-BC4C70E06106}" type="slidenum">
              <a:t>62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FF65FF7-827C-1080-D3EB-E5F55D9F6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01691"/>
            <a:ext cx="7126284" cy="401002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E3E12D5-D15B-08E5-0D0E-20F56E36AD2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007997" y="5078522"/>
            <a:ext cx="5543998" cy="4811399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234E734-7491-5D89-2C69-E9EC196DC415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7CF9EE8-2A31-47B1-BCBE-AB2820FCFF99}" type="slidenum">
              <a:t>63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2EB575C-4756-87E3-8525-5C7712D06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01691"/>
            <a:ext cx="7126284" cy="401002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3BEE935-F963-BD27-8340-3B538EBFF6B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007997" y="5078522"/>
            <a:ext cx="5543998" cy="4811399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17D2F79-34D3-C60E-58C3-A57A39641076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38C95F7-087B-4803-B1C2-D6B7E5545B5D}" type="slidenum">
              <a:t>64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A2F2555-BC60-72B5-49D3-D0159BEC2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01691"/>
            <a:ext cx="7126284" cy="401002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6A07220D-0873-0AA0-5AD5-A0FBF665AC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007997" y="5078522"/>
            <a:ext cx="5543998" cy="4811399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3A552C0-D169-7069-6E7E-8BB0F815BC45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E4A30CA-A9F6-4E2C-A02E-7B3FB4E03700}" type="slidenum">
              <a:t>65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CE36A2B-B061-571A-699E-174258F39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01691"/>
            <a:ext cx="7126284" cy="401002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8DDE4FC-6479-5444-179A-118283FB825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007997" y="5078522"/>
            <a:ext cx="5543998" cy="4811399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5B2356C-D985-10E6-71EF-FD7898B739AA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EE6983A-4E9B-4D2F-979F-C00E7A477FE2}" type="slidenum">
              <a:t>66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13A7E50-28B0-F2C7-3658-EF1ADBA99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01691"/>
            <a:ext cx="7126284" cy="401002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EF1B9B4-B62F-9CC4-0C8D-C4A166392A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007997" y="5078522"/>
            <a:ext cx="5543998" cy="4811399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4BB7188-8884-C3A3-D727-E039C4FA769D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83E78B0-B734-4F74-906D-BF020533541C}" type="slidenum">
              <a:t>67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3A8EE5A-88C5-6C95-DC58-95CEE1D8B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01691"/>
            <a:ext cx="7126284" cy="401002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ACC91197-5286-E5B1-40BD-285CF939F1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007997" y="5078522"/>
            <a:ext cx="5543998" cy="4811399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8D9221E-76FE-80D5-9655-3FF3249A1C2E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555023E-53C9-4FF5-BFB8-25AFBDC066BA}" type="slidenum">
              <a:t>68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4D8382F-5EAA-E3BB-E49A-D02576968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4703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E508036-5FA3-B911-876F-1B3F27727C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3F2E833-6C3D-3A15-B5FB-56A6859AC3B7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CAEFC1A-905D-4686-AFB3-B7DB2772A228}" type="slidenum">
              <a:t>69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0165C4F2-D5F3-F1F1-21BB-99AE50D42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9C91A4D-A769-E7F4-7AAA-42888E2F65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D4182BC-DF0D-15BC-98E9-390B92EAC23E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9765338-E406-4142-83BE-993C4B3F199A}" type="slidenum">
              <a:t>70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41CA24EC-C91E-D0DF-177A-D3EC9D9D7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629F1A9-4C7D-C09F-B3E2-9D0DA862A4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F3E1B9B-6B38-B65D-1233-1F4E9052865B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779EFA4-749B-4713-AB55-279D115E8E01}" type="slidenum">
              <a:t>71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014B880-19C0-1476-EE26-05907268B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877ED03-F4E9-0169-3CFA-1C52D657D02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A6FB20C-777E-A477-5F4B-6CFE2B1C9FD5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9A1AB62-EBE6-4478-8E30-D77B404C9973}" type="slidenum">
              <a:t>72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C52CB84-BDDF-A077-3C9E-E415B2E3D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16BD970-9356-00A8-80BE-B89DD82E64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6E31376-952B-BD8E-F487-1024FE97F85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02028EE-B63C-4E06-A2C4-B5DD8F27CCC4}" type="slidenum">
              <a:t>73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FF02C1A-3A5B-C7C6-564E-AE6240A27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2E80A1C-098E-69DB-46F5-3EE2668A0B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0102ADA-3603-EE60-9E36-D8388F96059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B12572C-CAAD-4B71-BE1B-594CC7B2EC89}" type="slidenum">
              <a:t>74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05FD7AAD-4714-E785-EF00-150C5FE5E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FA2B946-C06B-06E0-31FD-E26D1B72CB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6667E04-6463-FC37-C972-5C773385444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AD1C3EA-2A8B-4083-AC05-4D81CDEEACCB}" type="slidenum">
              <a:t>75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7DE8D5D-9D75-E732-807C-C50065D81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5668E6DB-2838-493A-3961-F8425D94B93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8E02099-81E6-B252-CDCD-86079F8C3A6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E998E4B-A7FB-40C4-A191-47B0FDAF982E}" type="slidenum">
              <a:t>76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57E8BF9-AE0B-8230-D32F-6E648AB59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D05C402-0A04-18AB-E587-A7CCDBFA0C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0297AFC-DE35-8128-0199-726A2949A89D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9AC97B-4C8F-49DD-AE9F-DD4D9EF3BB7A}" type="slidenum">
              <a:t>77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C654BD5-92D1-62DF-F014-C1EC0A0E7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7C6173F-68C4-AA1B-0E7F-E8DB703507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1AA07F6-E84D-8969-2578-39BF36D6DFB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32D3E84-927E-4C19-92FE-69313948DEB2}" type="slidenum">
              <a:t>78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004EF3E0-0819-3B1D-5A11-F82F0705C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FD5B574-D3A0-B9D2-3543-FEFF9FB1B9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9878606-3976-1438-52CD-D36492FDB92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0B9A90C-2E48-4034-A180-2B22B873F45D}" type="slidenum">
              <a:t>79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029FC3C-63A7-1C04-E460-862380F27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4C57238-2459-9E29-444E-FBCABB3637E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0A2C8B5-41F7-95D0-89EC-5AFAB1F717A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A45F670-1981-4841-817C-7BABEAE4EEF1}" type="slidenum">
              <a:t>80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06961C2-CCFB-D4BC-52AE-7FF7B6EF3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306D079-49D5-1497-809E-69C80937F3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0BC7292-3F2A-F987-DAC3-311A7FA0BDF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BE95608-FC4A-42D9-812F-80EB736AEC8F}" type="slidenum">
              <a:t>81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93A1A92-61DA-26B5-F85F-F24AEAB86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4F054EC-8DD9-5452-7BEF-EDA31A3D206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B1AE013-0717-05CD-953B-3CCE2B427130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F492E18-F1CB-4096-BD47-8272261BAF86}" type="slidenum">
              <a:t>82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48991F50-4051-0074-79E6-85E11EE6B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65D8EDDD-D3F2-595D-5FAD-319A25884FD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BD9E2AF-E913-2989-10AF-60B132AF2DF0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1EAB01C-3F18-4615-9723-910DFB760C82}" type="slidenum">
              <a:t>83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3D8A1D4-0A26-1602-D347-C03E2E505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D7324AF-76B3-2B07-B3C7-833BF92C01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2A50FF8-0113-9911-FE29-8FDB3FF6C677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5109F86-0593-4902-9F53-D493EA7A8265}" type="slidenum">
              <a:t>84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B9E5F47-8266-60D8-0CE2-509DB9B94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753D522D-ADBA-3732-A5DB-A22BD304DD1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B193CCB-AEDA-7081-3D18-C84D7592CD5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51221CC-2215-46D1-B26E-CE114BF94A1F}" type="slidenum">
              <a:t>85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C45E405-AF95-4C95-538B-E01F4901C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C499813-82E3-B39E-493B-8B10057AFF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1868074-767F-242C-B8B0-CA88512F40FB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03DE99E-55B8-47EA-ACAA-795DF62B7770}" type="slidenum">
              <a:t>86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7BA10D2-5D05-7E3D-FF7D-CFA6E3AF9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90" y="812801"/>
            <a:ext cx="7123111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3A22311-252F-BEE1-3BB5-5C731445EE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1C1E9-4E01-D7A9-E6B8-5A392486A89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5A271-FC0E-E7B5-F1F6-4FFDC2F9A8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7616F-8E60-D1AC-7CB0-AF4C229DA2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826AB-052F-D59E-8783-77A448FAD77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E9316-1F61-9CAB-FF8A-C07C5BD52E7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39123C-1A1D-4DDA-99CC-986B88ECDF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34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E5C6-9DB8-F81C-E3B5-030F19E0E6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F02D7-77CD-0271-CFE8-348A9183E02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EC74-9EB0-25B4-E994-F739DC3D00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46DF9-C7BF-1E5B-4042-A7596EAE391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1B8D7-E9C1-4AD8-52F4-B11D37DA4C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F94184-6DA7-49C3-8BFE-DF7D9966C3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52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16C1-5DD5-8294-8573-DD16D06B2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69856-F28C-C457-2552-5F0D7B53D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64601-F2BE-884E-B7B3-0CC59293FED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6477A-71CF-0184-9F5F-6D8BACD0E9D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19DB9-6A64-0401-7418-D9D5AE7A73B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A2C1DF2-DE63-48A4-AF9B-F412BCF903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8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F009-781E-C571-2A1B-8ECF3196181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626FF-7DDB-03DA-61BD-2EB547CAAD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327151"/>
            <a:ext cx="4459291" cy="328771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62308-BDEB-356B-4910-5F3D4A8A198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327151"/>
            <a:ext cx="4460872" cy="328771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E4C84-5374-073D-FED8-E43F4675F46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7EF76-2FD3-F450-05E1-40C40C4332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7A65F-8CD5-405B-388B-45DD347DE6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97B1C5-D29B-4B93-9A40-6009F10175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0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5A20-15CC-C9A2-F054-317DF4A46F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DE505-2614-824B-1E4C-3557C5BEC0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835EF-0684-1A02-2AB6-2D74A667503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DC14F-F0B0-E6CE-8F87-71D4B9EC48B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D98435-7B09-683F-BBC6-A1F12E6C1D5F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BC2550-7890-AE5C-CC43-9A3A68204E9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766EB-BC26-41D6-B7B3-9A30D7B72E9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CA6A05-32C8-9D02-671E-BC65240C75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561579-D718-42BE-8EF4-B9D3A895EC1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7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CEFA-0624-89B7-040F-4AA14799EC5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1C3AA-15C9-0DAE-A4B5-F8556BDBA48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5CFB74-5D5B-0613-5850-30CB9C7DA33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59F19-90EE-84FC-C154-6C5F0A0607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E067C23-FFF9-4C93-9395-DC8A339F311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2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E9FFC-3058-3766-1BB8-6D3F24B2D15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D7C56-ABF9-8537-568E-8CFB62C4BD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10F8B-7A35-C298-C4BF-6068924ADC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EDE8A6-F91D-42E3-935D-9013E4B6E2F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750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3FD5-CD73-B55B-BB71-7C1B653F8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8677A-348B-C8B0-E51B-C2F75FE5CB7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E7CA4-4300-96EA-6A40-5B25F171157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DA8F1-66C3-E830-8F06-BA3B1007576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C0014-FD9D-F77E-5020-9114ACFAB51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59473-5F0B-3CFC-CE88-41CAD0A468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4BADE4-0300-4C63-ACAF-1BB27015F2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5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D1FF-1EFF-074A-24FB-F671A93EEB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67F4C9-3D0F-192D-5B06-73583E98B2C7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65A705-E019-328B-4EED-CDCC859A16A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68C12-81AB-D8B8-7B95-0B4446B4E0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22113-3E60-467E-19C7-8DDE26095BE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9EEF6-AF72-1720-46D8-44A89C9934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782184-D50C-4E13-BDED-0A7B206386C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2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8222-A014-88F2-11C1-DAEB65F894A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D4AE3-6C58-FC6E-28AD-8E35020259C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05BE0-0BDC-F125-BCBD-E5B1DBC324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CF029-85A6-08DC-1CC9-28C7C2E3B0D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A9756-CC35-4210-DEF0-0140A6BC66E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60AC5D-64A8-4872-9E01-E17A30121D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48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8A1A6-DA57-1337-5BD4-B8300D875CD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225427"/>
            <a:ext cx="2266953" cy="4389440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02CB6-2709-5429-83ED-2882E626EC1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225427"/>
            <a:ext cx="6653210" cy="438944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C2AC6-BA48-B79D-06D9-A26A4FD9A8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44536-2CDD-1CE3-CB67-35FDFE29B9E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ADE91-DDE1-9ABB-BB31-46B8D15054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15F46D-2813-40FD-92BE-BFDDC77774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6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B4E5B9-1587-9488-624A-8DF050C0D2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226076"/>
            <a:ext cx="9071643" cy="9464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1775E-7A2A-EE08-ED08-D68B1BD1E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326602"/>
            <a:ext cx="9071643" cy="3288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FBBD4-BADF-F209-61CB-5C4305DE3E1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8" y="5165281"/>
            <a:ext cx="2348279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FA6FF-BD76-930B-183E-B2DB413152D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1" y="5165281"/>
            <a:ext cx="3194995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06C76-A763-F771-8329-DA80BB28D9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2" y="5165281"/>
            <a:ext cx="2348279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FF67F964-C8B6-4BD0-B77E-7A1E8E4D0A55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en-US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media" Target="NULL" TargetMode="External"/><Relationship Id="rId7" Type="http://schemas.openxmlformats.org/officeDocument/2006/relationships/hyperlink" Target="http://www.formaestudio.com/rijndaelinspector/archivos/rijndaelanimation.html" TargetMode="External"/><Relationship Id="rId2" Type="http://schemas.openxmlformats.org/officeDocument/2006/relationships/video" Target="AES%20Rijndael%20Cipher%20-%20Visualization-mlzxpkdXP58.mp4" TargetMode="External"/><Relationship Id="rId1" Type="http://schemas.microsoft.com/office/2007/relationships/media" Target="NULL" TargetMode="External"/><Relationship Id="rId6" Type="http://schemas.openxmlformats.org/officeDocument/2006/relationships/image" Target="../media/image32.png"/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CCE66B8-9686-0A85-6459-F2D5699BF6F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8" y="225719"/>
            <a:ext cx="9071643" cy="4388763"/>
          </a:xfrm>
        </p:spPr>
        <p:txBody>
          <a:bodyPr anchor="ctr" anchorCtr="1"/>
          <a:lstStyle/>
          <a:p>
            <a:pPr lvl="0" algn="ctr">
              <a:lnSpc>
                <a:spcPct val="150000"/>
              </a:lnSpc>
            </a:pPr>
            <a:r>
              <a:rPr lang="en-US" sz="4400"/>
              <a:t>Keamanan Sistem Komputer</a:t>
            </a:r>
          </a:p>
          <a:p>
            <a:pPr lvl="0" algn="ctr">
              <a:lnSpc>
                <a:spcPct val="150000"/>
              </a:lnSpc>
            </a:pPr>
            <a:r>
              <a:rPr lang="en-US" sz="4400"/>
              <a:t>CEH3D3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A5055-ED70-16B0-983A-D296161B37A6}"/>
              </a:ext>
            </a:extLst>
          </p:cNvPr>
          <p:cNvSpPr txBox="1"/>
          <p:nvPr/>
        </p:nvSpPr>
        <p:spPr>
          <a:xfrm>
            <a:off x="2736716" y="3536643"/>
            <a:ext cx="4829037" cy="883081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1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Kriptografi Simetrik, Asimetrik</a:t>
            </a:r>
          </a:p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DES, AES, RSA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03D51-BD52-9FA3-234B-8A107F75344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Kunci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EF47A-6527-574B-0C7C-B590CB93482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/>
              <a:t>Kunci Simetrik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/>
              <a:t>Kunci Asimetrik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 Publik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 Privat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7957-303F-82BE-E033-7961E869B6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Kanal Aman : Kunci Bersama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F8AE21BB-3779-5E8D-4B2E-60069AB351D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45959" y="1370877"/>
            <a:ext cx="5875559" cy="333287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733C5-B99D-0FA3-1724-EA79246ADB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Blok Cipher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723AF4D2-21EF-6B47-50FD-C55534BE79B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22358" y="1119243"/>
            <a:ext cx="7323118" cy="347579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2CB3-1599-7546-5B27-C10DCA0E1C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Kriptografi Kunci Simetrik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DDCC4-9CEA-2924-6315-CB52BDB7FA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400"/>
              <a:t>Pengirim dan penerima menggunakan kunci yang sama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Kunci harus sangat dirahasiakan (private)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Disebut juga sebagai kriptografi simetrik atau kriptografi kunci rahasia</a:t>
            </a:r>
          </a:p>
          <a:p>
            <a:pPr lvl="0">
              <a:buSzPct val="45000"/>
              <a:buFont typeface="StarSymbol"/>
              <a:buChar char="●"/>
            </a:pPr>
            <a:endParaRPr lang="en-US" sz="2400"/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Contoh : DES, Triple-DES, Blowfish, Twofish, AES, Rijndael dsb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1F14-294B-C42A-3042-D23673C496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Notasi Kunci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79A94-6378-9DD7-3858-8F4C40A4367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000"/>
              <a:t>Algoritma enkripsi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 : kunci x plain → cipher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Notasi : E = K(m)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000"/>
              <a:t>Algoritma dekripsi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 : kunci x cipher → plain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000"/>
              <a:t>D menginvers E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Notasi : D = K(K(m)) = 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000"/>
              <a:t>Gunakan huruf besar K untuk kunci rahasia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000"/>
              <a:t>Seringkali algoritma E sama dengan 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9A8BF-0FE6-CAB9-B4C8-12BD6EAC69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Mode Cipher Blok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F31D4-6F2C-D7BE-0B1A-13DA45C01E2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1800"/>
              <a:t>ECB – Electronic Code Book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Membagi plaintext ke blok-blok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Enkrip setiap blok secara terpisah dengan kunci yang sama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CBC – Cipher Block Chaining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XOR setiap blok dengan ekripsi dari blok sebelumnya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Gunakan vektor inisialisasi IV untuk blok pertama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OFB – Output Feedback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Iterasi enkripsi dari IV untuk menghasilkan stream cipher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CFB – Cipher Feedback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Blok output y</a:t>
            </a:r>
            <a:r>
              <a:rPr lang="en-US" sz="1800" baseline="-33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= input x</a:t>
            </a:r>
            <a:r>
              <a:rPr lang="en-US" sz="1800" baseline="-33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xor enkripsi K(y</a:t>
            </a:r>
            <a:r>
              <a:rPr lang="en-US" sz="1800" baseline="-33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-1)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998-E89E-C191-6221-DB2D575EE0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Mode Electronic Code Book (ECB)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DE5A432E-0F71-1A46-3DDB-73ACAE04ADB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9358" y="1352882"/>
            <a:ext cx="9609118" cy="300887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6F1B3-0943-9375-88DF-849CD284B3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Mode Cipher Block Chaining (CBC)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C037BC5F-9A90-5C58-D15B-FEBDD2F4B2A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2880" y="946083"/>
            <a:ext cx="6656758" cy="24566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01CE9879-42D2-AA38-15A5-E9FAA0CC0E2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560320" y="3270598"/>
            <a:ext cx="7466039" cy="239939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3874-B9EE-85CA-33E7-D924F3E1D3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Hasil ECB &amp; CBC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4E407-81A5-7B47-404D-D02AEE5BDA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2F963B2-AE3D-93C4-6170-ED3316332C2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-513" t="3872"/>
          <a:stretch>
            <a:fillRect/>
          </a:stretch>
        </p:blipFill>
        <p:spPr>
          <a:xfrm>
            <a:off x="0" y="1139589"/>
            <a:ext cx="10079998" cy="453096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BF65-DF00-5CCA-D6B1-0540392C95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Mode Output Feedback (OFB)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2C579D3D-369B-D63C-E282-FA48DC72678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9760" y="1100160"/>
            <a:ext cx="5123154" cy="233279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87C6F3B4-B365-0382-0B8B-3ADE3C959D3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663440" y="3077276"/>
            <a:ext cx="5171041" cy="240911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C327-AC97-A387-C354-FC30A13889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Mode Cipher Feedback (CFB)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1CCDD38E-0001-8569-F080-647C6BB770F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643" y="1050481"/>
            <a:ext cx="5284436" cy="24242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E8347BE4-1AA1-4BF9-D1F6-7DA6E30CDC9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072316" y="3200400"/>
            <a:ext cx="5929563" cy="240515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9547-C2D6-8013-98BF-6E29AA245F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Ciphertext Function Module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C455A-369C-95D4-AF6B-D3BD53E3A58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400"/>
              <a:t>Rotating keys, pada proses ini kunci mengalami perubahan untuk urutan proses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Komputasi lebih ringan karena yang diubah adalah kunci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B565022F-50BD-5DAD-6166-8C11B2B6B04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87242" y="2780278"/>
            <a:ext cx="6859801" cy="243180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61D4-D45D-295A-A924-DF2E8ADC184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Ciphertext Stream Module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A59BD-FB42-C813-E76C-0946C64F0DC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400"/>
              <a:t>Seperti CFM, hanya digunakan untuk serial stream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FB3D3F01-71D9-06B5-9F5A-0B95106222E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08239" y="1920240"/>
            <a:ext cx="5465880" cy="32004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52D9-1EBA-2AE3-6975-2F5B03D902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Jaringan Feistel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5C6FC-FD70-C03D-7B64-701CE1C2C0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1800"/>
              <a:t>Banyak (kebanyakan?) cipher blok adalah jaringan Feistel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Contoh</a:t>
            </a:r>
          </a:p>
          <a:p>
            <a:pPr lvl="2" hangingPunct="0">
              <a:spcBef>
                <a:spcPts val="1415"/>
              </a:spcBef>
              <a:buSzPct val="45000"/>
              <a:buFont typeface="StarSymbol"/>
              <a:buChar char="●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DES, Lucifer, FREAL, khufu, Khafre, LOKI, GOST, CAST, Blowfish, Twofish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Jaringan feistel adalah bentuk standar untuk</a:t>
            </a:r>
          </a:p>
          <a:p>
            <a:pPr lvl="2" hangingPunct="0">
              <a:spcBef>
                <a:spcPts val="1415"/>
              </a:spcBef>
              <a:buSzPct val="45000"/>
              <a:buFont typeface="StarSymbol"/>
              <a:buChar char="●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Mengiterasi sebuah fungsi f pada bagian dari pesan</a:t>
            </a:r>
          </a:p>
          <a:p>
            <a:pPr lvl="2" hangingPunct="0">
              <a:spcBef>
                <a:spcPts val="1415"/>
              </a:spcBef>
              <a:buSzPct val="45000"/>
              <a:buFont typeface="StarSymbol"/>
              <a:buChar char="●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Menghasilkan transformasi yang bisa dibalik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AES (Rijndael) berhubungan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Juga merupakan cipher blok dengan pengulangan ronde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Tapi bukan jaringan Feistel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08D3EB-A094-603D-7244-33A4E2A8B74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48721" y="1326602"/>
            <a:ext cx="4426921" cy="3288237"/>
          </a:xfrm>
        </p:spPr>
        <p:txBody>
          <a:bodyPr/>
          <a:lstStyle/>
          <a:p>
            <a:pPr lvl="0">
              <a:lnSpc>
                <a:spcPct val="80000"/>
              </a:lnSpc>
            </a:pPr>
            <a:r>
              <a:rPr lang="en-US" sz="1300"/>
              <a:t>Skema memerlukan</a:t>
            </a:r>
          </a:p>
          <a:p>
            <a:pPr lvl="0">
              <a:lnSpc>
                <a:spcPct val="80000"/>
              </a:lnSpc>
              <a:buSzPct val="45000"/>
              <a:buFont typeface="StarSymbol"/>
              <a:buChar char="●"/>
            </a:pPr>
            <a:r>
              <a:rPr lang="en-US" sz="1300"/>
              <a:t>Fungsi f(R</a:t>
            </a:r>
            <a:r>
              <a:rPr lang="en-US" sz="1300" baseline="-33000"/>
              <a:t>i-1</a:t>
            </a:r>
            <a:r>
              <a:rPr lang="en-US" sz="1300"/>
              <a:t>,Ki)</a:t>
            </a:r>
          </a:p>
          <a:p>
            <a:pPr lvl="0">
              <a:lnSpc>
                <a:spcPct val="80000"/>
              </a:lnSpc>
              <a:buSzPct val="45000"/>
              <a:buFont typeface="StarSymbol"/>
              <a:buChar char="●"/>
            </a:pPr>
            <a:r>
              <a:rPr lang="en-US" sz="1300"/>
              <a:t>Komputasi untuk Ki</a:t>
            </a:r>
          </a:p>
          <a:p>
            <a:pPr lvl="0">
              <a:lnSpc>
                <a:spcPct val="80000"/>
              </a:lnSpc>
              <a:buSzPct val="45000"/>
              <a:buFont typeface="StarSymbol"/>
              <a:buChar char="●"/>
            </a:pPr>
            <a:r>
              <a:rPr lang="en-US" sz="1300"/>
              <a:t>Kelebihan</a:t>
            </a:r>
          </a:p>
          <a:p>
            <a:pPr lvl="0">
              <a:lnSpc>
                <a:spcPct val="80000"/>
              </a:lnSpc>
              <a:buSzPct val="45000"/>
              <a:buFont typeface="StarSymbol"/>
              <a:buChar char="●"/>
            </a:pPr>
            <a:r>
              <a:rPr lang="en-US" sz="1300"/>
              <a:t>Kalkulasi sistematik</a:t>
            </a:r>
          </a:p>
          <a:p>
            <a:pPr lvl="1" hangingPunct="0">
              <a:lnSpc>
                <a:spcPct val="70000"/>
              </a:lnSpc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3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Mudah jika f sebuah tabel</a:t>
            </a:r>
          </a:p>
          <a:p>
            <a:pPr lvl="0">
              <a:lnSpc>
                <a:spcPct val="80000"/>
              </a:lnSpc>
              <a:buSzPct val="45000"/>
              <a:buFont typeface="StarSymbol"/>
              <a:buChar char="●"/>
            </a:pPr>
            <a:r>
              <a:rPr lang="en-US" sz="1300"/>
              <a:t>Bisa dibalik jika K</a:t>
            </a:r>
            <a:r>
              <a:rPr lang="en-US" sz="1300" baseline="-33000"/>
              <a:t>i</a:t>
            </a:r>
            <a:r>
              <a:rPr lang="en-US" sz="1300"/>
              <a:t> diketahui</a:t>
            </a:r>
          </a:p>
          <a:p>
            <a:pPr lvl="1" hangingPunct="0">
              <a:lnSpc>
                <a:spcPct val="70000"/>
              </a:lnSpc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3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Dapatkan R</a:t>
            </a:r>
            <a:r>
              <a:rPr lang="en-US" sz="1300" baseline="-33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i-1</a:t>
            </a:r>
            <a:r>
              <a:rPr lang="en-US" sz="13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dari L</a:t>
            </a:r>
            <a:r>
              <a:rPr lang="en-US" sz="1300" baseline="-33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</a:t>
            </a:r>
          </a:p>
          <a:p>
            <a:pPr lvl="1" hangingPunct="0">
              <a:lnSpc>
                <a:spcPct val="70000"/>
              </a:lnSpc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3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Hitung f(R</a:t>
            </a:r>
            <a:r>
              <a:rPr lang="en-US" sz="1300" baseline="-33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i-1</a:t>
            </a:r>
            <a:r>
              <a:rPr lang="en-US" sz="13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,Ki)</a:t>
            </a:r>
          </a:p>
          <a:p>
            <a:pPr lvl="1" hangingPunct="0">
              <a:lnSpc>
                <a:spcPct val="70000"/>
              </a:lnSpc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3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Hitung L</a:t>
            </a:r>
            <a:r>
              <a:rPr lang="en-US" sz="1300" baseline="-33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i-1</a:t>
            </a:r>
            <a:r>
              <a:rPr lang="en-US" sz="13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dengan xor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CD9B8F-CBF5-D3BD-0BFA-3DE39D2E7E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Jaringan Feistel : Ronde Satu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6CEF285B-65AD-B153-D138-66623FF2B5C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72639" y="1326602"/>
            <a:ext cx="3749039" cy="412524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3B8F-54D7-5CE2-704E-C1465B93C2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Jaringan Feistel : n Ronde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60E12774-CC5E-2FDC-B2C7-0AFC501044A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99636" y="1305004"/>
            <a:ext cx="2826355" cy="416951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8E37-A0CD-E2EE-7B37-7BDD8E61D0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Data Encryption Standard (DES)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019A-77C5-10C0-A094-4E9CF81F891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1400"/>
              <a:t>Dirancang oleh IBM (turunan langsung dari Lucifer)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Diadopsi menjadi standar pada 1976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Keamanan dianalisa oleh NSA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400"/>
              <a:t>Panjang kunci 56 bit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Dibulatkan ke 64 bit menggunakan 8 pariti bit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400"/>
              <a:t>Struktur Feistel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Bekerja dalam blok berukuran 64 bit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Melakukan permutasi pada bit input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Melakukan fungsi subtitusi dengan S-box berkali kali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Setiap siklus menggunakan permutasi dan subtitusi untuk mengkombinasikan plaintext dengan kunci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Menggunakan permutasi balik untuk menghasilkan output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99AED-56B4-1E04-029E-410771180D5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Arsitektur DES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9AEE5143-F08D-D314-FEC5-6DECA1CBD54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13764" y="1544759"/>
            <a:ext cx="4615196" cy="284436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9B000-1F52-CD87-73D5-B5B23380B66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Arsitektur DES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CEFDCEC1-59C7-0B0C-AAD7-EA2E1F20B9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22324" y="1116720"/>
            <a:ext cx="4501435" cy="448884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7A47-9857-AFAA-BD11-2CABC3E66E0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26076"/>
            <a:ext cx="4525201" cy="946440"/>
          </a:xfrm>
        </p:spPr>
        <p:txBody>
          <a:bodyPr>
            <a:spAutoFit/>
          </a:bodyPr>
          <a:lstStyle/>
          <a:p>
            <a:pPr lvl="0"/>
            <a:r>
              <a:rPr lang="en-US" sz="3200"/>
              <a:t>Pemrosesan Kunci (Key Processor)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5694F-2E8C-3F8B-75B0-5F6BA6ECFA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326602"/>
            <a:ext cx="4426921" cy="328823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1600"/>
              <a:t>Kunci 64 bit mengalami:</a:t>
            </a:r>
          </a:p>
          <a:p>
            <a:pPr lvl="0" algn="ctr">
              <a:buSzPct val="45000"/>
              <a:buFont typeface="StarSymbol"/>
              <a:buChar char="●"/>
            </a:pPr>
            <a:r>
              <a:rPr lang="en-US" sz="1600"/>
              <a:t>1x Permutasi dengan PC1</a:t>
            </a:r>
          </a:p>
          <a:p>
            <a:pPr lvl="0" algn="ctr">
              <a:buSzPct val="45000"/>
              <a:buFont typeface="StarSymbol"/>
              <a:buChar char="●"/>
            </a:pPr>
            <a:r>
              <a:rPr lang="en-US" sz="1600"/>
              <a:t>dan</a:t>
            </a:r>
          </a:p>
          <a:p>
            <a:pPr lvl="0" algn="ctr">
              <a:buSzPct val="45000"/>
              <a:buFont typeface="StarSymbol"/>
              <a:buChar char="●"/>
            </a:pPr>
            <a:r>
              <a:rPr lang="en-US" sz="1600"/>
              <a:t>16x Permutasi dengan PC2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D987FEF6-9FE0-4147-B9B1-4E06AF4B66F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2824197"/>
            <a:ext cx="4561200" cy="257076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C706DD84-7B82-E246-7170-173BCE02EC2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930920" y="83621"/>
            <a:ext cx="5072771" cy="561271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3014-1CD6-047E-1A39-5A5E24E401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 sz="3200"/>
              <a:t>Pola Permutasi Awal (Initial Permutation - IP)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2324A-C333-EB5C-68CA-92FDD58685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000"/>
              <a:t>Plain teks dibagi menjadi blok-blok 64 bit dan setiap blok akan di lakukan permutasi awal sesuai matrik IP berikut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711A15C2-A4E2-BB15-CA76-D17C9638177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74284" y="1968840"/>
            <a:ext cx="5219276" cy="350495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8704-8D52-4D6A-7307-9555BB3394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26076"/>
            <a:ext cx="4525201" cy="946440"/>
          </a:xfrm>
        </p:spPr>
        <p:txBody>
          <a:bodyPr>
            <a:spAutoFit/>
          </a:bodyPr>
          <a:lstStyle/>
          <a:p>
            <a:pPr lvl="0"/>
            <a:r>
              <a:rPr lang="en-US" sz="3200"/>
              <a:t>PC-1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1B3EE-148B-43A8-148F-059781F6205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326602"/>
            <a:ext cx="4525201" cy="328823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000"/>
              <a:t>Kunci 64 bit diubah menjadi 56 bit dengan menggunakan permutasi PC-1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FC75C202-70AE-84A8-F1BF-4654E41C5F2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52880" y="3108960"/>
            <a:ext cx="5885279" cy="23137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B29A2378-D0CB-30BF-D319-C242E1022C7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588282" y="365760"/>
            <a:ext cx="4104357" cy="231371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5EDDB-036B-800A-2A64-7B788C80D7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26076"/>
            <a:ext cx="4525201" cy="946440"/>
          </a:xfrm>
        </p:spPr>
        <p:txBody>
          <a:bodyPr>
            <a:spAutoFit/>
          </a:bodyPr>
          <a:lstStyle/>
          <a:p>
            <a:pPr lvl="0"/>
            <a:r>
              <a:rPr lang="en-US" sz="3200"/>
              <a:t>PC-2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F9B5A-943C-C215-B091-F73CDF303D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326602"/>
            <a:ext cx="4525201" cy="328823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000"/>
              <a:t>Kunci 56 bit diambil 48 bit dengan menggunakan permutasi PC-2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7460084A-3990-65CB-8DAC-23C1FF22EFC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607356" y="365760"/>
            <a:ext cx="4085283" cy="224711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F0872B8A-BA4E-EDC4-6530-303CC979CB4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98276" y="3070436"/>
            <a:ext cx="6370917" cy="158975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3EB8-D63C-5C5C-8828-4745C30951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Blok Iterasi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519A5175-A958-F8BB-0734-0FD3BDCE669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46161" y="1362602"/>
            <a:ext cx="4475521" cy="363743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F7641-FFB6-8096-60DE-28313E206E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Fungsi 32 bit kanan dan kunci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76ABE149-6FFA-6508-7F08-1E7D74378B9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88920" y="1252435"/>
            <a:ext cx="4590004" cy="371376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02D5-B606-4D4E-0FB7-1FF0E85471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26076"/>
            <a:ext cx="4525201" cy="946440"/>
          </a:xfrm>
        </p:spPr>
        <p:txBody>
          <a:bodyPr>
            <a:spAutoFit/>
          </a:bodyPr>
          <a:lstStyle/>
          <a:p>
            <a:pPr lvl="0"/>
            <a:r>
              <a:rPr lang="en-US" sz="3200"/>
              <a:t>Fungsi 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92B52-CBC9-C925-C7F6-F6DBD05543E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326602"/>
            <a:ext cx="4525201" cy="328823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000"/>
              <a:t>32 bit data kanan (R) di kembangkan menjadi 48 bit dengan fungsi E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BB6C6847-4B97-B9A0-0A3D-5F40123B0EA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943600" y="218523"/>
            <a:ext cx="2834640" cy="261611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066FB3E9-E679-A582-807D-541A36EB223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474640" y="3034079"/>
            <a:ext cx="5218563" cy="238032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8E81-FA5E-DEAF-910B-382D7FDA31A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S-Box 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C0B87-F2EB-4E78-1939-FD0DB4DD824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400"/>
              <a:t>Tabel subtitusi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Input 6 bit diganti dengan output 4 bit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Subtitusi yang dilakukan tergantung bit input</a:t>
            </a:r>
          </a:p>
          <a:p>
            <a:pPr lvl="0">
              <a:buSzPct val="45000"/>
              <a:buFont typeface="StarSymbol"/>
              <a:buChar char="●"/>
            </a:pPr>
            <a:endParaRPr lang="en-US" sz="2400"/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Diimplementasikan sebagai lookup table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8 S-Box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Setiap S-Box mempunyai tabel 64 input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Setiap inputan menentukan output 4 bit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F3CAC-70EC-62BA-C88D-98EC563BD0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Fungsi 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0CA8E6B8-DAC0-F7A6-CC85-21F65992698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47397" y="1724037"/>
            <a:ext cx="7471077" cy="275652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A235-D2F8-8B0C-4F13-AC763E1C88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Fungsi 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4C6FB-F317-15D6-A21C-8CD6A9B98AF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400"/>
              <a:t>Hasil operasi data 48 bit dari fungsi E dan kunci K akan dibagi menjadi potongan 6 bit dan direduksi menjadi 4 bit dengan fungsi Sn sehingga akan didapatkan reduksi 48 bit ke 32 bit,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contoh : 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potongan pertama 6 bit 011011 akan direduksi dengan fungsi S1 dengan cara diambil MSB 0 dan LSB 1 menjadi 01 menyatakan nomor baris, sisa 1101 dibaca sebagai desimal 13 menjadi nomor kolom, isi baris 1 dan kolom 13 adalah 5 yang dalam biner adalah 0101, sehingga S1(011011) = 0101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E0AB8-E2A9-64A1-4CAA-B3C08A27F0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Fungsi S (S1 – S8)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4804639D-8836-91C1-0B41-E2DD6578107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93799" y="1141198"/>
            <a:ext cx="8580235" cy="415187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6951B-2C0D-6418-085F-52C7563FE1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Dekripsi 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0AF89-7367-63AA-BE9F-F1587C77C4C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lnSpc>
                <a:spcPct val="90000"/>
              </a:lnSpc>
              <a:buSzPct val="45000"/>
              <a:buFont typeface="StarSymbol"/>
              <a:buChar char="●"/>
            </a:pPr>
            <a:r>
              <a:rPr lang="en-US"/>
              <a:t>Menggunakan algoritma yang sama dengan enkripsi hanya saja menggunakan kunci yang dibalik urutan bitnya</a:t>
            </a:r>
          </a:p>
          <a:p>
            <a:pPr lvl="0">
              <a:lnSpc>
                <a:spcPct val="90000"/>
              </a:lnSpc>
              <a:buSzPct val="45000"/>
              <a:buFont typeface="StarSymbol"/>
              <a:buChar char="●"/>
            </a:pPr>
            <a:endParaRPr lang="en-US"/>
          </a:p>
          <a:p>
            <a:pPr lvl="0">
              <a:lnSpc>
                <a:spcPct val="90000"/>
              </a:lnSpc>
              <a:buSzPct val="45000"/>
              <a:buFont typeface="StarSymbol"/>
              <a:buChar char="●"/>
            </a:pPr>
            <a:r>
              <a:rPr lang="en-US"/>
              <a:t>Kunci enkripsi k</a:t>
            </a:r>
            <a:r>
              <a:rPr lang="en-US" baseline="-33000"/>
              <a:t>1</a:t>
            </a:r>
            <a:r>
              <a:rPr lang="en-US"/>
              <a:t> k</a:t>
            </a:r>
            <a:r>
              <a:rPr lang="en-US" baseline="-33000"/>
              <a:t>2</a:t>
            </a:r>
            <a:r>
              <a:rPr lang="en-US"/>
              <a:t> … k</a:t>
            </a:r>
            <a:r>
              <a:rPr lang="en-US" baseline="-33000"/>
              <a:t>16</a:t>
            </a:r>
          </a:p>
          <a:p>
            <a:pPr lvl="0">
              <a:lnSpc>
                <a:spcPct val="90000"/>
              </a:lnSpc>
              <a:buSzPct val="45000"/>
              <a:buFont typeface="StarSymbol"/>
              <a:buChar char="●"/>
            </a:pPr>
            <a:r>
              <a:rPr lang="en-US"/>
              <a:t>Kunci dekripsi k</a:t>
            </a:r>
            <a:r>
              <a:rPr lang="en-US" baseline="-33000"/>
              <a:t>16</a:t>
            </a:r>
            <a:r>
              <a:rPr lang="en-US"/>
              <a:t> k</a:t>
            </a:r>
            <a:r>
              <a:rPr lang="en-US" baseline="-33000"/>
              <a:t>15</a:t>
            </a:r>
            <a:r>
              <a:rPr lang="en-US"/>
              <a:t> … k</a:t>
            </a:r>
            <a:r>
              <a:rPr lang="en-US" baseline="-33000"/>
              <a:t>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73DCF-EA88-1D53-56F8-7B2BABDD23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Kekurangan 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89144-AC8E-7EEF-E13E-DDD3F79A268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000"/>
              <a:t>Kunci 56 bit terlampau pendek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www.distributed.net memecahkan tantangan DES tahun 1999 dibawah 24 jam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EFF merancang chip pemecah DES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000"/>
              <a:t>Masalah lain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Tidak semua kunci aman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Umum digunakan </a:t>
            </a:r>
            <a:r>
              <a:rPr lang="en-US" sz="2000" b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Triple-DES</a:t>
            </a: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untuk mengatasi masalah ini (Triple disini berarti sangat literal : </a:t>
            </a:r>
            <a:r>
              <a:rPr lang="en-US" sz="2000" b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diulangi 3 kali</a:t>
            </a: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Contoh penggunaan Triple-DES : Token listrik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3AF6-90C2-327B-8055-B9D790A97A0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Triple-DES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3B596EF8-7EA7-A30D-1857-F9ADAC770DA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31680" y="1312200"/>
            <a:ext cx="6504118" cy="366624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DA10F-107A-4EB3-BB70-E9BADBA1411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Pemilihan Kunci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E1CF1-5F1D-36AE-A07B-60C6C9D175A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000"/>
              <a:t>Opsi Kunci: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Ketiga kunci berbeda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K1 dan K2 berbeda dan K3 = K1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Semua kunci sama, K1 = K2 = K3</a:t>
            </a:r>
          </a:p>
          <a:p>
            <a:pPr lvl="0">
              <a:buSzPct val="45000"/>
              <a:buFont typeface="StarSymbol"/>
              <a:buChar char="●"/>
            </a:pPr>
            <a:endParaRPr lang="en-US" sz="2000"/>
          </a:p>
          <a:p>
            <a:pPr lvl="0">
              <a:buSzPct val="45000"/>
              <a:buFont typeface="StarSymbol"/>
              <a:buChar char="●"/>
            </a:pPr>
            <a:r>
              <a:rPr lang="en-US" sz="1400"/>
              <a:t>Opsi [1] : Paling Kuat, memiliki 3 kunci, masing -masing memiliki panjang 56 bits = 168 bits kunci yang independent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400"/>
              <a:t>Opsi [2] : Cukup Kuat, memiliki 2 kunci, masing – masing memiliki panjang 56 bits = 112 bits kunci. Lebih kuat 2x dari DES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400"/>
              <a:t>Opsi [3] : Sama seperti DES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2066-B236-0D61-DB27-C97E7C350F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AES-Rijndael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81CFA-AFDB-D0DB-29A3-E8B41033E06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800"/>
              <a:t>Advanced Encryption Standard a.k.a Rijndael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/>
              <a:t>Established by U.S National Institute of Standard and Technology (NIST) in 2001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/>
              <a:t>AES dasar merupakan subset dari Rijndael cipher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/>
              <a:t>AES menjadi standard untuk federal government dan disetujui oleh NSA.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/>
              <a:t>Penemu Rijndael : Joan Daemen &amp; Vincent Rijmen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C74B1-EB34-2B26-D227-D787788CCB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AES-Rijndael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CE209-624E-2DBF-618E-3248FB93775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1800"/>
              <a:t>AES beroperasi menggunakan block berukuran 128 bit, dan menggunakan kunci 128, 192, atau 256 bit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Perbedaan mencolok antara DES dan AES adalah pada AES tidak menggunakan jaringan feistel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Sebagai contoh jika terdapat 16 bytes, b</a:t>
            </a:r>
            <a:r>
              <a:rPr lang="en-US" sz="1800" baseline="-33000"/>
              <a:t>0</a:t>
            </a:r>
            <a:r>
              <a:rPr lang="en-US" sz="1800"/>
              <a:t>-b</a:t>
            </a:r>
            <a:r>
              <a:rPr lang="en-US" sz="1800" baseline="-33000"/>
              <a:t>15</a:t>
            </a:r>
            <a:r>
              <a:rPr lang="en-US" sz="1800"/>
              <a:t>, byte-byte ini direpresentasikan sebagai matriks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F04D63B3-32A2-4D30-2413-A1BEF0A1E9A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14400" y="3383280"/>
            <a:ext cx="3181682" cy="18288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DA343B-7124-D09E-60FF-2209517AEDCF}"/>
              </a:ext>
            </a:extLst>
          </p:cNvPr>
          <p:cNvSpPr txBox="1"/>
          <p:nvPr/>
        </p:nvSpPr>
        <p:spPr>
          <a:xfrm>
            <a:off x="4663440" y="3474720"/>
            <a:ext cx="4754880" cy="1626123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Nantinya proses enkripsi akan diulang sebanyak :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10 cycles of repetition for 128-bit keys.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12 cycles of repetition for 192-bit keys.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14 cycles of repetition for 256-bit keys.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7795-ED7F-DDBF-27B8-BD353A5C24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AES-Rijndael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BB00D038-4371-5729-8F44-8E55B818EA9B}"/>
              </a:ext>
            </a:extLst>
          </p:cNvPr>
          <p:cNvPicPr>
            <a:picLocks noGrp="1" noChangeAspect="1"/>
          </p:cNvPicPr>
          <p:nvPr>
            <p:ph type="pic" idx="4294967295"/>
            <a:vide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42236" y="1326602"/>
            <a:ext cx="6908035" cy="3885477"/>
          </a:xfr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F73767-7ECA-F2F9-0E92-3852D1F428E2}"/>
              </a:ext>
            </a:extLst>
          </p:cNvPr>
          <p:cNvSpPr txBox="1"/>
          <p:nvPr/>
        </p:nvSpPr>
        <p:spPr>
          <a:xfrm>
            <a:off x="928079" y="5231520"/>
            <a:ext cx="8595360" cy="34631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 pitchFamily="18"/>
                <a:ea typeface="Noto Sans CJK SC Regular" pitchFamily="2"/>
                <a:cs typeface="FreeSans" pitchFamily="2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http://www.formaestudio.com/rijndaelinspector/archivos/rijndaelanimation.html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3A1C-CA08-758D-1A7C-EE3CADD3774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AES-Rijndael (Sub-bytes)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2C508-32E7-841C-6BAF-FCE5C0743B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577840" y="1326602"/>
            <a:ext cx="4001761" cy="328823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400"/>
              <a:t>Setiap A</a:t>
            </a:r>
            <a:r>
              <a:rPr lang="en-US" sz="2400" baseline="-33000"/>
              <a:t>i,j</a:t>
            </a:r>
            <a:r>
              <a:rPr lang="en-US" sz="2400"/>
              <a:t> disubtitusikan dengan SubByte S(A</a:t>
            </a:r>
            <a:r>
              <a:rPr lang="en-US" sz="2400" baseline="-33000"/>
              <a:t>i,j</a:t>
            </a:r>
            <a:r>
              <a:rPr lang="en-US" sz="2400"/>
              <a:t>) dengan menggunakan 8-bit Rijndael S-Box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S(A</a:t>
            </a:r>
            <a:r>
              <a:rPr lang="en-US" sz="2400" baseline="-33000"/>
              <a:t>i,j</a:t>
            </a:r>
            <a:r>
              <a:rPr lang="en-US" sz="2400"/>
              <a:t>) tidak sama dengan A</a:t>
            </a:r>
            <a:r>
              <a:rPr lang="en-US" sz="2400" baseline="-33000"/>
              <a:t>i,j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8ECAE4B7-FADC-AC59-BFCE-21C082C173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2920" y="1463040"/>
            <a:ext cx="4919755" cy="256032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EC868-6B46-2BD9-651F-C153C23EB8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AES-Rijndael (Shift Rows)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962D6-8131-CFBA-5854-BBF9580FB8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577840" y="1326602"/>
            <a:ext cx="4001761" cy="3288237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000"/>
              <a:t>Baris pertama tidak dirubah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000"/>
              <a:t>Baris kedua digeser kekiri sebanyak 1 kali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000"/>
              <a:t>Baris ketiga dan keempat digeser sebanyak 2 dan 3 kali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000"/>
              <a:t>Berbeda ketika menggunakan 256 bit blocks, baris kedua, ketiga dan keempat digeser sebanyak 1,3, dan 4 kali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E63648DC-4AD2-8FDE-63CD-D01B98EE610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1371600"/>
            <a:ext cx="5180761" cy="2286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6564-C39C-AD85-D3D8-8404D17660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AES-Rijndael (Mix Columns)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6CB62-B743-AE46-A59E-30F2358FBF2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577840" y="1326602"/>
            <a:ext cx="4001761" cy="3288237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200"/>
              <a:t>Setiap kolom akan dikombinasikan dengan menggunakan transformasi linear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200"/>
              <a:t>Menggunakan 4 byte sebagai input dan menghasilkan 4 byte sebagai output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200"/>
              <a:t>Menggunakan Fixed Matrix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EF61F4FF-AF48-EAAB-6A01-3845917775D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60080" y="1334521"/>
            <a:ext cx="4843439" cy="416663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4730-6AD5-5F2E-39B0-3CB5BEC980C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AES-Rijndael (Add Round Keys)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59460-F60B-B909-A665-2D1CC706F8C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577840" y="1326602"/>
            <a:ext cx="4001761" cy="3288237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000"/>
              <a:t>Subkey dikombinasikan dengan state yang ada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000"/>
              <a:t>Dalam setiap round, subkey didapat dari kunci utama dari penjadwalan kunci Rijndael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000"/>
              <a:t>Subkey ditambahkan dengan melakukan kombinasi setiap byte pada saat state saat ini dengan byte subkey dengan menggunakan bitwise XOR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3E637087-E1A3-FDAB-0FD3-4BF5FABE149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11998" y="1208516"/>
            <a:ext cx="4708081" cy="397548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1EF1-D6E9-F79E-A008-E66D8A84DF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Kesimpulan Kunci Simetrik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91E1F-BE12-57EA-6D02-F7C65DA4E4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400"/>
              <a:t>Basis komputasi sederhana → S-BOX dan operasi XOR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Kunci umumnya dilakukan rotasi yang menyebabkan kunci ‘berubah’ untuk setiap iterasi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Iterasi dilakukan ‘cukup’ banyak → semakin banyak iterasi semakin ‘aman’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Data ada yang di ‘rotasi’ dan ada yang tidak di ‘rotasi’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Enkripsi dan dekripsi dilakukan dengan kunci yang sama, yang berbeda umumnya adalah pola rotasi saat enkripsi dan dekripsi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B8A1-BB6D-2C50-EE5F-8B38C06EC20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Kriptografi Kunci Asimetrik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1395-1569-60CD-392D-3C378E234C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800"/>
              <a:t>Pengirim mengenkripsi menggunakan kunci publik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/>
              <a:t>Penerima mendekripsi menggunakan kunci pribadi (private)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/>
              <a:t>Hanya kunci pribadi yang harus dirahasiakan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 publik bisa didistribusi secara bebas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/>
              <a:t>Contoh terkenal RSA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4E033-410E-46D6-4896-D07C8D19C0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Kriptografi Kunci Asimetrik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79056-2E81-D6A3-31C5-F3D1B1121A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400"/>
              <a:t>Permasalahan yang ada pada kunci simetrik: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Penerima dan Pengirim harus berbagi kunci (yang rentan sekali dicuri oleh orang lain)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Dengan adanya kriptografi kunci asimetrik, permasalahan ini tidak ada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Satu sisi, dapat melakukan proses enkripsi dengan menggunakan kunci publik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 sisi lain, dapat diterima dan dilakukan proses dekripsi dengan menggunakan kunci pribadi ( private 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8CE1-EDB0-4008-288A-B79F53F9C0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Notasi Kunci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6206F-44BB-4B46-ADEA-F0743A52337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1400"/>
              <a:t>Algotitma Enkripsi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 : keyPub x plain → cipher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Notasi : K(msg) = E(K, msg)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400"/>
              <a:t>Algoritma dekripsi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 : keyPriv x cipher → plain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Notasi : k(msg) = D(k,msg)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400"/>
              <a:t>D menginversi E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4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D(k, E(K,msg)) = msg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400"/>
              <a:t>Digunakan notasi K untuk kunci publik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400"/>
              <a:t>Digunakan notasi k untuk kunci pribadi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400"/>
              <a:t>E bisa menggunakan aolgoritma yang sama dengan 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E026-5E63-0FF1-49D5-2CC396E2C0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25363"/>
            <a:ext cx="9071643" cy="946440"/>
          </a:xfrm>
        </p:spPr>
        <p:txBody>
          <a:bodyPr/>
          <a:lstStyle/>
          <a:p>
            <a:pPr lvl="0"/>
            <a:r>
              <a:rPr lang="en-US" sz="3200"/>
              <a:t>Pro &amp; Kontra untuk Kriptografi Kunci Asimetrik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A6E7-F8E4-5827-4720-AF0F88DED80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400"/>
              <a:t>Memerlukan komputasi yang lebih intensif dari kriptografi kunci simetrik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Algoritma lebih sulit untuk diimplementasikan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Memerlukan mesin yang lebih kuat (min. processor yg digunakan utk berhitung)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Kesulitan ditentukan oleh kompleksitas komputasi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Memerlukan pasangan satu kunci pribadi dan satu kunci publik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Jumlah total pasangan kunci yang aman di komunikasi adalah (n)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2FE6-D5A6-01E5-01A6-CCDF97F442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Algoritma RSA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1D160-1AB2-5FA0-D47F-DB6D6386F79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/>
              <a:t>Ron Rivest, Adi Shamir, Leonard Adleman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Diusulkan 1979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Memenangkan award Turing 2002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/>
              <a:t>Implementasi hardware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1000 x lebih pelan dari DES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EFD1B-3F94-1C76-A5CB-97412A1909E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RSA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D1C58-1D57-766F-9271-7A91FEC038E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2400"/>
              <a:t>Pasangan kunci diturunkan dari bilangan prima rahasia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 umumnya ≥ 256 bit (512, 1024, 2048)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Pesan plaintext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Diperlakukan sebagai sebuah bilangan biner yang sangat besar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Untuk memecahkan enkripsi, harus dicari kunci yang merupakan pasangan dari bilangan yang sangat besar tadi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Dianggap sangat sulit untuk melakukan itu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07303-3D81-F966-0C62-67EA2942D0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Kunci RSA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7323BDE1-3466-32D1-0FC6-015894379D8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793522" y="1159203"/>
            <a:ext cx="6580443" cy="382787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1D6F-71E3-797A-763C-80684B9580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Kriptografi Kunci Asimetrik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933CFB55-63DD-F787-7E1B-94484A45897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85483" y="1376638"/>
            <a:ext cx="7684196" cy="337967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44E2-AF07-268A-4F8D-B02D73DB6D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RSA : Pemilihan Kunci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47203-198B-AE59-DC96-BC40F7DF98B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 algn="l">
              <a:buSzPct val="100000"/>
              <a:buAutoNum type="arabicDbPeriod"/>
            </a:pPr>
            <a:r>
              <a:rPr lang="en-US" sz="2000"/>
              <a:t>Pilih dua bilangan prima yang sangat besar p, q.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(misal, masing-masing 1024 bit)</a:t>
            </a:r>
          </a:p>
          <a:p>
            <a:pPr lvl="0" algn="l">
              <a:buSzPct val="100000"/>
              <a:buAutoNum type="arabicDbPeriod"/>
            </a:pPr>
            <a:r>
              <a:rPr lang="en-US" sz="2000"/>
              <a:t>Hitung n = pq, z = (p-1)(q-1)</a:t>
            </a:r>
          </a:p>
          <a:p>
            <a:pPr lvl="0" algn="l">
              <a:buSzPct val="100000"/>
              <a:buAutoNum type="arabicDbPeriod"/>
            </a:pPr>
            <a:r>
              <a:rPr lang="en-US" sz="2000"/>
              <a:t>Pilih e (e&lt;n) yang tidak punya faktor yang sama dengan z.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(e, z “prima relatif”).</a:t>
            </a:r>
          </a:p>
          <a:p>
            <a:pPr lvl="1" hangingPunct="0">
              <a:spcBef>
                <a:spcPts val="1415"/>
              </a:spcBef>
              <a:buNone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 adalah bilangan prima relatif terhadap z</a:t>
            </a:r>
          </a:p>
          <a:p>
            <a:pPr lvl="0" algn="l">
              <a:buSzPct val="100000"/>
              <a:buAutoNum type="arabicDbPeriod"/>
            </a:pPr>
            <a:r>
              <a:rPr lang="en-US" sz="2000"/>
              <a:t>Pilih d sehingga ed-1 bisa dibagi z.</a:t>
            </a:r>
          </a:p>
          <a:p>
            <a:pPr lvl="0" algn="l">
              <a:buSzPct val="100000"/>
              <a:buAutoNum type="arabicDbPeriod"/>
            </a:pPr>
            <a:r>
              <a:rPr lang="en-US" sz="2000"/>
              <a:t>(ed mod z = 1 ).</a:t>
            </a:r>
          </a:p>
          <a:p>
            <a:pPr lvl="0" algn="l">
              <a:buSzPct val="100000"/>
              <a:buAutoNum type="arabicDbPeriod"/>
            </a:pPr>
            <a:r>
              <a:rPr lang="en-US" sz="2000"/>
              <a:t>Kunci Publik (n,e). Kunci pribadi (n,d).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DBD1AA5D-3B5E-3CD5-AB56-DC98F251535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35241" y="4570921"/>
            <a:ext cx="599398" cy="51371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FB55F3B9-0799-94EB-18A4-4561C7B6BFC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480560" y="4570921"/>
            <a:ext cx="523439" cy="51371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1110A90-1709-B4AF-47B3-9830F7C7288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Generate Kunci</a:t>
            </a:r>
            <a:endParaRPr lang="en-ID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97B7111C-61D8-65FB-8185-B7B48CC77E3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US" sz="2000"/>
              <a:t>Pilih 2 bilangan prima </a:t>
            </a:r>
            <a:r>
              <a:rPr lang="en-US" sz="2000">
                <a:latin typeface="Wingdings" pitchFamily="2"/>
              </a:rPr>
              <a:t></a:t>
            </a:r>
            <a:r>
              <a:rPr lang="en-US" sz="2000"/>
              <a:t> p, q </a:t>
            </a:r>
            <a:r>
              <a:rPr lang="en-US" sz="2000">
                <a:latin typeface="Wingdings" pitchFamily="2"/>
              </a:rPr>
              <a:t></a:t>
            </a:r>
            <a:r>
              <a:rPr lang="en-US" sz="2000"/>
              <a:t> tidak dipublikasikan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ID" sz="2000"/>
              <a:t>Kalikan </a:t>
            </a:r>
            <a:r>
              <a:rPr lang="en-ID" sz="2000">
                <a:latin typeface="Wingdings" pitchFamily="2"/>
              </a:rPr>
              <a:t></a:t>
            </a:r>
            <a:r>
              <a:rPr lang="en-ID" sz="2000"/>
              <a:t> N=p*q </a:t>
            </a:r>
            <a:r>
              <a:rPr lang="en-ID" sz="2000">
                <a:latin typeface="Wingdings" pitchFamily="2"/>
              </a:rPr>
              <a:t></a:t>
            </a:r>
            <a:r>
              <a:rPr lang="en-ID" sz="2000"/>
              <a:t> menjadi modulus pada enkripsi dan dekripsi </a:t>
            </a:r>
            <a:r>
              <a:rPr lang="en-ID" sz="2000">
                <a:latin typeface="Wingdings" pitchFamily="2"/>
              </a:rPr>
              <a:t></a:t>
            </a:r>
            <a:r>
              <a:rPr lang="en-ID" sz="2000"/>
              <a:t> dipublikasikan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ID" sz="2000"/>
              <a:t>Cari jumlah bilangan yang sefaktor prima dari N </a:t>
            </a:r>
            <a:r>
              <a:rPr lang="en-ID" sz="2000">
                <a:latin typeface="Wingdings" pitchFamily="2"/>
              </a:rPr>
              <a:t></a:t>
            </a:r>
            <a:r>
              <a:rPr lang="en-ID" sz="2000"/>
              <a:t> phi(N) = (p-1)(q-1)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ID" sz="2000"/>
              <a:t>Pilih bilangan e, dimana 1&lt;e&lt;phi(N) dan e adalah bilangan tidak sefaktor prima antara N, phi(N)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ID" sz="2000"/>
              <a:t>Diperoleh </a:t>
            </a:r>
            <a:r>
              <a:rPr lang="en-ID" sz="2000" b="1"/>
              <a:t>gembok (e,N)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ID" sz="2000"/>
              <a:t>Cari bilangan d, dimana d*e (mod phi(N))=1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ID" sz="2000"/>
              <a:t>Diperoleh </a:t>
            </a:r>
            <a:r>
              <a:rPr lang="en-ID" sz="2000" b="1"/>
              <a:t>kunci (d,N)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19427-F34C-6B5F-4FEE-7A88BC2EEE9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BF6B8-D8B9-6E6F-349E-CD1A02DE1D2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SzPct val="100000"/>
              <a:buAutoNum type="arabicPeriod"/>
            </a:pPr>
            <a:r>
              <a:rPr lang="en-US"/>
              <a:t>Di pengirim</a:t>
            </a:r>
          </a:p>
          <a:p>
            <a:pPr marL="1200150" lvl="1" indent="-514350">
              <a:buAutoNum type="arabicPeriod"/>
            </a:pPr>
            <a:r>
              <a:rPr lang="en-US"/>
              <a:t>Kunci pesan M dengan gembok (e,N) </a:t>
            </a:r>
            <a:r>
              <a:rPr lang="en-US">
                <a:latin typeface="Wingdings" pitchFamily="2"/>
              </a:rPr>
              <a:t></a:t>
            </a:r>
            <a:r>
              <a:rPr lang="en-US"/>
              <a:t> M^e=C (mod N) </a:t>
            </a:r>
            <a:r>
              <a:rPr lang="en-US">
                <a:latin typeface="Wingdings" pitchFamily="2"/>
              </a:rPr>
              <a:t></a:t>
            </a:r>
            <a:r>
              <a:rPr lang="en-US"/>
              <a:t> diperoleh C</a:t>
            </a:r>
          </a:p>
          <a:p>
            <a:pPr marL="1200150" lvl="1" indent="-514350">
              <a:buAutoNum type="arabicPeriod"/>
            </a:pPr>
            <a:r>
              <a:rPr lang="en-US"/>
              <a:t>Pesan C dikirim ke penerima</a:t>
            </a:r>
          </a:p>
          <a:p>
            <a:pPr marL="514350" lvl="0" indent="-514350">
              <a:buSzPct val="100000"/>
              <a:buAutoNum type="arabicPeriod"/>
            </a:pPr>
            <a:r>
              <a:rPr lang="en-US"/>
              <a:t>Di penerima </a:t>
            </a:r>
          </a:p>
          <a:p>
            <a:pPr marL="1200150" lvl="1" indent="-514350">
              <a:buAutoNum type="arabicPeriod"/>
            </a:pPr>
            <a:r>
              <a:rPr lang="en-US"/>
              <a:t>Dekripsi dengan menggunakan kunci (d,N) </a:t>
            </a:r>
            <a:r>
              <a:rPr lang="en-US">
                <a:latin typeface="Wingdings" pitchFamily="2"/>
              </a:rPr>
              <a:t></a:t>
            </a:r>
            <a:r>
              <a:rPr lang="en-US"/>
              <a:t> C^d = M(mod N) </a:t>
            </a:r>
            <a:r>
              <a:rPr lang="en-US">
                <a:latin typeface="Wingdings" pitchFamily="2"/>
              </a:rPr>
              <a:t></a:t>
            </a:r>
            <a:r>
              <a:rPr lang="en-US"/>
              <a:t> diperoleh M </a:t>
            </a:r>
            <a:endParaRPr lang="en-ID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A3A2-1A81-FEF3-B8A1-EE2BA6C22FF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Contoh RSA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1984F-0DAF-FDE8-7BF9-73A957EA303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200"/>
              <a:t>Bob memilih p=5, q=7. Maka N=35, phi(N)=24.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e=5 (sehingga e, z prima relatif).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d=29 (sehingga ed-1 habis dibagi z).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200"/>
              <a:t>Encrypt</a:t>
            </a:r>
          </a:p>
          <a:p>
            <a:pPr lvl="0">
              <a:buSzPct val="45000"/>
              <a:buFont typeface="StarSymbol"/>
              <a:buChar char="●"/>
            </a:pPr>
            <a:endParaRPr lang="en-US"/>
          </a:p>
          <a:p>
            <a:pPr lvl="0">
              <a:buSzPct val="45000"/>
              <a:buFont typeface="StarSymbol"/>
              <a:buChar char="●"/>
            </a:pPr>
            <a:r>
              <a:rPr lang="en-US" sz="2200"/>
              <a:t>Decrypt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6C12BE67-242E-EFD4-78FA-B4D11F0F650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99867" y="2970721"/>
            <a:ext cx="4647236" cy="8377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45DFE144-0F23-500B-3B5E-C1F786C3278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407499" y="4273887"/>
            <a:ext cx="5294522" cy="82799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97E7-AFCA-87DC-CA33-34AF6237C3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RSA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4A3A62E0-29CF-4C77-2EC4-FE89F664773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45921" y="1595518"/>
            <a:ext cx="8675644" cy="252324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189E-7EEA-AE73-B4DA-19180E0F55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Cara Menghasilkan Bilangan Prima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D1478-50E4-40A9-C411-4B303DDC1FD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1800"/>
              <a:t>Banyak cara, umum digunakan Rabin-Miller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Test yang efisien dengan kemungkinan memeriksa sebuah bilangan prima adalah ¾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Iterasi test Rabin-Miller t kali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Kemungkinan bilangan tersebut bukan prima adalah (1/4)</a:t>
            </a:r>
            <a:r>
              <a:rPr lang="en-US" sz="1800" baseline="33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Dalam praktisnya (hanya memerlukan beberapa detik untuk mendapatkan prima 512bit)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Hasilkan bilangan random n bit : p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Ubah LSB dan MSB ke 1 (untuk memastikan menjadi bilangan ganjil)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Periksa apakah prima dengan dibagi 3,5,7 sd &lt;2000</a:t>
            </a:r>
          </a:p>
          <a:p>
            <a:pPr lvl="1" hangingPunct="0">
              <a:spcBef>
                <a:spcPts val="1415"/>
              </a:spcBef>
              <a:buSzPct val="75000"/>
              <a:buFont typeface="StarSymbol"/>
              <a:buChar char="–"/>
            </a:pP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Lakukan test Rabin Miller paling tidak 5 kali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CCB6-5683-633A-31AE-52243D4290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25719"/>
            <a:ext cx="9071643" cy="946440"/>
          </a:xfrm>
        </p:spPr>
        <p:txBody>
          <a:bodyPr/>
          <a:lstStyle/>
          <a:p>
            <a:pPr lvl="0"/>
            <a:r>
              <a:rPr lang="en-US" sz="4000"/>
              <a:t>Penggunaan Lain Kripto Kunci Asimetrik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FB98E-5DAB-BBD2-37D8-8AF9870590A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lnSpc>
                <a:spcPct val="80000"/>
              </a:lnSpc>
              <a:buSzPct val="45000"/>
              <a:buFont typeface="StarSymbol"/>
              <a:buChar char="●"/>
            </a:pPr>
            <a:r>
              <a:rPr lang="en-US" sz="3000"/>
              <a:t>Pengirim (A) mengirim kA(m)</a:t>
            </a:r>
          </a:p>
          <a:p>
            <a:pPr lvl="0">
              <a:lnSpc>
                <a:spcPct val="80000"/>
              </a:lnSpc>
              <a:buSzPct val="45000"/>
              <a:buFont typeface="StarSymbol"/>
              <a:buChar char="●"/>
            </a:pPr>
            <a:r>
              <a:rPr lang="en-US" sz="3000"/>
              <a:t>Penerima (B) membuka KA(kA(m))</a:t>
            </a:r>
          </a:p>
          <a:p>
            <a:pPr lvl="0">
              <a:lnSpc>
                <a:spcPct val="80000"/>
              </a:lnSpc>
              <a:buSzPct val="45000"/>
              <a:buFont typeface="StarSymbol"/>
              <a:buChar char="●"/>
            </a:pPr>
            <a:endParaRPr lang="en-US" sz="3000"/>
          </a:p>
          <a:p>
            <a:pPr lvl="0">
              <a:lnSpc>
                <a:spcPct val="80000"/>
              </a:lnSpc>
              <a:buSzPct val="45000"/>
              <a:buFont typeface="StarSymbol"/>
              <a:buChar char="●"/>
            </a:pPr>
            <a:r>
              <a:rPr lang="en-US" sz="3000"/>
              <a:t>Apa tujuan dari komunikasi ini?</a:t>
            </a:r>
          </a:p>
          <a:p>
            <a:pPr lvl="0">
              <a:lnSpc>
                <a:spcPct val="80000"/>
              </a:lnSpc>
              <a:buSzPct val="45000"/>
              <a:buFont typeface="StarSymbol"/>
              <a:buChar char="●"/>
            </a:pPr>
            <a:r>
              <a:rPr lang="en-US" sz="3000"/>
              <a:t>Untuk melakukan proses </a:t>
            </a:r>
            <a:r>
              <a:rPr lang="en-US" sz="3000" b="1" i="1"/>
              <a:t>autentikasi</a:t>
            </a:r>
            <a:r>
              <a:rPr lang="en-US" sz="3000"/>
              <a:t> yaitu meyakinkan penerima bahwa yang mengirim benar-benar / hanya 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E2134-7FC4-7EF9-A27E-1D1E34B9C0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Kriptografi Kunci Hybrid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73008-CE5E-799B-4DD4-3D2EBA8F2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1800"/>
              <a:t>Gabungan kunci simetrik dan asimetrik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Tujuan mengambil kelebihan dari kedua sistem : kemudahan komputasi simetrik dan keamanan asimetrik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Kunci simetrik sebagai kunci komunikasi / kunci sesi dikirim sebagai pesan komunikasi asimetrik</a:t>
            </a:r>
          </a:p>
          <a:p>
            <a:pPr lvl="0">
              <a:buSzPct val="45000"/>
              <a:buFont typeface="StarSymbol"/>
              <a:buChar char="●"/>
            </a:pPr>
            <a:endParaRPr lang="en-US" sz="1400"/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Pengirim : K</a:t>
            </a:r>
            <a:r>
              <a:rPr lang="en-US" sz="1800" baseline="33000"/>
              <a:t>+</a:t>
            </a:r>
            <a:r>
              <a:rPr lang="en-US" sz="1800"/>
              <a:t>(K</a:t>
            </a:r>
            <a:r>
              <a:rPr lang="en-US" sz="1800" baseline="-33000"/>
              <a:t>AB</a:t>
            </a:r>
            <a:r>
              <a:rPr lang="en-US" sz="1800"/>
              <a:t>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Penerima : K</a:t>
            </a:r>
            <a:r>
              <a:rPr lang="en-US" sz="1800" baseline="33000"/>
              <a:t>-</a:t>
            </a:r>
            <a:r>
              <a:rPr lang="en-US" sz="1800"/>
              <a:t>(K</a:t>
            </a:r>
            <a:r>
              <a:rPr lang="en-US" sz="1800" baseline="33000"/>
              <a:t>+</a:t>
            </a:r>
            <a:r>
              <a:rPr lang="en-US" sz="1800"/>
              <a:t>(K</a:t>
            </a:r>
            <a:r>
              <a:rPr lang="en-US" sz="1800" baseline="-33000"/>
              <a:t>AB</a:t>
            </a:r>
            <a:r>
              <a:rPr lang="en-US" sz="1800"/>
              <a:t>))</a:t>
            </a:r>
          </a:p>
          <a:p>
            <a:pPr lvl="0">
              <a:buSzPct val="45000"/>
              <a:buFont typeface="StarSymbol"/>
              <a:buChar char="●"/>
            </a:pPr>
            <a:endParaRPr lang="en-US" sz="1400"/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Untuk menambah keamanan komunikasi bisa dibagi menjadi banyak sesi yang masing2 menggunakan kunci simetrik yang berbeda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0522-C264-B272-B33C-05C952084D6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Homomorphic Encryption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4455F-1387-2862-2B10-7B90ACEABF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US" sz="1800"/>
              <a:t>E=K(m)</a:t>
            </a:r>
          </a:p>
          <a:p>
            <a:pPr lvl="0">
              <a:buSzPct val="45000"/>
              <a:buFont typeface="StarSymbol"/>
              <a:buChar char="●"/>
            </a:pPr>
            <a:endParaRPr lang="en-US" sz="1800"/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M1 → K(M1)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M2 → K(M2)</a:t>
            </a:r>
          </a:p>
          <a:p>
            <a:pPr lvl="0">
              <a:buSzPct val="45000"/>
              <a:buFont typeface="StarSymbol"/>
              <a:buChar char="●"/>
            </a:pPr>
            <a:endParaRPr lang="en-US" sz="1800"/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K(M1) + K(M2)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      → E1 + E2 = E3</a:t>
            </a:r>
          </a:p>
          <a:p>
            <a:pPr lvl="0">
              <a:buSzPct val="45000"/>
              <a:buFont typeface="StarSymbol"/>
              <a:buChar char="●"/>
            </a:pPr>
            <a:endParaRPr lang="en-US" sz="1800"/>
          </a:p>
          <a:p>
            <a:pPr lvl="0">
              <a:buSzPct val="45000"/>
              <a:buFont typeface="StarSymbol"/>
              <a:buChar char="●"/>
            </a:pPr>
            <a:r>
              <a:rPr lang="en-US" sz="1800"/>
              <a:t>M3 = K(E3)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1D12-46EE-AD9E-1155-EA0A641DF8D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Pertukaran kunci Delfie-Helmann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DA4C0-5330-CBE3-661C-9EAC82771C9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US" sz="2700"/>
              <a:t>Pilih consensus bilangan prima publik (p, q) </a:t>
            </a:r>
            <a:r>
              <a:rPr lang="en-US" sz="2700">
                <a:latin typeface="Wingdings" pitchFamily="2"/>
              </a:rPr>
              <a:t></a:t>
            </a:r>
            <a:r>
              <a:rPr lang="en-US" sz="2700"/>
              <a:t> p mod q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US" sz="2700"/>
              <a:t>Pengirim memilih bilangan prima privat A  </a:t>
            </a:r>
            <a:r>
              <a:rPr lang="en-US" sz="2700">
                <a:latin typeface="Wingdings" pitchFamily="2"/>
              </a:rPr>
              <a:t></a:t>
            </a:r>
            <a:r>
              <a:rPr lang="en-US" sz="2700"/>
              <a:t> p^A mod q </a:t>
            </a:r>
            <a:r>
              <a:rPr lang="en-US" sz="2700">
                <a:latin typeface="Wingdings" pitchFamily="2"/>
              </a:rPr>
              <a:t></a:t>
            </a:r>
            <a:r>
              <a:rPr lang="en-US" sz="2700"/>
              <a:t> hasil k1 dikirim ke penerima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US" sz="2700"/>
              <a:t>Penerima memilih bilangan prima privat B </a:t>
            </a:r>
            <a:r>
              <a:rPr lang="en-US" sz="2700">
                <a:latin typeface="Wingdings" pitchFamily="2"/>
              </a:rPr>
              <a:t></a:t>
            </a:r>
            <a:r>
              <a:rPr lang="en-US" sz="2700"/>
              <a:t> p^B mod q </a:t>
            </a:r>
            <a:r>
              <a:rPr lang="en-US" sz="2700">
                <a:latin typeface="Wingdings" pitchFamily="2"/>
              </a:rPr>
              <a:t></a:t>
            </a:r>
            <a:r>
              <a:rPr lang="en-US" sz="2700"/>
              <a:t> hasil k2 dikirim ke pengirim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US" sz="2700"/>
              <a:t>Pengirim mendapatkan k2 </a:t>
            </a:r>
            <a:r>
              <a:rPr lang="en-US" sz="2700">
                <a:latin typeface="Wingdings" pitchFamily="2"/>
              </a:rPr>
              <a:t></a:t>
            </a:r>
            <a:r>
              <a:rPr lang="en-US" sz="2700"/>
              <a:t> k2^A mod q </a:t>
            </a:r>
            <a:r>
              <a:rPr lang="en-US" sz="2700">
                <a:latin typeface="Wingdings" pitchFamily="2"/>
              </a:rPr>
              <a:t></a:t>
            </a:r>
            <a:r>
              <a:rPr lang="en-US" sz="2700"/>
              <a:t> K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r>
              <a:rPr lang="en-US" sz="2700"/>
              <a:t>Penerima mendapatkan k1 </a:t>
            </a:r>
            <a:r>
              <a:rPr lang="en-US" sz="2700">
                <a:latin typeface="Wingdings" pitchFamily="2"/>
              </a:rPr>
              <a:t></a:t>
            </a:r>
            <a:r>
              <a:rPr lang="en-US" sz="2700"/>
              <a:t> k1^B mod q </a:t>
            </a:r>
            <a:r>
              <a:rPr lang="en-US" sz="2700">
                <a:latin typeface="Wingdings" pitchFamily="2"/>
              </a:rPr>
              <a:t></a:t>
            </a:r>
            <a:r>
              <a:rPr lang="en-US" sz="2700"/>
              <a:t> K</a:t>
            </a:r>
          </a:p>
          <a:p>
            <a:pPr marL="514350" lvl="0" indent="-514350">
              <a:lnSpc>
                <a:spcPct val="80000"/>
              </a:lnSpc>
              <a:buSzPct val="100000"/>
              <a:buAutoNum type="arabicPeriod"/>
            </a:pPr>
            <a:endParaRPr lang="en-ID" sz="27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B5D4FF9-01F8-20C0-1A4C-4A6B5C5FC7FB}"/>
              </a:ext>
            </a:extLst>
          </p:cNvPr>
          <p:cNvSpPr/>
          <p:nvPr/>
        </p:nvSpPr>
        <p:spPr>
          <a:xfrm>
            <a:off x="7223760" y="5166003"/>
            <a:ext cx="2099883" cy="37800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t" anchorCtr="0" compatLnSpc="0">
            <a:norm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0B72ECE-682A-4000-A712-5768BF21B2B6}" type="slidenum">
              <a:t>62</a:t>
            </a:fld>
            <a:endParaRPr lang="en-GB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AA272E-D732-96AB-5551-EFA798F3B1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55998" y="542156"/>
            <a:ext cx="8568001" cy="86760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BD582-47DA-41E1-3F0C-9D52ED10146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55998" y="1637635"/>
            <a:ext cx="8568001" cy="3401997"/>
          </a:xfrm>
        </p:spPr>
        <p:txBody>
          <a:bodyPr lIns="91440" tIns="45720" rIns="91440" bIns="45720"/>
          <a:lstStyle/>
          <a:p>
            <a:pPr lvl="0" hangingPunct="1"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800">
                <a:cs typeface="Times New Roman" pitchFamily="18"/>
              </a:rPr>
              <a:t>Kriptografi kunci-publik didasarkan pada fakta:</a:t>
            </a:r>
          </a:p>
          <a:p>
            <a:pPr marL="342717" lvl="0" indent="-342717" hangingPunct="1"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>
                <a:cs typeface="Times New Roman" pitchFamily="18"/>
              </a:rPr>
              <a:t>	1. Komputasi untuk enkripsi/dekripsi pesan</a:t>
            </a:r>
          </a:p>
          <a:p>
            <a:pPr marL="342717" lvl="0" indent="-342717" hangingPunct="1">
              <a:spcBef>
                <a:spcPts val="695"/>
              </a:spcBef>
            </a:pPr>
            <a:r>
              <a:rPr lang="en-US" sz="2800">
                <a:cs typeface="Times New Roman" pitchFamily="18"/>
              </a:rPr>
              <a:t>       mudah dilakukan.</a:t>
            </a:r>
          </a:p>
          <a:p>
            <a:pPr marL="342717" lvl="0" indent="-342717" hangingPunct="1"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>
                <a:cs typeface="Times New Roman" pitchFamily="18"/>
              </a:rPr>
              <a:t>	2. Secara komputasi hampir tidak mungkin</a:t>
            </a:r>
          </a:p>
          <a:p>
            <a:pPr marL="342717" lvl="0" indent="-342717" hangingPunct="1">
              <a:spcBef>
                <a:spcPts val="695"/>
              </a:spcBef>
            </a:pPr>
            <a:r>
              <a:rPr lang="en-US" sz="2800">
                <a:cs typeface="Times New Roman" pitchFamily="18"/>
              </a:rPr>
              <a:t>       (</a:t>
            </a:r>
            <a:r>
              <a:rPr lang="en-US" sz="2800" i="1">
                <a:cs typeface="Times New Roman" pitchFamily="18"/>
              </a:rPr>
              <a:t>infeasible</a:t>
            </a:r>
            <a:r>
              <a:rPr lang="en-US" sz="2800">
                <a:cs typeface="Times New Roman" pitchFamily="18"/>
              </a:rPr>
              <a:t>) menurunkan kunci privat, </a:t>
            </a:r>
            <a:r>
              <a:rPr lang="en-US" sz="2800" i="1">
                <a:cs typeface="Times New Roman" pitchFamily="18"/>
              </a:rPr>
              <a:t>d</a:t>
            </a:r>
            <a:r>
              <a:rPr lang="en-US" sz="2800">
                <a:cs typeface="Times New Roman" pitchFamily="18"/>
              </a:rPr>
              <a:t>,</a:t>
            </a:r>
          </a:p>
          <a:p>
            <a:pPr marL="342717" lvl="0" indent="-342717" hangingPunct="1">
              <a:spcBef>
                <a:spcPts val="695"/>
              </a:spcBef>
            </a:pPr>
            <a:r>
              <a:rPr lang="en-US" sz="2800">
                <a:cs typeface="Times New Roman" pitchFamily="18"/>
              </a:rPr>
              <a:t>       bila diketahui kunci publik, </a:t>
            </a:r>
            <a:r>
              <a:rPr lang="en-US" sz="2800" i="1">
                <a:cs typeface="Times New Roman" pitchFamily="18"/>
              </a:rPr>
              <a:t>e</a:t>
            </a:r>
            <a:r>
              <a:rPr lang="en-US" sz="2800">
                <a:cs typeface="Times New Roman" pitchFamily="18"/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38870D-EDC9-01D8-8038-34AAF97D16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55276" y="377638"/>
            <a:ext cx="8904244" cy="4662004"/>
          </a:xfrm>
        </p:spPr>
        <p:txBody>
          <a:bodyPr lIns="91440" tIns="45720" rIns="91440" bIns="45720">
            <a:noAutofit/>
          </a:bodyPr>
          <a:lstStyle/>
          <a:p>
            <a:pPr lvl="0" hangingPunct="1">
              <a:lnSpc>
                <a:spcPct val="90000"/>
              </a:lnSpc>
              <a:spcBef>
                <a:spcPts val="600"/>
              </a:spcBef>
              <a:buSzPct val="45000"/>
              <a:buFont typeface="StarSymbol"/>
              <a:buChar char="●"/>
            </a:pPr>
            <a:r>
              <a:rPr lang="en-US" sz="2000"/>
              <a:t>Pembangkitan sepasang kunci pada kriptografi kunci-publik didasarkan pada persoalan </a:t>
            </a:r>
            <a:r>
              <a:rPr lang="en-US" sz="2000" i="1"/>
              <a:t>integer</a:t>
            </a:r>
            <a:r>
              <a:rPr lang="en-US" sz="2000"/>
              <a:t> klasik sebagai berikut: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000"/>
              <a:t>	1. </a:t>
            </a:r>
            <a:r>
              <a:rPr lang="en-US" sz="2000" b="1"/>
              <a:t>Pemfaktoran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000"/>
              <a:t>	</a:t>
            </a:r>
            <a:r>
              <a:rPr lang="en-US" sz="2000">
                <a:solidFill>
                  <a:srgbClr val="FF0000"/>
                </a:solidFill>
              </a:rPr>
              <a:t>Diberikan bilangan bulat </a:t>
            </a:r>
            <a:r>
              <a:rPr lang="en-US" sz="2000" i="1">
                <a:solidFill>
                  <a:srgbClr val="FF0000"/>
                </a:solidFill>
              </a:rPr>
              <a:t>n. </a:t>
            </a:r>
            <a:r>
              <a:rPr lang="en-US" sz="2000">
                <a:solidFill>
                  <a:srgbClr val="FF0000"/>
                </a:solidFill>
              </a:rPr>
              <a:t>Faktorkan </a:t>
            </a:r>
            <a:r>
              <a:rPr lang="en-US" sz="2000" i="1">
                <a:solidFill>
                  <a:srgbClr val="FF0000"/>
                </a:solidFill>
              </a:rPr>
              <a:t>n</a:t>
            </a:r>
            <a:r>
              <a:rPr lang="en-US" sz="2000">
                <a:solidFill>
                  <a:srgbClr val="FF0000"/>
                </a:solidFill>
              </a:rPr>
              <a:t> menjadi factor-faktor primanya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000"/>
              <a:t>	    Contoh: </a:t>
            </a:r>
            <a:r>
              <a:rPr lang="en-US" sz="2000" i="1"/>
              <a:t>n</a:t>
            </a:r>
            <a:r>
              <a:rPr lang="en-US" sz="2000"/>
              <a:t> = 10 = 2 * 5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000"/>
              <a:t>		          </a:t>
            </a:r>
            <a:r>
              <a:rPr lang="en-US" sz="2000" i="1"/>
              <a:t>n</a:t>
            </a:r>
            <a:r>
              <a:rPr lang="en-US" sz="2000"/>
              <a:t> = 60 = 2 * 2 * 3 * 5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r>
              <a:rPr lang="en-US" sz="2000"/>
              <a:t>                      </a:t>
            </a:r>
            <a:r>
              <a:rPr lang="en-US" sz="2000" i="1"/>
              <a:t>n</a:t>
            </a:r>
            <a:r>
              <a:rPr lang="en-US" sz="2000"/>
              <a:t> = 252601 = 41 * 61 * 101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r>
              <a:rPr lang="en-US" sz="2000"/>
              <a:t>                      </a:t>
            </a:r>
            <a:r>
              <a:rPr lang="en-US" sz="2000" i="1"/>
              <a:t>n</a:t>
            </a:r>
            <a:r>
              <a:rPr lang="en-US" sz="2000"/>
              <a:t> = 2</a:t>
            </a:r>
            <a:r>
              <a:rPr lang="en-US" sz="2000" baseline="30000"/>
              <a:t>13</a:t>
            </a:r>
            <a:r>
              <a:rPr lang="en-US" sz="2000"/>
              <a:t> – 1 = 3391 * 23279 * 65993 * 1868569 *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r>
              <a:rPr lang="en-US" sz="2000"/>
              <a:t>                                       1066818132868207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r>
              <a:rPr lang="en-US" sz="2000"/>
              <a:t>      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r>
              <a:rPr lang="en-US" sz="2000"/>
              <a:t>     Semakin besar </a:t>
            </a:r>
            <a:r>
              <a:rPr lang="en-US" sz="2000" i="1"/>
              <a:t>n</a:t>
            </a:r>
            <a:r>
              <a:rPr lang="en-US" sz="2000"/>
              <a:t>, semakin sulit memfaktorkan (butuh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r>
              <a:rPr lang="en-US" sz="2000"/>
              <a:t>       waktu sangat lama).                         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000"/>
              <a:t>       Algoritma yang menggunakan prinsip ini: </a:t>
            </a:r>
            <a:r>
              <a:rPr lang="en-US" sz="2000" i="1"/>
              <a:t>RSA</a:t>
            </a:r>
            <a:r>
              <a:rPr lang="en-US" sz="2000"/>
              <a:t> 		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A0546E4-C3A4-8D56-685E-3B0561C126B4}"/>
              </a:ext>
            </a:extLst>
          </p:cNvPr>
          <p:cNvSpPr/>
          <p:nvPr/>
        </p:nvSpPr>
        <p:spPr>
          <a:xfrm>
            <a:off x="7223760" y="5166003"/>
            <a:ext cx="2099883" cy="37800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t" anchorCtr="0" compatLnSpc="0">
            <a:norm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205EF-B29D-F44F-E5A9-A409A7D44F5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55998" y="567001"/>
            <a:ext cx="8568001" cy="4472997"/>
          </a:xfrm>
        </p:spPr>
        <p:txBody>
          <a:bodyPr lIns="91440" tIns="45720" rIns="91440" bIns="45720">
            <a:noAutofit/>
          </a:bodyPr>
          <a:lstStyle/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r>
              <a:rPr lang="en-US" sz="2000"/>
              <a:t>  2. </a:t>
            </a:r>
            <a:r>
              <a:rPr lang="en-US" sz="2000" b="1"/>
              <a:t>Logaritma diskrit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000">
                <a:solidFill>
                  <a:srgbClr val="FF0000"/>
                </a:solidFill>
              </a:rPr>
              <a:t>      Temukan </a:t>
            </a:r>
            <a:r>
              <a:rPr lang="en-US" sz="2000" i="1">
                <a:solidFill>
                  <a:srgbClr val="FF0000"/>
                </a:solidFill>
              </a:rPr>
              <a:t>x</a:t>
            </a:r>
            <a:r>
              <a:rPr lang="en-US" sz="2000">
                <a:solidFill>
                  <a:srgbClr val="FF0000"/>
                </a:solidFill>
              </a:rPr>
              <a:t> sedemikian sehingga </a:t>
            </a:r>
            <a:r>
              <a:rPr lang="en-US" sz="2000" i="1">
                <a:solidFill>
                  <a:srgbClr val="FF0000"/>
                </a:solidFill>
              </a:rPr>
              <a:t>a</a:t>
            </a:r>
            <a:r>
              <a:rPr lang="en-US" sz="2000" i="1" baseline="30000">
                <a:solidFill>
                  <a:srgbClr val="FF0000"/>
                </a:solidFill>
              </a:rPr>
              <a:t>x</a:t>
            </a:r>
            <a:r>
              <a:rPr lang="en-US" sz="2000">
                <a:solidFill>
                  <a:srgbClr val="FF0000"/>
                </a:solidFill>
              </a:rPr>
              <a:t>  </a:t>
            </a:r>
            <a:r>
              <a:rPr lang="en-US" sz="2000" i="1">
                <a:solidFill>
                  <a:srgbClr val="FF0000"/>
                </a:solidFill>
              </a:rPr>
              <a:t>b</a:t>
            </a:r>
            <a:r>
              <a:rPr lang="en-US" sz="2000">
                <a:solidFill>
                  <a:srgbClr val="FF0000"/>
                </a:solidFill>
              </a:rPr>
              <a:t> (mod </a:t>
            </a:r>
            <a:r>
              <a:rPr lang="en-US" sz="2000" i="1">
                <a:solidFill>
                  <a:srgbClr val="FF0000"/>
                </a:solidFill>
              </a:rPr>
              <a:t>n</a:t>
            </a:r>
            <a:r>
              <a:rPr lang="en-US" sz="2000">
                <a:solidFill>
                  <a:srgbClr val="FF0000"/>
                </a:solidFill>
              </a:rPr>
              <a:t>)	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000"/>
              <a:t>	 sulit dihitung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endParaRPr lang="en-US" sz="2000"/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r>
              <a:rPr lang="en-US" sz="2000"/>
              <a:t>    Contoh: jika 3</a:t>
            </a:r>
            <a:r>
              <a:rPr lang="en-US" sz="2000" i="1" baseline="30000"/>
              <a:t>x</a:t>
            </a:r>
            <a:r>
              <a:rPr lang="en-US" sz="2000" i="1"/>
              <a:t> </a:t>
            </a:r>
            <a:r>
              <a:rPr lang="en-US" sz="2000"/>
              <a:t> 15 (mod 17) maka </a:t>
            </a:r>
            <a:r>
              <a:rPr lang="en-US" sz="2000" i="1"/>
              <a:t>x</a:t>
            </a:r>
            <a:r>
              <a:rPr lang="en-US" sz="2000"/>
              <a:t> = 6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r>
              <a:rPr lang="en-US" sz="2000"/>
              <a:t>    Semakin besar </a:t>
            </a:r>
            <a:r>
              <a:rPr lang="en-US" sz="2000" i="1"/>
              <a:t>a</a:t>
            </a:r>
            <a:r>
              <a:rPr lang="en-US" sz="2000"/>
              <a:t>, </a:t>
            </a:r>
            <a:r>
              <a:rPr lang="en-US" sz="2000" i="1"/>
              <a:t>b</a:t>
            </a:r>
            <a:r>
              <a:rPr lang="en-US" sz="2000"/>
              <a:t>, dan </a:t>
            </a:r>
            <a:r>
              <a:rPr lang="en-US" sz="2000" i="1"/>
              <a:t>n</a:t>
            </a:r>
            <a:r>
              <a:rPr lang="en-US" sz="2000"/>
              <a:t> semakin sulit memfaktorkan (butuh waktu lama).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</a:pPr>
            <a:endParaRPr lang="en-US" sz="2000"/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000"/>
              <a:t>    Algoritma yang menggunakan prinsip ini: ElGamal, </a:t>
            </a:r>
            <a:r>
              <a:rPr lang="en-US" sz="2000" i="1"/>
              <a:t>DSA</a:t>
            </a:r>
            <a:r>
              <a:rPr lang="en-US" sz="2000"/>
              <a:t>		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000"/>
              <a:t>	Catatan: Persoalan logaritma diskrit adalah kebalikan dari persoalan perpangkatan modular:</a:t>
            </a:r>
          </a:p>
          <a:p>
            <a:pPr marL="342717" lvl="0" indent="-342717" hangingPunct="1">
              <a:lnSpc>
                <a:spcPct val="90000"/>
              </a:lnSpc>
              <a:spcBef>
                <a:spcPts val="6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000"/>
              <a:t>		 </a:t>
            </a:r>
            <a:r>
              <a:rPr lang="en-US" sz="2000" i="1"/>
              <a:t>a</a:t>
            </a:r>
            <a:r>
              <a:rPr lang="en-US" sz="2000" i="1" baseline="30000"/>
              <a:t>x</a:t>
            </a:r>
            <a:r>
              <a:rPr lang="en-US" sz="2000" i="1"/>
              <a:t> </a:t>
            </a:r>
            <a:r>
              <a:rPr lang="en-US" sz="2000"/>
              <a:t>mod </a:t>
            </a:r>
            <a:r>
              <a:rPr lang="en-US" sz="2000" i="1"/>
              <a:t>n</a:t>
            </a:r>
            <a:r>
              <a:rPr lang="en-US" sz="2000"/>
              <a:t>  mudah  dihitung	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7E27C3-2D12-A242-D80C-C22760B87D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55998" y="630003"/>
            <a:ext cx="8568001" cy="4409639"/>
          </a:xfrm>
        </p:spPr>
        <p:txBody>
          <a:bodyPr lIns="91440" tIns="45720" rIns="91440" bIns="45720"/>
          <a:lstStyle/>
          <a:p>
            <a:pPr marL="342717" lvl="0" indent="-342717">
              <a:spcBef>
                <a:spcPts val="695"/>
              </a:spcBef>
            </a:pPr>
            <a:r>
              <a:rPr lang="en-US" sz="2800"/>
              <a:t>3.</a:t>
            </a:r>
            <a:r>
              <a:rPr lang="en-US" sz="2800" b="1"/>
              <a:t> </a:t>
            </a:r>
            <a:r>
              <a:rPr lang="en-US" sz="2800" b="1" i="1"/>
              <a:t>Elliptic Curve Discrete Logarithm Problem</a:t>
            </a:r>
            <a:r>
              <a:rPr lang="en-US" sz="2800" b="1"/>
              <a:t> (</a:t>
            </a:r>
            <a:r>
              <a:rPr lang="en-US" sz="2800" b="1" i="1"/>
              <a:t>ECDLP</a:t>
            </a:r>
            <a:r>
              <a:rPr lang="en-US" sz="2800" b="1"/>
              <a:t>)</a:t>
            </a:r>
          </a:p>
          <a:p>
            <a:pPr marL="342717" lvl="0" indent="-342717">
              <a:spcBef>
                <a:spcPts val="695"/>
              </a:spcBef>
            </a:pPr>
            <a:endParaRPr lang="en-US" sz="2800" b="1"/>
          </a:p>
          <a:p>
            <a:pPr marL="342717" lvl="0" indent="-342717">
              <a:spcBef>
                <a:spcPts val="65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>
                <a:solidFill>
                  <a:srgbClr val="FF0000"/>
                </a:solidFill>
              </a:rPr>
              <a:t>	</a:t>
            </a:r>
            <a:r>
              <a:rPr lang="en-US" sz="2600">
                <a:solidFill>
                  <a:srgbClr val="FF0000"/>
                </a:solidFill>
              </a:rPr>
              <a:t>Diberikan </a:t>
            </a:r>
            <a:r>
              <a:rPr lang="en-US" sz="2600" i="1">
                <a:solidFill>
                  <a:srgbClr val="FF0000"/>
                </a:solidFill>
              </a:rPr>
              <a:t>P</a:t>
            </a:r>
            <a:r>
              <a:rPr lang="en-US" sz="2600">
                <a:solidFill>
                  <a:srgbClr val="FF0000"/>
                </a:solidFill>
              </a:rPr>
              <a:t> dan </a:t>
            </a:r>
            <a:r>
              <a:rPr lang="en-US" sz="2600" i="1">
                <a:solidFill>
                  <a:srgbClr val="FF0000"/>
                </a:solidFill>
              </a:rPr>
              <a:t>Q</a:t>
            </a:r>
            <a:r>
              <a:rPr lang="en-US" sz="2600">
                <a:solidFill>
                  <a:srgbClr val="FF0000"/>
                </a:solidFill>
              </a:rPr>
              <a:t> adalah dua buah titik di kurva</a:t>
            </a:r>
          </a:p>
          <a:p>
            <a:pPr marL="342717" lvl="0" indent="-342717">
              <a:spcBef>
                <a:spcPts val="65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600">
                <a:solidFill>
                  <a:srgbClr val="FF0000"/>
                </a:solidFill>
              </a:rPr>
              <a:t>	eliptik, carilah integer </a:t>
            </a:r>
            <a:r>
              <a:rPr lang="en-US" sz="2600" i="1">
                <a:solidFill>
                  <a:srgbClr val="FF0000"/>
                </a:solidFill>
              </a:rPr>
              <a:t>n</a:t>
            </a:r>
            <a:r>
              <a:rPr lang="en-US" sz="2600">
                <a:solidFill>
                  <a:srgbClr val="FF0000"/>
                </a:solidFill>
              </a:rPr>
              <a:t> sedemikian sehingga </a:t>
            </a:r>
            <a:r>
              <a:rPr lang="en-US" sz="2600" i="1">
                <a:solidFill>
                  <a:srgbClr val="FF0000"/>
                </a:solidFill>
              </a:rPr>
              <a:t>P</a:t>
            </a:r>
            <a:r>
              <a:rPr lang="en-US" sz="2600">
                <a:solidFill>
                  <a:srgbClr val="FF0000"/>
                </a:solidFill>
              </a:rPr>
              <a:t> = </a:t>
            </a:r>
            <a:r>
              <a:rPr lang="en-US" sz="2600" i="1">
                <a:solidFill>
                  <a:srgbClr val="FF0000"/>
                </a:solidFill>
              </a:rPr>
              <a:t>n Q</a:t>
            </a:r>
          </a:p>
          <a:p>
            <a:pPr marL="342717" lvl="0" indent="-342717">
              <a:spcBef>
                <a:spcPts val="650"/>
              </a:spcBef>
            </a:pPr>
            <a:endParaRPr lang="en-US" sz="2600" i="1">
              <a:solidFill>
                <a:srgbClr val="FF0000"/>
              </a:solidFill>
            </a:endParaRPr>
          </a:p>
          <a:p>
            <a:pPr marL="342717" lvl="0" indent="-342717"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/>
              <a:t>	Algoritma yang menggunakan prinsip ini: </a:t>
            </a:r>
            <a:r>
              <a:rPr lang="en-US" sz="2800" i="1"/>
              <a:t>Elliptic Curve Cryptography </a:t>
            </a:r>
            <a:r>
              <a:rPr lang="en-US" sz="2800"/>
              <a:t>(ECC)	</a:t>
            </a:r>
          </a:p>
          <a:p>
            <a:pPr marL="342717" lvl="0" indent="-342717">
              <a:spcBef>
                <a:spcPts val="695"/>
              </a:spcBef>
            </a:pPr>
            <a:endParaRPr lang="en-US" sz="280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CCDB774-684C-FB80-DCEE-1B17991BC9BF}"/>
              </a:ext>
            </a:extLst>
          </p:cNvPr>
          <p:cNvSpPr/>
          <p:nvPr/>
        </p:nvSpPr>
        <p:spPr>
          <a:xfrm>
            <a:off x="7223760" y="5166003"/>
            <a:ext cx="2099883" cy="37800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6798" rIns="90004" bIns="46798" anchor="t" anchorCtr="0" compatLnSpc="0">
            <a:norm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5D27F0DB-F350-E138-0CCF-EF09E10932D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59997" y="881637"/>
            <a:ext cx="7756196" cy="403200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BD5D6A-314A-136F-D5DD-6FEEC0F53B6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55998" y="755641"/>
            <a:ext cx="8568001" cy="4284000"/>
          </a:xfrm>
        </p:spPr>
        <p:txBody>
          <a:bodyPr lIns="91440" tIns="45720" rIns="91440" bIns="45720">
            <a:noAutofit/>
          </a:bodyPr>
          <a:lstStyle/>
          <a:p>
            <a:pPr lvl="0" hangingPunct="1"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400"/>
              <a:t>Analogi kriptografi kunci-simetri dan kriptografi kunci-publik dengan kotak surat yang dapat dikunci dengan gembok.</a:t>
            </a:r>
          </a:p>
          <a:p>
            <a:pPr lvl="0" hangingPunct="1">
              <a:spcBef>
                <a:spcPts val="695"/>
              </a:spcBef>
              <a:buSzPct val="45000"/>
              <a:buFont typeface="StarSymbol"/>
              <a:buChar char="●"/>
            </a:pPr>
            <a:endParaRPr lang="en-US" sz="2400"/>
          </a:p>
          <a:p>
            <a:pPr lvl="0" hangingPunct="1"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400"/>
              <a:t>Kriptografi kunci-simetri: Alice dan Bob memiliki kunci gembok yang sama</a:t>
            </a:r>
          </a:p>
          <a:p>
            <a:pPr lvl="0" hangingPunct="1">
              <a:spcBef>
                <a:spcPts val="695"/>
              </a:spcBef>
              <a:buSzPct val="45000"/>
              <a:buFont typeface="StarSymbol"/>
              <a:buChar char="●"/>
            </a:pPr>
            <a:endParaRPr lang="en-US" sz="2400"/>
          </a:p>
          <a:p>
            <a:pPr lvl="0" hangingPunct="1"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400"/>
              <a:t>Kriptografi kunci-publik: Bob mengirimi Alice gembok dalam keadaan tidak terkunci (gembok = kunci publik Bob, kunci gembok = kunci privat Bob).</a:t>
            </a:r>
          </a:p>
          <a:p>
            <a:pPr lvl="0" hangingPunct="1">
              <a:spcBef>
                <a:spcPts val="695"/>
              </a:spcBef>
              <a:buSzPct val="45000"/>
              <a:buFont typeface="StarSymbol"/>
              <a:buChar char="●"/>
            </a:pPr>
            <a:endParaRPr lang="en-US" sz="2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AE37F-80FF-3C7A-37A4-5743AF0234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Permasalahan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A86F2-81BE-755A-E01C-FD06973F1C0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 algn="l" hangingPunct="1">
              <a:spcBef>
                <a:spcPts val="800"/>
              </a:spcBef>
              <a:buSzPct val="45000"/>
              <a:buFont typeface="StarSymbol"/>
              <a:buChar char="●"/>
              <a:tabLst>
                <a:tab pos="571317" algn="l"/>
                <a:tab pos="1485717" algn="l"/>
                <a:tab pos="2400117" algn="l"/>
                <a:tab pos="3314517" algn="l"/>
                <a:tab pos="4228917" algn="l"/>
                <a:tab pos="5143317" algn="l"/>
                <a:tab pos="6057717" algn="l"/>
                <a:tab pos="6972117" algn="l"/>
                <a:tab pos="7886517" algn="l"/>
                <a:tab pos="8800917" algn="l"/>
                <a:tab pos="9715317" algn="l"/>
              </a:tabLst>
            </a:pPr>
            <a:r>
              <a:rPr lang="en-US" sz="2400"/>
              <a:t>RSA didasarkan pada ‘kepercayaan’ bahwa pemfaktoran ‘sulit’</a:t>
            </a:r>
          </a:p>
          <a:p>
            <a:pPr marL="0" lvl="1" indent="0">
              <a:lnSpc>
                <a:spcPct val="100000"/>
              </a:lnSpc>
              <a:spcBef>
                <a:spcPts val="1415"/>
              </a:spcBef>
              <a:buSzPct val="75000"/>
              <a:buFont typeface="StarSymbol"/>
              <a:buChar char="–"/>
              <a:tabLst>
                <a:tab pos="571317" algn="l"/>
                <a:tab pos="1485717" algn="l"/>
                <a:tab pos="2400117" algn="l"/>
                <a:tab pos="3314517" algn="l"/>
                <a:tab pos="4228917" algn="l"/>
                <a:tab pos="5143317" algn="l"/>
                <a:tab pos="6057717" algn="l"/>
                <a:tab pos="6972117" algn="l"/>
                <a:tab pos="7886517" algn="l"/>
                <a:tab pos="8800917" algn="l"/>
                <a:tab pos="9715317" algn="l"/>
              </a:tabLst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Tidak pernah dibuktikan</a:t>
            </a:r>
          </a:p>
          <a:p>
            <a:pPr lvl="0" algn="l" hangingPunct="1">
              <a:spcBef>
                <a:spcPts val="800"/>
              </a:spcBef>
              <a:buSzPct val="45000"/>
              <a:buFont typeface="StarSymbol"/>
              <a:buChar char="●"/>
              <a:tabLst>
                <a:tab pos="571317" algn="l"/>
                <a:tab pos="1485717" algn="l"/>
                <a:tab pos="2400117" algn="l"/>
                <a:tab pos="3314517" algn="l"/>
                <a:tab pos="4228917" algn="l"/>
                <a:tab pos="5143317" algn="l"/>
                <a:tab pos="6057717" algn="l"/>
                <a:tab pos="6972117" algn="l"/>
                <a:tab pos="7886517" algn="l"/>
                <a:tab pos="8800917" algn="l"/>
                <a:tab pos="9715317" algn="l"/>
              </a:tabLst>
            </a:pPr>
            <a:r>
              <a:rPr lang="en-US" sz="2400"/>
              <a:t>Bilangan prima yang digunakan semakin besar</a:t>
            </a:r>
          </a:p>
          <a:p>
            <a:pPr lvl="0" algn="l" hangingPunct="1">
              <a:spcBef>
                <a:spcPts val="800"/>
              </a:spcBef>
              <a:buSzPct val="45000"/>
              <a:buFont typeface="StarSymbol"/>
              <a:buChar char="●"/>
              <a:tabLst>
                <a:tab pos="571317" algn="l"/>
                <a:tab pos="1485717" algn="l"/>
                <a:tab pos="2400117" algn="l"/>
                <a:tab pos="3314517" algn="l"/>
                <a:tab pos="4228917" algn="l"/>
                <a:tab pos="5143317" algn="l"/>
                <a:tab pos="6057717" algn="l"/>
                <a:tab pos="6972117" algn="l"/>
                <a:tab pos="7886517" algn="l"/>
                <a:tab pos="8800917" algn="l"/>
                <a:tab pos="9715317" algn="l"/>
              </a:tabLst>
            </a:pPr>
            <a:r>
              <a:rPr lang="en-US" sz="2400"/>
              <a:t>Banyak penelitian yang dilakukan untuk faktorisasi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Penggunaan komputasi quantum akan membuat RSA kadaluarsa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400"/>
              <a:t>Dapat digunakan </a:t>
            </a:r>
            <a:r>
              <a:rPr lang="en-US" sz="2400">
                <a:solidFill>
                  <a:srgbClr val="CE181E"/>
                </a:solidFill>
              </a:rPr>
              <a:t>elliptical curve cryptography</a:t>
            </a:r>
            <a:r>
              <a:rPr lang="en-US" sz="2400"/>
              <a:t> (ECC)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exactly is an elliptic curve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06DB-26E6-1BDF-30F7-C602D2A5104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 sz="4000"/>
              <a:t>Elliptic Curve (Kurva Eliptik)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C28FB-4C95-ED05-C4EF-A666B34992D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>
            <a:noAutofit/>
          </a:bodyPr>
          <a:lstStyle/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 sz="2800"/>
              <a:t>Jika diketahui a </a:t>
            </a:r>
            <a:r>
              <a:rPr lang="en-US" sz="2800">
                <a:latin typeface="Arial Unicode MS" pitchFamily="34"/>
              </a:rPr>
              <a:t>∈</a:t>
            </a:r>
            <a:r>
              <a:rPr lang="en-US" sz="2800"/>
              <a:t></a:t>
            </a:r>
            <a:r>
              <a:rPr lang="en-US" sz="2800">
                <a:latin typeface="Arial Unicode MS" pitchFamily="34"/>
              </a:rPr>
              <a:t>ℝ</a:t>
            </a:r>
            <a:r>
              <a:rPr lang="en-US" sz="2800"/>
              <a:t>,b </a:t>
            </a:r>
            <a:r>
              <a:rPr lang="en-US" sz="2800">
                <a:latin typeface="Arial Unicode MS" pitchFamily="34"/>
              </a:rPr>
              <a:t>∈</a:t>
            </a:r>
            <a:r>
              <a:rPr lang="en-US" sz="2800"/>
              <a:t></a:t>
            </a:r>
            <a:r>
              <a:rPr lang="en-US" sz="2800">
                <a:latin typeface="Arial Unicode MS" pitchFamily="34"/>
              </a:rPr>
              <a:t>ℝ</a:t>
            </a:r>
            <a:r>
              <a:rPr lang="en-US" sz="2800"/>
              <a:t>, konstan sehingga</a:t>
            </a:r>
          </a:p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 sz="2800"/>
              <a:t>    4a³ + 27b² </a:t>
            </a:r>
            <a:r>
              <a:rPr lang="en-US" sz="2800">
                <a:latin typeface="Arial Unicode MS" pitchFamily="34"/>
              </a:rPr>
              <a:t>≠</a:t>
            </a:r>
            <a:r>
              <a:rPr lang="en-US" sz="2800"/>
              <a:t> 0.</a:t>
            </a:r>
          </a:p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 sz="2800" i="1"/>
              <a:t>Non-singular elliptic curve </a:t>
            </a:r>
            <a:r>
              <a:rPr lang="en-US" sz="2800"/>
              <a:t>adalah set </a:t>
            </a:r>
            <a:r>
              <a:rPr lang="en-US" sz="2800" i="1"/>
              <a:t>E</a:t>
            </a:r>
            <a:r>
              <a:rPr lang="en-US" sz="2800"/>
              <a:t> dari solusi (x,y) </a:t>
            </a:r>
            <a:r>
              <a:rPr lang="en-US" sz="2800">
                <a:latin typeface="Arial Unicode MS" pitchFamily="34"/>
              </a:rPr>
              <a:t>∈</a:t>
            </a:r>
            <a:r>
              <a:rPr lang="en-US" sz="2800"/>
              <a:t></a:t>
            </a:r>
            <a:r>
              <a:rPr lang="en-US" sz="2800">
                <a:latin typeface="Arial Unicode MS" pitchFamily="34"/>
              </a:rPr>
              <a:t>ℝ x ℝ </a:t>
            </a:r>
            <a:r>
              <a:rPr lang="en-US" sz="2800">
                <a:latin typeface="Liberation Sans" pitchFamily="34"/>
              </a:rPr>
              <a:t>terhadap persamaan</a:t>
            </a:r>
            <a:r>
              <a:rPr lang="en-US" sz="2800">
                <a:latin typeface="Arial Unicode MS" pitchFamily="34"/>
              </a:rPr>
              <a:t>:</a:t>
            </a:r>
          </a:p>
          <a:p>
            <a:pPr marL="342717" lvl="0" indent="-342717">
              <a:lnSpc>
                <a:spcPct val="9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/>
              <a:t>     		y² = x³ + ax + b</a:t>
            </a:r>
          </a:p>
          <a:p>
            <a:pPr marL="342717" lvl="0" indent="-342717">
              <a:lnSpc>
                <a:spcPct val="90000"/>
              </a:lnSpc>
              <a:spcBef>
                <a:spcPts val="800"/>
              </a:spcBef>
            </a:pPr>
            <a:endParaRPr lang="en-US" sz="2800"/>
          </a:p>
          <a:p>
            <a:pPr marL="342717" lvl="0" indent="-342717">
              <a:lnSpc>
                <a:spcPct val="90000"/>
              </a:lnSpc>
              <a:spcBef>
                <a:spcPts val="800"/>
              </a:spcBef>
            </a:pPr>
            <a:r>
              <a:rPr lang="en-US" sz="2800"/>
              <a:t>   bersama dengan titik spesial </a:t>
            </a:r>
            <a:r>
              <a:rPr lang="en-US" sz="2800" i="1"/>
              <a:t>O disebut point at infinity</a:t>
            </a:r>
            <a:r>
              <a:rPr lang="en-US" sz="2800"/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ingular Elliptic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15C9-B9D6-B74A-0BDC-774BD2104C4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Singular Elliptic Curve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F28F6-33CD-F09E-ED50-770560DB623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800"/>
              <a:t>Jika diketahui 4a³ + 27b² </a:t>
            </a:r>
            <a:r>
              <a:rPr lang="en-US" sz="2800">
                <a:latin typeface="Arial Unicode MS" pitchFamily="34"/>
              </a:rPr>
              <a:t>=</a:t>
            </a:r>
            <a:r>
              <a:rPr lang="en-US" sz="2800"/>
              <a:t> 0, didapatkan </a:t>
            </a:r>
            <a:r>
              <a:rPr lang="en-US" sz="2800" i="1"/>
              <a:t>singular elliptic curve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800"/>
              <a:t>Dapat berdampak pada tidak dihasilkan 3 akar berbeda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800"/>
              <a:t>Sehingga perlu digunakan non-singular elliptic curve dengan kondisi 4a³ + 27b² </a:t>
            </a:r>
            <a:r>
              <a:rPr lang="en-US" sz="2800">
                <a:latin typeface="Arial Unicode MS" pitchFamily="34"/>
              </a:rPr>
              <a:t>≠</a:t>
            </a:r>
            <a:r>
              <a:rPr lang="en-US" sz="2800"/>
              <a:t> 0 untuk memastikan bahwa didapatkan 3 akar berbeda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800"/>
              <a:t>Memungkinkan untuk menentukan set solusi E sebagai sebuah grup Abelian.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 Group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00514-2295-0E86-70DE-2C3427F3B2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Group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A9EDD-6D7B-87AB-EBFB-AD292CDCAE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lnSpc>
                <a:spcPct val="70000"/>
              </a:lnSpc>
              <a:spcBef>
                <a:spcPts val="500"/>
              </a:spcBef>
              <a:buSzPct val="45000"/>
              <a:buFont typeface="StarSymbol"/>
              <a:buChar char="●"/>
            </a:pPr>
            <a:r>
              <a:rPr lang="en-US" sz="2000"/>
              <a:t>Jika dimiliki sebuah operasi biner, misalnya penjumlahan (+), yang ditentukan untuk setiap anggota pada set </a:t>
            </a:r>
            <a:r>
              <a:rPr lang="en-US" sz="2000" i="1"/>
              <a:t>G, </a:t>
            </a:r>
            <a:r>
              <a:rPr lang="en-US" sz="2000"/>
              <a:t>yang dinotasikan dengan </a:t>
            </a:r>
            <a:r>
              <a:rPr lang="en-US" sz="2000" i="1"/>
              <a:t>(G,</a:t>
            </a:r>
            <a:r>
              <a:rPr lang="en-US" sz="2000"/>
              <a:t> +)</a:t>
            </a:r>
          </a:p>
          <a:p>
            <a:pPr lvl="0">
              <a:lnSpc>
                <a:spcPct val="70000"/>
              </a:lnSpc>
              <a:spcBef>
                <a:spcPts val="500"/>
              </a:spcBef>
              <a:buSzPct val="45000"/>
              <a:buFont typeface="StarSymbol"/>
              <a:buChar char="●"/>
            </a:pPr>
            <a:r>
              <a:rPr lang="en-US" sz="2000" i="1"/>
              <a:t>G</a:t>
            </a:r>
            <a:r>
              <a:rPr lang="en-US" sz="2000"/>
              <a:t> adalah sebuah </a:t>
            </a:r>
            <a:r>
              <a:rPr lang="en-US" sz="2000" i="1"/>
              <a:t>group</a:t>
            </a:r>
            <a:r>
              <a:rPr lang="en-US" sz="2000"/>
              <a:t> untuk penjumlahan jika kondisi di bawah terpenuhi:</a:t>
            </a:r>
          </a:p>
          <a:p>
            <a:pPr marL="609484" lvl="0" indent="-609484">
              <a:lnSpc>
                <a:spcPct val="70000"/>
              </a:lnSpc>
              <a:spcBef>
                <a:spcPts val="500"/>
              </a:spcBef>
            </a:pPr>
            <a:r>
              <a:rPr lang="en-US" sz="2000"/>
              <a:t>     1.) </a:t>
            </a:r>
            <a:r>
              <a:rPr lang="en-US" sz="2000" b="1" i="1"/>
              <a:t>G</a:t>
            </a:r>
            <a:r>
              <a:rPr lang="en-US" sz="2000" b="1"/>
              <a:t> is </a:t>
            </a:r>
            <a:r>
              <a:rPr lang="en-US" sz="2000" b="1" i="1"/>
              <a:t>closed</a:t>
            </a:r>
            <a:r>
              <a:rPr lang="en-US" sz="2000" b="1"/>
              <a:t> under addition</a:t>
            </a:r>
            <a:r>
              <a:rPr lang="en-US" sz="2000"/>
              <a:t>: x </a:t>
            </a:r>
            <a:r>
              <a:rPr lang="en-US" sz="2000">
                <a:latin typeface="Arial Unicode MS" pitchFamily="34"/>
              </a:rPr>
              <a:t>∈</a:t>
            </a:r>
            <a:r>
              <a:rPr lang="en-US" sz="2000"/>
              <a:t></a:t>
            </a:r>
            <a:r>
              <a:rPr lang="en-US" sz="2000" i="1"/>
              <a:t>G</a:t>
            </a:r>
            <a:r>
              <a:rPr lang="en-US" sz="2000"/>
              <a:t>, y </a:t>
            </a:r>
            <a:r>
              <a:rPr lang="en-US" sz="2000">
                <a:latin typeface="Arial Unicode MS" pitchFamily="34"/>
              </a:rPr>
              <a:t>∈</a:t>
            </a:r>
            <a:r>
              <a:rPr lang="en-US" sz="2000"/>
              <a:t></a:t>
            </a:r>
            <a:r>
              <a:rPr lang="en-US" sz="2000" i="1"/>
              <a:t>G</a:t>
            </a:r>
            <a:r>
              <a:rPr lang="en-US" sz="2000"/>
              <a:t>,</a:t>
            </a:r>
          </a:p>
          <a:p>
            <a:pPr marL="609484" lvl="0" indent="-609484">
              <a:lnSpc>
                <a:spcPct val="70000"/>
              </a:lnSpc>
              <a:spcBef>
                <a:spcPts val="500"/>
              </a:spcBef>
            </a:pPr>
            <a:r>
              <a:rPr lang="en-US" sz="2000"/>
              <a:t>         imply x + y </a:t>
            </a:r>
            <a:r>
              <a:rPr lang="en-US" sz="2000">
                <a:latin typeface="Arial Unicode MS" pitchFamily="34"/>
              </a:rPr>
              <a:t>∈</a:t>
            </a:r>
            <a:r>
              <a:rPr lang="en-US" sz="2000"/>
              <a:t></a:t>
            </a:r>
            <a:r>
              <a:rPr lang="en-US" sz="2000" i="1"/>
              <a:t>G</a:t>
            </a:r>
          </a:p>
          <a:p>
            <a:pPr marL="609484" lvl="0" indent="-609484">
              <a:lnSpc>
                <a:spcPct val="70000"/>
              </a:lnSpc>
              <a:spcBef>
                <a:spcPts val="500"/>
              </a:spcBef>
            </a:pPr>
            <a:r>
              <a:rPr lang="en-US" sz="2000" i="1"/>
              <a:t>     2.) </a:t>
            </a:r>
            <a:r>
              <a:rPr lang="en-US" sz="2000" b="1"/>
              <a:t>+ is associative</a:t>
            </a:r>
            <a:r>
              <a:rPr lang="en-US" sz="2000"/>
              <a:t>. Untuk seluruh x, y, z, </a:t>
            </a:r>
            <a:r>
              <a:rPr lang="en-US" sz="2000">
                <a:latin typeface="Arial Unicode MS" pitchFamily="34"/>
              </a:rPr>
              <a:t>∈</a:t>
            </a:r>
            <a:r>
              <a:rPr lang="en-US" sz="2000"/>
              <a:t></a:t>
            </a:r>
            <a:r>
              <a:rPr lang="en-US" sz="2000" i="1"/>
              <a:t>G</a:t>
            </a:r>
            <a:r>
              <a:rPr lang="en-US" sz="2000"/>
              <a:t>,</a:t>
            </a:r>
          </a:p>
          <a:p>
            <a:pPr marL="609484" lvl="1" indent="-609484" hangingPunct="0">
              <a:lnSpc>
                <a:spcPct val="70000"/>
              </a:lnSpc>
              <a:spcBef>
                <a:spcPts val="1415"/>
              </a:spcBef>
              <a:buClr>
                <a:srgbClr val="FFFFFF"/>
              </a:buClr>
              <a:buFont typeface="Tahoma" pitchFamily="34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x + (y + z) = (x + y) + z</a:t>
            </a:r>
          </a:p>
          <a:p>
            <a:pPr marL="609484" lvl="0" indent="-609484">
              <a:lnSpc>
                <a:spcPct val="70000"/>
              </a:lnSpc>
              <a:spcBef>
                <a:spcPts val="500"/>
              </a:spcBef>
            </a:pPr>
            <a:r>
              <a:rPr lang="en-US" sz="2000"/>
              <a:t>     3.) </a:t>
            </a:r>
            <a:r>
              <a:rPr lang="en-US" sz="2000" b="1" i="1"/>
              <a:t>G </a:t>
            </a:r>
            <a:r>
              <a:rPr lang="en-US" sz="2000" b="1"/>
              <a:t>has an identity element </a:t>
            </a:r>
            <a:r>
              <a:rPr lang="en-US" sz="2000" b="1" i="1"/>
              <a:t>e</a:t>
            </a:r>
            <a:r>
              <a:rPr lang="en-US" sz="2000"/>
              <a:t>.  Terdapat </a:t>
            </a:r>
            <a:r>
              <a:rPr lang="en-US" sz="2000" i="1"/>
              <a:t>e</a:t>
            </a:r>
            <a:r>
              <a:rPr lang="en-US" sz="2000"/>
              <a:t> pada </a:t>
            </a:r>
            <a:r>
              <a:rPr lang="en-US" sz="2000" i="1"/>
              <a:t>G</a:t>
            </a:r>
            <a:r>
              <a:rPr lang="en-US" sz="2000"/>
              <a:t> sehingga</a:t>
            </a:r>
          </a:p>
          <a:p>
            <a:pPr marL="609484" lvl="1" indent="-609484" hangingPunct="0">
              <a:lnSpc>
                <a:spcPct val="70000"/>
              </a:lnSpc>
              <a:spcBef>
                <a:spcPts val="1415"/>
              </a:spcBef>
              <a:buClr>
                <a:srgbClr val="FFFFFF"/>
              </a:buClr>
              <a:buFont typeface="Tahoma" pitchFamily="34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x + </a:t>
            </a:r>
            <a:r>
              <a:rPr lang="en-US" sz="20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 = e </a:t>
            </a: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+ x = x untuk seluruh x </a:t>
            </a: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Arial Unicode MS" pitchFamily="34"/>
              </a:rPr>
              <a:t>∈</a:t>
            </a:r>
            <a:r>
              <a:rPr lang="en-US" sz="2000">
                <a:highlight>
                  <a:scrgbClr r="0" g="0" b="0">
                    <a:alpha val="0"/>
                  </a:scrgbClr>
                </a:highlight>
              </a:rPr>
              <a:t></a:t>
            </a:r>
            <a:r>
              <a:rPr lang="en-US" sz="20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G</a:t>
            </a: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  <a:p>
            <a:pPr marL="609484" lvl="0" indent="-609484">
              <a:lnSpc>
                <a:spcPct val="70000"/>
              </a:lnSpc>
              <a:spcBef>
                <a:spcPts val="500"/>
              </a:spcBef>
            </a:pPr>
            <a:r>
              <a:rPr lang="en-US" sz="2000"/>
              <a:t>     4.) </a:t>
            </a:r>
            <a:r>
              <a:rPr lang="en-US" sz="2000" b="1" i="1"/>
              <a:t>G </a:t>
            </a:r>
            <a:r>
              <a:rPr lang="en-US" sz="2000" b="1"/>
              <a:t>contains inverses</a:t>
            </a:r>
            <a:r>
              <a:rPr lang="en-US" sz="2000"/>
              <a:t>.  Untuk setiap x </a:t>
            </a:r>
            <a:r>
              <a:rPr lang="en-US" sz="2000">
                <a:latin typeface="Arial Unicode MS" pitchFamily="34"/>
              </a:rPr>
              <a:t>∈</a:t>
            </a:r>
            <a:r>
              <a:rPr lang="en-US" sz="2000"/>
              <a:t></a:t>
            </a:r>
            <a:r>
              <a:rPr lang="en-US" sz="2000" i="1"/>
              <a:t>G</a:t>
            </a:r>
            <a:r>
              <a:rPr lang="en-US" sz="2000"/>
              <a:t>, terdapat y </a:t>
            </a:r>
            <a:r>
              <a:rPr lang="en-US" sz="2000">
                <a:latin typeface="Arial Unicode MS" pitchFamily="34"/>
              </a:rPr>
              <a:t>∈</a:t>
            </a:r>
            <a:r>
              <a:rPr lang="en-US" sz="2000"/>
              <a:t></a:t>
            </a:r>
            <a:r>
              <a:rPr lang="en-US" sz="2000" i="1"/>
              <a:t>G</a:t>
            </a:r>
            <a:r>
              <a:rPr lang="en-US" sz="2000"/>
              <a:t>, sehingga</a:t>
            </a:r>
          </a:p>
          <a:p>
            <a:pPr marL="609484" lvl="1" indent="-609484" hangingPunct="0">
              <a:lnSpc>
                <a:spcPct val="70000"/>
              </a:lnSpc>
              <a:spcBef>
                <a:spcPts val="1415"/>
              </a:spcBef>
              <a:buClr>
                <a:srgbClr val="FFFFFF"/>
              </a:buClr>
              <a:buFont typeface="Tahoma" pitchFamily="34"/>
              <a:buChar char="–"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x + y = y + x = </a:t>
            </a:r>
            <a:r>
              <a:rPr lang="en-US" sz="20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</a:t>
            </a: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  <a:p>
            <a:pPr lvl="0">
              <a:lnSpc>
                <a:spcPct val="70000"/>
              </a:lnSpc>
              <a:spcBef>
                <a:spcPts val="500"/>
              </a:spcBef>
            </a:pPr>
            <a:endParaRPr lang="en-US" sz="20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n Abelian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766F-081B-2CA9-0715-A81B4873AD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Grup Abelian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069BB-D146-A634-CFBD-DA9499948F0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/>
              <a:t>Grup Abelian memenuhi seluruh persyaratan dari grup, terapi juga harus memenuhi:</a:t>
            </a:r>
          </a:p>
          <a:p>
            <a:pPr marL="342717" lvl="0" indent="-342717">
              <a:spcBef>
                <a:spcPts val="800"/>
              </a:spcBef>
            </a:pPr>
            <a:endParaRPr lang="en-US"/>
          </a:p>
          <a:p>
            <a:pPr marL="342717" lvl="0" indent="-342717"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/>
              <a:t>	5.) </a:t>
            </a:r>
            <a:r>
              <a:rPr lang="en-US" b="1"/>
              <a:t>+ is commutative</a:t>
            </a:r>
            <a:r>
              <a:rPr lang="en-US"/>
              <a:t>. Untuk seluruh x </a:t>
            </a:r>
            <a:r>
              <a:rPr lang="en-US">
                <a:latin typeface="Arial Unicode MS" pitchFamily="34"/>
              </a:rPr>
              <a:t>∈</a:t>
            </a:r>
            <a:r>
              <a:rPr lang="en-US"/>
              <a:t></a:t>
            </a:r>
            <a:r>
              <a:rPr lang="en-US" i="1"/>
              <a:t>G</a:t>
            </a:r>
            <a:r>
              <a:rPr lang="en-US"/>
              <a:t>, y </a:t>
            </a:r>
            <a:r>
              <a:rPr lang="en-US">
                <a:latin typeface="Arial Unicode MS" pitchFamily="34"/>
              </a:rPr>
              <a:t>∈</a:t>
            </a:r>
            <a:r>
              <a:rPr lang="en-US"/>
              <a:t></a:t>
            </a:r>
            <a:r>
              <a:rPr lang="en-US" i="1"/>
              <a:t>G</a:t>
            </a:r>
            <a:r>
              <a:rPr lang="en-US"/>
              <a:t>, x + y = y + x.</a:t>
            </a:r>
          </a:p>
          <a:p>
            <a:pPr marL="342717" lvl="0" indent="-342717">
              <a:spcBef>
                <a:spcPts val="800"/>
              </a:spcBef>
            </a:pPr>
            <a:endParaRPr lang="en-US"/>
          </a:p>
          <a:p>
            <a:pPr marL="342717" lvl="0" indent="-342717">
              <a:spcBef>
                <a:spcPts val="800"/>
              </a:spcBef>
            </a:pPr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3 Cases for Sol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C113E-3591-9B85-886A-4FAACE44C6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3 Cases for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64B16-045E-EBC3-9083-5C408135FCA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>
            <a:noAutofit/>
          </a:bodyPr>
          <a:lstStyle/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 sz="2800"/>
              <a:t>Suppose P, Q </a:t>
            </a:r>
            <a:r>
              <a:rPr lang="en-US" sz="2800">
                <a:latin typeface="Arial Unicode MS" pitchFamily="34"/>
              </a:rPr>
              <a:t>∈</a:t>
            </a:r>
            <a:r>
              <a:rPr lang="en-US" sz="2800"/>
              <a:t></a:t>
            </a:r>
            <a:r>
              <a:rPr lang="en-US" sz="2800" i="1"/>
              <a:t>E</a:t>
            </a:r>
            <a:r>
              <a:rPr lang="en-US" sz="2800"/>
              <a:t>, where P = (x</a:t>
            </a:r>
            <a:r>
              <a:rPr lang="en-US" sz="2800" baseline="-25000"/>
              <a:t>1</a:t>
            </a:r>
            <a:r>
              <a:rPr lang="en-US" sz="2800"/>
              <a:t>,y</a:t>
            </a:r>
            <a:r>
              <a:rPr lang="en-US" sz="2800" baseline="-25000"/>
              <a:t>1</a:t>
            </a:r>
            <a:r>
              <a:rPr lang="en-US" sz="2800"/>
              <a:t>) and Q = (x</a:t>
            </a:r>
            <a:r>
              <a:rPr lang="en-US" sz="2800" baseline="-25000"/>
              <a:t>2</a:t>
            </a:r>
            <a:r>
              <a:rPr lang="en-US" sz="2800"/>
              <a:t>,y</a:t>
            </a:r>
            <a:r>
              <a:rPr lang="en-US" sz="2800" baseline="-25000"/>
              <a:t>2</a:t>
            </a:r>
            <a:r>
              <a:rPr lang="en-US" sz="2800"/>
              <a:t>)</a:t>
            </a:r>
            <a:r>
              <a:rPr lang="en-US"/>
              <a:t>, </a:t>
            </a:r>
            <a:r>
              <a:rPr lang="en-US" sz="2800"/>
              <a:t>we must consider three cases:</a:t>
            </a:r>
          </a:p>
          <a:p>
            <a:pPr marL="342717" lvl="0" indent="-342717">
              <a:lnSpc>
                <a:spcPct val="9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/>
              <a:t>	1.) </a:t>
            </a:r>
            <a:r>
              <a:rPr lang="en-US" sz="2800"/>
              <a:t>x</a:t>
            </a:r>
            <a:r>
              <a:rPr lang="en-US" sz="2800" baseline="-25000"/>
              <a:t>1 </a:t>
            </a:r>
            <a:r>
              <a:rPr lang="en-US" sz="2800">
                <a:latin typeface="Arial Unicode MS" pitchFamily="34"/>
              </a:rPr>
              <a:t>≠ </a:t>
            </a:r>
            <a:r>
              <a:rPr lang="en-US" sz="2800"/>
              <a:t>x</a:t>
            </a:r>
            <a:r>
              <a:rPr lang="en-US" sz="2800" baseline="-25000"/>
              <a:t>2</a:t>
            </a:r>
          </a:p>
          <a:p>
            <a:pPr marL="342717" lvl="0" indent="-342717">
              <a:lnSpc>
                <a:spcPct val="9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 baseline="-25000"/>
              <a:t>	</a:t>
            </a:r>
            <a:r>
              <a:rPr lang="en-US"/>
              <a:t>2.) </a:t>
            </a:r>
            <a:r>
              <a:rPr lang="en-US" sz="2800"/>
              <a:t>x</a:t>
            </a:r>
            <a:r>
              <a:rPr lang="en-US" sz="2800" baseline="-25000"/>
              <a:t>1 </a:t>
            </a:r>
            <a:r>
              <a:rPr lang="en-US" sz="2800">
                <a:latin typeface="Arial Unicode MS" pitchFamily="34"/>
              </a:rPr>
              <a:t>= </a:t>
            </a:r>
            <a:r>
              <a:rPr lang="en-US" sz="2800"/>
              <a:t>x</a:t>
            </a:r>
            <a:r>
              <a:rPr lang="en-US" sz="2800" baseline="-25000"/>
              <a:t>2</a:t>
            </a:r>
            <a:r>
              <a:rPr lang="en-US" sz="2800"/>
              <a:t> and y</a:t>
            </a:r>
            <a:r>
              <a:rPr lang="en-US" sz="2800" baseline="-25000"/>
              <a:t>1</a:t>
            </a:r>
            <a:r>
              <a:rPr lang="en-US" sz="2800"/>
              <a:t> = - y</a:t>
            </a:r>
            <a:r>
              <a:rPr lang="en-US" sz="2800" baseline="-25000"/>
              <a:t>2 </a:t>
            </a:r>
            <a:r>
              <a:rPr lang="en-US" sz="2800"/>
              <a:t> </a:t>
            </a:r>
          </a:p>
          <a:p>
            <a:pPr marL="342717" lvl="0" indent="-342717">
              <a:lnSpc>
                <a:spcPct val="9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 baseline="-25000"/>
              <a:t>	</a:t>
            </a:r>
            <a:r>
              <a:rPr lang="en-US" sz="2800"/>
              <a:t>3.) x</a:t>
            </a:r>
            <a:r>
              <a:rPr lang="en-US" sz="2800" baseline="-25000"/>
              <a:t>1 </a:t>
            </a:r>
            <a:r>
              <a:rPr lang="en-US" sz="2800">
                <a:latin typeface="Arial Unicode MS" pitchFamily="34"/>
              </a:rPr>
              <a:t>= </a:t>
            </a:r>
            <a:r>
              <a:rPr lang="en-US" sz="2800"/>
              <a:t>x</a:t>
            </a:r>
            <a:r>
              <a:rPr lang="en-US" sz="2800" baseline="-25000"/>
              <a:t>2</a:t>
            </a:r>
            <a:r>
              <a:rPr lang="en-US" sz="2800"/>
              <a:t> and y</a:t>
            </a:r>
            <a:r>
              <a:rPr lang="en-US" sz="2800" baseline="-25000"/>
              <a:t>1</a:t>
            </a:r>
            <a:r>
              <a:rPr lang="en-US" sz="2800"/>
              <a:t> =  y</a:t>
            </a:r>
            <a:r>
              <a:rPr lang="en-US" sz="2800" baseline="-25000"/>
              <a:t>2</a:t>
            </a:r>
          </a:p>
          <a:p>
            <a:pPr marL="342717" lvl="0" indent="-342717">
              <a:lnSpc>
                <a:spcPct val="90000"/>
              </a:lnSpc>
              <a:spcBef>
                <a:spcPts val="800"/>
              </a:spcBef>
            </a:pPr>
            <a:endParaRPr lang="en-US" sz="2800" baseline="-25000"/>
          </a:p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 sz="2800"/>
              <a:t>These cases must be considered when defining “addition” for our solution set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fining Addition on E: Ca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0FC3-6C67-162A-B402-5BA47AFD9A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Defining Addition on </a:t>
            </a:r>
            <a:r>
              <a:rPr lang="en-US" i="1"/>
              <a:t>E</a:t>
            </a:r>
            <a:r>
              <a:rPr lang="en-US"/>
              <a:t>: Case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AF29-5C81-EB1D-CC4B-001D117AB0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marL="342717" lvl="0" indent="-342717">
              <a:lnSpc>
                <a:spcPct val="70000"/>
              </a:lnSpc>
              <a:spcBef>
                <a:spcPts val="695"/>
              </a:spcBef>
            </a:pPr>
            <a:r>
              <a:rPr lang="en-US" sz="2800"/>
              <a:t>For the case x</a:t>
            </a:r>
            <a:r>
              <a:rPr lang="en-US" sz="2800" baseline="-25000"/>
              <a:t>1 </a:t>
            </a:r>
            <a:r>
              <a:rPr lang="en-US" sz="2800">
                <a:latin typeface="Arial Unicode MS" pitchFamily="34"/>
              </a:rPr>
              <a:t>≠ </a:t>
            </a:r>
            <a:r>
              <a:rPr lang="en-US" sz="2800"/>
              <a:t>x</a:t>
            </a:r>
            <a:r>
              <a:rPr lang="en-US" sz="2800" baseline="-25000"/>
              <a:t>2</a:t>
            </a:r>
            <a:r>
              <a:rPr lang="en-US" sz="2800"/>
              <a:t>, addition is defined as follows:</a:t>
            </a:r>
          </a:p>
          <a:p>
            <a:pPr marL="342717" lvl="0" indent="-342717">
              <a:lnSpc>
                <a:spcPct val="70000"/>
              </a:lnSpc>
              <a:spcBef>
                <a:spcPts val="695"/>
              </a:spcBef>
            </a:pPr>
            <a:endParaRPr lang="en-US" sz="2800"/>
          </a:p>
          <a:p>
            <a:pPr marL="342717" lvl="0" indent="-342717">
              <a:lnSpc>
                <a:spcPct val="70000"/>
              </a:lnSpc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/>
              <a:t>	(x</a:t>
            </a:r>
            <a:r>
              <a:rPr lang="en-US" sz="2800" baseline="-25000"/>
              <a:t>1</a:t>
            </a:r>
            <a:r>
              <a:rPr lang="en-US" sz="2800"/>
              <a:t>,y</a:t>
            </a:r>
            <a:r>
              <a:rPr lang="en-US" sz="2800" baseline="-25000"/>
              <a:t>1</a:t>
            </a:r>
            <a:r>
              <a:rPr lang="en-US" sz="2800"/>
              <a:t>) + (x</a:t>
            </a:r>
            <a:r>
              <a:rPr lang="en-US" sz="2800" baseline="-25000"/>
              <a:t>2</a:t>
            </a:r>
            <a:r>
              <a:rPr lang="en-US" sz="2800"/>
              <a:t>,y</a:t>
            </a:r>
            <a:r>
              <a:rPr lang="en-US" sz="2800" baseline="-25000"/>
              <a:t>2</a:t>
            </a:r>
            <a:r>
              <a:rPr lang="en-US" sz="2800"/>
              <a:t>) = (x</a:t>
            </a:r>
            <a:r>
              <a:rPr lang="en-US" sz="2800" baseline="-25000"/>
              <a:t>3</a:t>
            </a:r>
            <a:r>
              <a:rPr lang="en-US" sz="2800"/>
              <a:t>,y</a:t>
            </a:r>
            <a:r>
              <a:rPr lang="en-US" sz="2800" baseline="-25000"/>
              <a:t>3</a:t>
            </a:r>
            <a:r>
              <a:rPr lang="en-US" sz="2800"/>
              <a:t>) </a:t>
            </a:r>
            <a:r>
              <a:rPr lang="en-US" sz="2800">
                <a:latin typeface="Arial Unicode MS" pitchFamily="34"/>
              </a:rPr>
              <a:t>∈</a:t>
            </a:r>
            <a:r>
              <a:rPr lang="en-US" sz="2800"/>
              <a:t></a:t>
            </a:r>
            <a:r>
              <a:rPr lang="en-US" sz="2800" i="1"/>
              <a:t>E</a:t>
            </a:r>
            <a:r>
              <a:rPr lang="en-US" sz="2800"/>
              <a:t> where</a:t>
            </a:r>
          </a:p>
          <a:p>
            <a:pPr marL="342717" lvl="0" indent="-342717">
              <a:lnSpc>
                <a:spcPct val="70000"/>
              </a:lnSpc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/>
              <a:t>	</a:t>
            </a:r>
          </a:p>
          <a:p>
            <a:pPr marL="342717" lvl="0" indent="-342717">
              <a:lnSpc>
                <a:spcPct val="70000"/>
              </a:lnSpc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/>
              <a:t>		 x</a:t>
            </a:r>
            <a:r>
              <a:rPr lang="en-US" sz="2800" baseline="-25000"/>
              <a:t>3 </a:t>
            </a:r>
            <a:r>
              <a:rPr lang="en-US" sz="2800"/>
              <a:t>= </a:t>
            </a:r>
            <a:r>
              <a:rPr lang="el-GR" sz="2800">
                <a:cs typeface="Arial" pitchFamily="34"/>
              </a:rPr>
              <a:t>λ</a:t>
            </a:r>
            <a:r>
              <a:rPr lang="en-US" sz="2800">
                <a:cs typeface="Arial" pitchFamily="34"/>
              </a:rPr>
              <a:t>² - </a:t>
            </a:r>
            <a:r>
              <a:rPr lang="en-US" sz="2800"/>
              <a:t>x</a:t>
            </a:r>
            <a:r>
              <a:rPr lang="en-US" sz="2800" baseline="-25000"/>
              <a:t>1 </a:t>
            </a:r>
            <a:r>
              <a:rPr lang="en-US" sz="2800"/>
              <a:t>- x</a:t>
            </a:r>
            <a:r>
              <a:rPr lang="en-US" sz="2800" baseline="-25000"/>
              <a:t>2</a:t>
            </a:r>
          </a:p>
          <a:p>
            <a:pPr marL="342717" lvl="0" indent="-342717">
              <a:lnSpc>
                <a:spcPct val="70000"/>
              </a:lnSpc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/>
              <a:t>		 y</a:t>
            </a:r>
            <a:r>
              <a:rPr lang="en-US" sz="2800" baseline="-25000"/>
              <a:t>3 </a:t>
            </a:r>
            <a:r>
              <a:rPr lang="en-US" sz="2800"/>
              <a:t>= </a:t>
            </a:r>
            <a:r>
              <a:rPr lang="el-GR" sz="2800">
                <a:cs typeface="Arial" pitchFamily="34"/>
              </a:rPr>
              <a:t>λ</a:t>
            </a:r>
            <a:r>
              <a:rPr lang="en-US" sz="2800">
                <a:cs typeface="Arial" pitchFamily="34"/>
              </a:rPr>
              <a:t>(</a:t>
            </a:r>
            <a:r>
              <a:rPr lang="en-US" sz="2800"/>
              <a:t>x</a:t>
            </a:r>
            <a:r>
              <a:rPr lang="en-US" sz="2800" baseline="-25000"/>
              <a:t>1 </a:t>
            </a:r>
            <a:r>
              <a:rPr lang="en-US" sz="2800"/>
              <a:t>– x</a:t>
            </a:r>
            <a:r>
              <a:rPr lang="en-US" sz="2800" baseline="-25000"/>
              <a:t>3</a:t>
            </a:r>
            <a:r>
              <a:rPr lang="en-US" sz="2800"/>
              <a:t>) - y</a:t>
            </a:r>
            <a:r>
              <a:rPr lang="en-US" sz="2800" baseline="-25000"/>
              <a:t>1</a:t>
            </a:r>
            <a:r>
              <a:rPr lang="en-US" sz="2800"/>
              <a:t>, and</a:t>
            </a:r>
          </a:p>
          <a:p>
            <a:pPr marL="342717" lvl="0" indent="-342717">
              <a:lnSpc>
                <a:spcPct val="70000"/>
              </a:lnSpc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800">
                <a:cs typeface="Arial" pitchFamily="34"/>
              </a:rPr>
              <a:t>		  </a:t>
            </a:r>
            <a:r>
              <a:rPr lang="el-GR" sz="2800">
                <a:cs typeface="Arial" pitchFamily="34"/>
              </a:rPr>
              <a:t>λ</a:t>
            </a:r>
            <a:r>
              <a:rPr lang="en-US" sz="2800">
                <a:cs typeface="Arial" pitchFamily="34"/>
              </a:rPr>
              <a:t> = (y</a:t>
            </a:r>
            <a:r>
              <a:rPr lang="en-US" sz="2800" baseline="-25000">
                <a:cs typeface="Arial" pitchFamily="34"/>
              </a:rPr>
              <a:t>2</a:t>
            </a:r>
            <a:r>
              <a:rPr lang="en-US" sz="2800" baseline="-25000"/>
              <a:t> </a:t>
            </a:r>
            <a:r>
              <a:rPr lang="en-US" sz="2800"/>
              <a:t>– y</a:t>
            </a:r>
            <a:r>
              <a:rPr lang="en-US" sz="2800" baseline="-25000"/>
              <a:t>1</a:t>
            </a:r>
            <a:r>
              <a:rPr lang="en-US" sz="2800"/>
              <a:t>) / </a:t>
            </a:r>
            <a:r>
              <a:rPr lang="en-US" sz="2800">
                <a:cs typeface="Arial" pitchFamily="34"/>
              </a:rPr>
              <a:t>(x</a:t>
            </a:r>
            <a:r>
              <a:rPr lang="en-US" sz="2800" baseline="-25000">
                <a:cs typeface="Arial" pitchFamily="34"/>
              </a:rPr>
              <a:t>2</a:t>
            </a:r>
            <a:r>
              <a:rPr lang="en-US" sz="2800" baseline="-25000"/>
              <a:t> </a:t>
            </a:r>
            <a:r>
              <a:rPr lang="en-US" sz="2800"/>
              <a:t>– x</a:t>
            </a:r>
            <a:r>
              <a:rPr lang="en-US" sz="2800" baseline="-25000"/>
              <a:t>1</a:t>
            </a:r>
            <a:r>
              <a:rPr lang="en-US" sz="2800"/>
              <a:t>)</a:t>
            </a:r>
          </a:p>
          <a:p>
            <a:pPr marL="342717" lvl="0" indent="-342717">
              <a:lnSpc>
                <a:spcPct val="70000"/>
              </a:lnSpc>
              <a:spcBef>
                <a:spcPts val="695"/>
              </a:spcBef>
            </a:pPr>
            <a:r>
              <a:rPr lang="en-US" sz="2800"/>
              <a:t>               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fining Addition on E : 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606-FA77-A701-0E18-B262797A5F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Defining Addition on </a:t>
            </a:r>
            <a:r>
              <a:rPr lang="en-US" i="1"/>
              <a:t>E </a:t>
            </a:r>
            <a:r>
              <a:rPr lang="en-US"/>
              <a:t>: Case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B46CE-02A7-A632-1B07-A18EA2E8C3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marL="342717" lvl="0" indent="-342717">
              <a:lnSpc>
                <a:spcPct val="80000"/>
              </a:lnSpc>
              <a:spcBef>
                <a:spcPts val="800"/>
              </a:spcBef>
            </a:pPr>
            <a:r>
              <a:rPr lang="en-US"/>
              <a:t>For the case x</a:t>
            </a:r>
            <a:r>
              <a:rPr lang="en-US" baseline="-25000"/>
              <a:t>1 </a:t>
            </a:r>
            <a:r>
              <a:rPr lang="en-US">
                <a:latin typeface="Arial Unicode MS" pitchFamily="34"/>
              </a:rPr>
              <a:t>= </a:t>
            </a:r>
            <a:r>
              <a:rPr lang="en-US"/>
              <a:t>x</a:t>
            </a:r>
            <a:r>
              <a:rPr lang="en-US" baseline="-25000"/>
              <a:t>2</a:t>
            </a:r>
            <a:r>
              <a:rPr lang="en-US"/>
              <a:t> and y</a:t>
            </a:r>
            <a:r>
              <a:rPr lang="en-US" baseline="-25000"/>
              <a:t>1</a:t>
            </a:r>
            <a:r>
              <a:rPr lang="en-US"/>
              <a:t> = - y</a:t>
            </a:r>
            <a:r>
              <a:rPr lang="en-US" baseline="-25000"/>
              <a:t>2 </a:t>
            </a:r>
            <a:r>
              <a:rPr lang="en-US"/>
              <a:t>, addition is defined as follows:</a:t>
            </a:r>
          </a:p>
          <a:p>
            <a:pPr marL="342717" lvl="0" indent="-342717">
              <a:lnSpc>
                <a:spcPct val="80000"/>
              </a:lnSpc>
              <a:spcBef>
                <a:spcPts val="800"/>
              </a:spcBef>
            </a:pPr>
            <a:endParaRPr lang="en-US"/>
          </a:p>
          <a:p>
            <a:pPr marL="342717" lvl="0" indent="-342717">
              <a:lnSpc>
                <a:spcPct val="8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/>
              <a:t>	(x</a:t>
            </a:r>
            <a:r>
              <a:rPr lang="en-US" baseline="-25000"/>
              <a:t>1</a:t>
            </a:r>
            <a:r>
              <a:rPr lang="en-US"/>
              <a:t>,y</a:t>
            </a:r>
            <a:r>
              <a:rPr lang="en-US" baseline="-25000"/>
              <a:t>1</a:t>
            </a:r>
            <a:r>
              <a:rPr lang="en-US"/>
              <a:t>) + (x</a:t>
            </a:r>
            <a:r>
              <a:rPr lang="en-US" baseline="-25000"/>
              <a:t>2</a:t>
            </a:r>
            <a:r>
              <a:rPr lang="en-US"/>
              <a:t>,y</a:t>
            </a:r>
            <a:r>
              <a:rPr lang="en-US" baseline="-25000"/>
              <a:t>2</a:t>
            </a:r>
            <a:r>
              <a:rPr lang="en-US"/>
              <a:t>) = (x</a:t>
            </a:r>
            <a:r>
              <a:rPr lang="en-US" baseline="-25000"/>
              <a:t>3</a:t>
            </a:r>
            <a:r>
              <a:rPr lang="en-US"/>
              <a:t>,y</a:t>
            </a:r>
            <a:r>
              <a:rPr lang="en-US" baseline="-25000"/>
              <a:t>3</a:t>
            </a:r>
            <a:r>
              <a:rPr lang="en-US"/>
              <a:t>) </a:t>
            </a:r>
            <a:r>
              <a:rPr lang="en-US">
                <a:latin typeface="Arial Unicode MS" pitchFamily="34"/>
              </a:rPr>
              <a:t>∈</a:t>
            </a:r>
            <a:r>
              <a:rPr lang="en-US"/>
              <a:t></a:t>
            </a:r>
            <a:r>
              <a:rPr lang="en-US" i="1"/>
              <a:t>E</a:t>
            </a:r>
            <a:r>
              <a:rPr lang="en-US"/>
              <a:t> where</a:t>
            </a:r>
          </a:p>
          <a:p>
            <a:pPr marL="342717" lvl="0" indent="-342717">
              <a:lnSpc>
                <a:spcPct val="8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/>
              <a:t>	</a:t>
            </a:r>
          </a:p>
          <a:p>
            <a:pPr marL="342717" lvl="0" indent="-342717">
              <a:lnSpc>
                <a:spcPct val="8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/>
              <a:t>	(x,y) + (x,-y) = </a:t>
            </a:r>
            <a:r>
              <a:rPr lang="en-US" i="1"/>
              <a:t>O</a:t>
            </a:r>
            <a:r>
              <a:rPr lang="en-US"/>
              <a:t>, the point at infinity</a:t>
            </a:r>
          </a:p>
          <a:p>
            <a:pPr marL="342717" lvl="0" indent="-342717">
              <a:lnSpc>
                <a:spcPct val="80000"/>
              </a:lnSpc>
              <a:spcBef>
                <a:spcPts val="9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600"/>
              <a:t>		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fining Addition on E : Cas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DA7-66E4-1156-F360-4BF0275403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Defining Addition on </a:t>
            </a:r>
            <a:r>
              <a:rPr lang="en-US" i="1"/>
              <a:t>E </a:t>
            </a:r>
            <a:r>
              <a:rPr lang="en-US"/>
              <a:t>: Case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28371-DAAB-39A5-467B-D317C5AEEAF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marL="342717" lvl="0" indent="-342717">
              <a:lnSpc>
                <a:spcPct val="60000"/>
              </a:lnSpc>
              <a:spcBef>
                <a:spcPts val="800"/>
              </a:spcBef>
            </a:pPr>
            <a:r>
              <a:rPr lang="en-US" sz="3000"/>
              <a:t>For the case x</a:t>
            </a:r>
            <a:r>
              <a:rPr lang="en-US" sz="3000" baseline="-25000"/>
              <a:t>1 </a:t>
            </a:r>
            <a:r>
              <a:rPr lang="en-US" sz="3000">
                <a:latin typeface="Arial Unicode MS" pitchFamily="34"/>
              </a:rPr>
              <a:t>= </a:t>
            </a:r>
            <a:r>
              <a:rPr lang="en-US" sz="3000"/>
              <a:t>x</a:t>
            </a:r>
            <a:r>
              <a:rPr lang="en-US" sz="3000" baseline="-25000"/>
              <a:t>2</a:t>
            </a:r>
            <a:r>
              <a:rPr lang="en-US" sz="3000"/>
              <a:t> and y</a:t>
            </a:r>
            <a:r>
              <a:rPr lang="en-US" sz="3000" baseline="-25000"/>
              <a:t>1</a:t>
            </a:r>
            <a:r>
              <a:rPr lang="en-US" sz="3000"/>
              <a:t> =  y</a:t>
            </a:r>
            <a:r>
              <a:rPr lang="en-US" sz="3000" baseline="-25000"/>
              <a:t>2</a:t>
            </a:r>
            <a:r>
              <a:rPr lang="en-US" sz="3000"/>
              <a:t>, addition is defined as follows:</a:t>
            </a:r>
          </a:p>
          <a:p>
            <a:pPr marL="342717" lvl="0" indent="-342717">
              <a:lnSpc>
                <a:spcPct val="60000"/>
              </a:lnSpc>
              <a:spcBef>
                <a:spcPts val="800"/>
              </a:spcBef>
            </a:pPr>
            <a:endParaRPr lang="en-US" sz="3000"/>
          </a:p>
          <a:p>
            <a:pPr marL="342717" lvl="0" indent="-342717">
              <a:lnSpc>
                <a:spcPct val="6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000"/>
              <a:t>	(x</a:t>
            </a:r>
            <a:r>
              <a:rPr lang="en-US" sz="3000" baseline="-25000"/>
              <a:t>1</a:t>
            </a:r>
            <a:r>
              <a:rPr lang="en-US" sz="3000"/>
              <a:t>,y</a:t>
            </a:r>
            <a:r>
              <a:rPr lang="en-US" sz="3000" baseline="-25000"/>
              <a:t>1</a:t>
            </a:r>
            <a:r>
              <a:rPr lang="en-US" sz="3000"/>
              <a:t>) + (x</a:t>
            </a:r>
            <a:r>
              <a:rPr lang="en-US" sz="3000" baseline="-25000"/>
              <a:t>2</a:t>
            </a:r>
            <a:r>
              <a:rPr lang="en-US" sz="3000"/>
              <a:t>,y</a:t>
            </a:r>
            <a:r>
              <a:rPr lang="en-US" sz="3000" baseline="-25000"/>
              <a:t>2</a:t>
            </a:r>
            <a:r>
              <a:rPr lang="en-US" sz="3000"/>
              <a:t>) = (x</a:t>
            </a:r>
            <a:r>
              <a:rPr lang="en-US" sz="3000" baseline="-25000"/>
              <a:t>3</a:t>
            </a:r>
            <a:r>
              <a:rPr lang="en-US" sz="3000"/>
              <a:t>,y</a:t>
            </a:r>
            <a:r>
              <a:rPr lang="en-US" sz="3000" baseline="-25000"/>
              <a:t>3</a:t>
            </a:r>
            <a:r>
              <a:rPr lang="en-US" sz="3000"/>
              <a:t>) </a:t>
            </a:r>
            <a:r>
              <a:rPr lang="en-US" sz="3000">
                <a:latin typeface="Arial Unicode MS" pitchFamily="34"/>
              </a:rPr>
              <a:t>∈</a:t>
            </a:r>
            <a:r>
              <a:rPr lang="en-US" sz="3000"/>
              <a:t></a:t>
            </a:r>
            <a:r>
              <a:rPr lang="en-US" sz="3000" i="1"/>
              <a:t>E</a:t>
            </a:r>
            <a:r>
              <a:rPr lang="en-US" sz="3000"/>
              <a:t> where</a:t>
            </a:r>
          </a:p>
          <a:p>
            <a:pPr marL="342717" lvl="0" indent="-342717">
              <a:lnSpc>
                <a:spcPct val="6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000"/>
              <a:t>	</a:t>
            </a:r>
          </a:p>
          <a:p>
            <a:pPr marL="342717" lvl="0" indent="-342717">
              <a:lnSpc>
                <a:spcPct val="6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000"/>
              <a:t>		 x</a:t>
            </a:r>
            <a:r>
              <a:rPr lang="en-US" sz="3000" baseline="-25000"/>
              <a:t>3 </a:t>
            </a:r>
            <a:r>
              <a:rPr lang="en-US" sz="3000"/>
              <a:t>= </a:t>
            </a:r>
            <a:r>
              <a:rPr lang="el-GR" sz="3000">
                <a:cs typeface="Arial" pitchFamily="34"/>
              </a:rPr>
              <a:t>λ</a:t>
            </a:r>
            <a:r>
              <a:rPr lang="en-US" sz="3000">
                <a:cs typeface="Arial" pitchFamily="34"/>
              </a:rPr>
              <a:t>² - </a:t>
            </a:r>
            <a:r>
              <a:rPr lang="en-US" sz="3000"/>
              <a:t>x</a:t>
            </a:r>
            <a:r>
              <a:rPr lang="en-US" sz="3000" baseline="-25000"/>
              <a:t>1 </a:t>
            </a:r>
            <a:r>
              <a:rPr lang="en-US" sz="3000"/>
              <a:t>- x</a:t>
            </a:r>
            <a:r>
              <a:rPr lang="en-US" sz="3000" baseline="-25000"/>
              <a:t>2</a:t>
            </a:r>
          </a:p>
          <a:p>
            <a:pPr marL="342717" lvl="0" indent="-342717">
              <a:lnSpc>
                <a:spcPct val="6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000"/>
              <a:t>		 y</a:t>
            </a:r>
            <a:r>
              <a:rPr lang="en-US" sz="3000" baseline="-25000"/>
              <a:t>3 </a:t>
            </a:r>
            <a:r>
              <a:rPr lang="en-US" sz="3000"/>
              <a:t>= </a:t>
            </a:r>
            <a:r>
              <a:rPr lang="el-GR" sz="3000">
                <a:cs typeface="Arial" pitchFamily="34"/>
              </a:rPr>
              <a:t>λ</a:t>
            </a:r>
            <a:r>
              <a:rPr lang="en-US" sz="3000">
                <a:cs typeface="Arial" pitchFamily="34"/>
              </a:rPr>
              <a:t>(</a:t>
            </a:r>
            <a:r>
              <a:rPr lang="en-US" sz="3000"/>
              <a:t>x</a:t>
            </a:r>
            <a:r>
              <a:rPr lang="en-US" sz="3000" baseline="-25000"/>
              <a:t>1 </a:t>
            </a:r>
            <a:r>
              <a:rPr lang="en-US" sz="3000"/>
              <a:t>– x</a:t>
            </a:r>
            <a:r>
              <a:rPr lang="en-US" sz="3000" baseline="-25000"/>
              <a:t>3</a:t>
            </a:r>
            <a:r>
              <a:rPr lang="en-US" sz="3000"/>
              <a:t>) - y</a:t>
            </a:r>
            <a:r>
              <a:rPr lang="en-US" sz="3000" baseline="-25000"/>
              <a:t>1</a:t>
            </a:r>
            <a:r>
              <a:rPr lang="en-US" sz="3000"/>
              <a:t>, and</a:t>
            </a:r>
          </a:p>
          <a:p>
            <a:pPr marL="342717" lvl="0" indent="-342717">
              <a:lnSpc>
                <a:spcPct val="6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000">
                <a:cs typeface="Arial" pitchFamily="34"/>
              </a:rPr>
              <a:t>		  </a:t>
            </a:r>
            <a:r>
              <a:rPr lang="el-GR" sz="3000">
                <a:cs typeface="Arial" pitchFamily="34"/>
              </a:rPr>
              <a:t>λ</a:t>
            </a:r>
            <a:r>
              <a:rPr lang="en-US" sz="3000">
                <a:cs typeface="Arial" pitchFamily="34"/>
              </a:rPr>
              <a:t> = (3</a:t>
            </a:r>
            <a:r>
              <a:rPr lang="en-US" sz="3000"/>
              <a:t>x</a:t>
            </a:r>
            <a:r>
              <a:rPr lang="en-US" sz="3000" baseline="-25000"/>
              <a:t>1</a:t>
            </a:r>
            <a:r>
              <a:rPr lang="en-US" sz="3000" baseline="30000"/>
              <a:t>2 </a:t>
            </a:r>
            <a:r>
              <a:rPr lang="en-US" sz="3000"/>
              <a:t>+ a) / 2y</a:t>
            </a:r>
            <a:r>
              <a:rPr lang="en-US" sz="3000" baseline="-25000"/>
              <a:t>1</a:t>
            </a:r>
          </a:p>
          <a:p>
            <a:pPr marL="342717" lvl="0" indent="-342717">
              <a:lnSpc>
                <a:spcPct val="60000"/>
              </a:lnSpc>
              <a:spcBef>
                <a:spcPts val="500"/>
              </a:spcBef>
            </a:pPr>
            <a:r>
              <a:rPr lang="en-US" sz="1900"/>
              <a:t>                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fining the Ident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9DFD-AB1A-9AC5-5B8B-DC8AD31725F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Defining the Identity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F6CEB-8954-82ED-21C8-E5EF1F5ABE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800"/>
              <a:t>The point at infinity </a:t>
            </a:r>
            <a:r>
              <a:rPr lang="en-US" sz="2800" i="1"/>
              <a:t>O</a:t>
            </a:r>
            <a:r>
              <a:rPr lang="en-US" sz="2800"/>
              <a:t>, is the identity element. P + </a:t>
            </a:r>
            <a:r>
              <a:rPr lang="en-US" sz="2800" i="1"/>
              <a:t>O </a:t>
            </a:r>
            <a:r>
              <a:rPr lang="en-US" sz="2800"/>
              <a:t>= </a:t>
            </a:r>
            <a:r>
              <a:rPr lang="en-US" sz="2800" i="1"/>
              <a:t>O</a:t>
            </a:r>
            <a:r>
              <a:rPr lang="en-US" sz="2800"/>
              <a:t> + P = P, for all P </a:t>
            </a:r>
            <a:r>
              <a:rPr lang="en-US" sz="2800">
                <a:latin typeface="Arial Unicode MS" pitchFamily="34"/>
              </a:rPr>
              <a:t>∈</a:t>
            </a:r>
            <a:r>
              <a:rPr lang="en-US" sz="2800"/>
              <a:t></a:t>
            </a:r>
            <a:r>
              <a:rPr lang="en-US" sz="2800" i="1"/>
              <a:t>E</a:t>
            </a:r>
            <a:r>
              <a:rPr lang="en-US" sz="2800"/>
              <a:t>.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800"/>
              <a:t>From Case 2, and the Identity Element, we now have the existence of inverses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800"/>
              <a:t>Beyond the scope here to prove that we have commutativity and associativity as well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800"/>
              <a:t>Therefore the set of solutions </a:t>
            </a:r>
            <a:r>
              <a:rPr lang="en-US" sz="2800" i="1"/>
              <a:t>E</a:t>
            </a:r>
            <a:r>
              <a:rPr lang="en-US" sz="2800"/>
              <a:t>, forms an Abelian group (Importance of this will be shown later)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endParaRPr lang="en-US" sz="2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lliptic Curves modulo 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D867E-0689-83A5-F419-FBE1227DF5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Elliptic Curves modulo 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09818-DD91-D376-A6BA-E49DE45385A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lnSpc>
                <a:spcPct val="9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Let p &gt; 3 be prime. The elliptic curve y² = x³ + ax + b over </a:t>
            </a:r>
            <a:r>
              <a:rPr lang="en-US" sz="2600">
                <a:latin typeface="Arial Unicode MS" pitchFamily="34"/>
              </a:rPr>
              <a:t>ℤ</a:t>
            </a:r>
            <a:r>
              <a:rPr lang="en-US" sz="1700" baseline="-25000">
                <a:latin typeface="Arial Unicode MS" pitchFamily="34"/>
              </a:rPr>
              <a:t>p</a:t>
            </a:r>
            <a:r>
              <a:rPr lang="en-US" sz="2600"/>
              <a:t>  is the set of solutions (x,y) </a:t>
            </a:r>
            <a:r>
              <a:rPr lang="en-US" sz="2600">
                <a:latin typeface="Arial Unicode MS" pitchFamily="34"/>
              </a:rPr>
              <a:t>∈</a:t>
            </a:r>
            <a:r>
              <a:rPr lang="en-US" sz="2600"/>
              <a:t></a:t>
            </a:r>
            <a:r>
              <a:rPr lang="en-US" sz="2600">
                <a:latin typeface="Arial Unicode MS" pitchFamily="34"/>
              </a:rPr>
              <a:t>ℤ</a:t>
            </a:r>
            <a:r>
              <a:rPr lang="en-US" sz="1700" baseline="-25000">
                <a:latin typeface="Arial Unicode MS" pitchFamily="34"/>
              </a:rPr>
              <a:t>p</a:t>
            </a:r>
            <a:r>
              <a:rPr lang="en-US" sz="2600">
                <a:latin typeface="Arial Unicode MS" pitchFamily="34"/>
              </a:rPr>
              <a:t> x ℤ</a:t>
            </a:r>
            <a:r>
              <a:rPr lang="en-US" sz="1700" baseline="-25000">
                <a:latin typeface="Arial Unicode MS" pitchFamily="34"/>
              </a:rPr>
              <a:t>p</a:t>
            </a:r>
            <a:r>
              <a:rPr lang="en-US" sz="2600">
                <a:latin typeface="Arial Unicode MS" pitchFamily="34"/>
              </a:rPr>
              <a:t> to the congruence:</a:t>
            </a:r>
          </a:p>
          <a:p>
            <a:pPr lvl="4" hangingPunct="0">
              <a:spcBef>
                <a:spcPts val="800"/>
              </a:spcBef>
              <a:buNone/>
            </a:pPr>
            <a:r>
              <a:rPr lang="en-US" sz="3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y² </a:t>
            </a:r>
            <a:r>
              <a:rPr lang="en-US" sz="3000">
                <a:highlight>
                  <a:scrgbClr r="0" g="0" b="0">
                    <a:alpha val="0"/>
                  </a:scrgbClr>
                </a:highlight>
                <a:latin typeface="Arial Unicode MS" pitchFamily="34"/>
              </a:rPr>
              <a:t>≡</a:t>
            </a:r>
            <a:r>
              <a:rPr lang="en-US" sz="3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x³ + ax + b (mod p)</a:t>
            </a:r>
          </a:p>
          <a:p>
            <a:pPr lvl="4" hangingPunct="0">
              <a:spcBef>
                <a:spcPts val="450"/>
              </a:spcBef>
              <a:buNone/>
            </a:pPr>
            <a:endParaRPr lang="en-US" sz="170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342717" lvl="0" indent="-342717">
              <a:lnSpc>
                <a:spcPct val="90000"/>
              </a:lnSpc>
              <a:spcBef>
                <a:spcPts val="695"/>
              </a:spcBef>
            </a:pPr>
            <a:r>
              <a:rPr lang="en-US" sz="2600"/>
              <a:t> where a </a:t>
            </a:r>
            <a:r>
              <a:rPr lang="en-US" sz="2600">
                <a:latin typeface="Arial Unicode MS" pitchFamily="34"/>
              </a:rPr>
              <a:t>∈</a:t>
            </a:r>
            <a:r>
              <a:rPr lang="en-US" sz="2600"/>
              <a:t></a:t>
            </a:r>
            <a:r>
              <a:rPr lang="en-US" sz="2600">
                <a:latin typeface="Arial Unicode MS" pitchFamily="34"/>
              </a:rPr>
              <a:t>ℤ</a:t>
            </a:r>
            <a:r>
              <a:rPr lang="en-US" sz="1700" baseline="-25000">
                <a:latin typeface="Arial Unicode MS" pitchFamily="34"/>
              </a:rPr>
              <a:t>p</a:t>
            </a:r>
            <a:r>
              <a:rPr lang="en-US" sz="2600"/>
              <a:t>,b </a:t>
            </a:r>
            <a:r>
              <a:rPr lang="en-US" sz="2600">
                <a:latin typeface="Arial Unicode MS" pitchFamily="34"/>
              </a:rPr>
              <a:t>∈</a:t>
            </a:r>
            <a:r>
              <a:rPr lang="en-US" sz="2600"/>
              <a:t></a:t>
            </a:r>
            <a:r>
              <a:rPr lang="en-US" sz="2600">
                <a:latin typeface="Arial Unicode MS" pitchFamily="34"/>
              </a:rPr>
              <a:t>ℤ</a:t>
            </a:r>
            <a:r>
              <a:rPr lang="en-US" sz="1700" baseline="-25000">
                <a:latin typeface="Arial Unicode MS" pitchFamily="34"/>
              </a:rPr>
              <a:t>p</a:t>
            </a:r>
            <a:r>
              <a:rPr lang="en-US" sz="2600"/>
              <a:t>, are constants such that 4a³ + 27b² </a:t>
            </a:r>
            <a:r>
              <a:rPr lang="en-US" sz="2600">
                <a:latin typeface="Arial Unicode MS" pitchFamily="34"/>
              </a:rPr>
              <a:t>≢ </a:t>
            </a:r>
            <a:r>
              <a:rPr lang="en-US" sz="2600"/>
              <a:t>0 (mod p), together with a special point </a:t>
            </a:r>
            <a:r>
              <a:rPr lang="en-US" sz="2600" i="1"/>
              <a:t>O </a:t>
            </a:r>
            <a:r>
              <a:rPr lang="en-US" sz="2600"/>
              <a:t>called the </a:t>
            </a:r>
            <a:r>
              <a:rPr lang="en-US" sz="2600" i="1"/>
              <a:t>point at infinity</a:t>
            </a:r>
            <a:r>
              <a:rPr lang="en-US" sz="2600"/>
              <a:t>.</a:t>
            </a:r>
          </a:p>
          <a:p>
            <a:pPr lvl="0">
              <a:lnSpc>
                <a:spcPct val="9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Solutions still form an Abelian group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 now for an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946D-D108-F9DE-2BF1-7616D932E4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Contoh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266B1-1C5D-AE86-4B0D-78957B9E09E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1641594"/>
          </a:xfrm>
        </p:spPr>
        <p:txBody>
          <a:bodyPr lIns="90004" tIns="46798" rIns="90004" bIns="46798"/>
          <a:lstStyle/>
          <a:p>
            <a:pPr lvl="0">
              <a:lnSpc>
                <a:spcPct val="9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800"/>
              <a:t>Let’s examine the following elliptic curve as an example:</a:t>
            </a:r>
          </a:p>
          <a:p>
            <a:pPr marL="342717" lvl="0" indent="-342717">
              <a:lnSpc>
                <a:spcPct val="90000"/>
              </a:lnSpc>
              <a:spcBef>
                <a:spcPts val="695"/>
              </a:spcBef>
            </a:pPr>
            <a:r>
              <a:rPr lang="en-US" sz="4000"/>
              <a:t>           </a:t>
            </a:r>
            <a:r>
              <a:rPr lang="en-US"/>
              <a:t>y² = x³ + x + 6 over</a:t>
            </a:r>
            <a:r>
              <a:rPr lang="en-US" sz="4000"/>
              <a:t> </a:t>
            </a:r>
            <a:r>
              <a:rPr lang="en-US" sz="4000">
                <a:latin typeface="Arial Unicode MS" pitchFamily="34"/>
              </a:rPr>
              <a:t>ℤ</a:t>
            </a:r>
            <a:r>
              <a:rPr lang="en-US" sz="2800" baseline="-25000">
                <a:latin typeface="Arial Unicode MS" pitchFamily="34"/>
              </a:rPr>
              <a:t>11</a:t>
            </a:r>
          </a:p>
          <a:p>
            <a:pPr lvl="0">
              <a:lnSpc>
                <a:spcPct val="90000"/>
              </a:lnSpc>
              <a:spcBef>
                <a:spcPts val="695"/>
              </a:spcBef>
            </a:pPr>
            <a:endParaRPr lang="en-US" sz="2800" baseline="-25000">
              <a:latin typeface="Arial Unicode MS" pitchFamily="3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FEC2C8-1AAA-078D-DC8C-34A117A0D908}"/>
              </a:ext>
            </a:extLst>
          </p:cNvPr>
          <p:cNvGraphicFramePr>
            <a:graphicFrameLocks noGrp="1"/>
          </p:cNvGraphicFramePr>
          <p:nvPr/>
        </p:nvGraphicFramePr>
        <p:xfrm>
          <a:off x="503642" y="3276002"/>
          <a:ext cx="9071990" cy="219710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51882">
                  <a:extLst>
                    <a:ext uri="{9D8B030D-6E8A-4147-A177-3AD203B41FA5}">
                      <a16:colId xmlns:a16="http://schemas.microsoft.com/office/drawing/2014/main" val="4191651623"/>
                    </a:ext>
                  </a:extLst>
                </a:gridCol>
                <a:gridCol w="671763">
                  <a:extLst>
                    <a:ext uri="{9D8B030D-6E8A-4147-A177-3AD203B41FA5}">
                      <a16:colId xmlns:a16="http://schemas.microsoft.com/office/drawing/2014/main" val="1897933280"/>
                    </a:ext>
                  </a:extLst>
                </a:gridCol>
                <a:gridCol w="671763">
                  <a:extLst>
                    <a:ext uri="{9D8B030D-6E8A-4147-A177-3AD203B41FA5}">
                      <a16:colId xmlns:a16="http://schemas.microsoft.com/office/drawing/2014/main" val="2502329552"/>
                    </a:ext>
                  </a:extLst>
                </a:gridCol>
                <a:gridCol w="587876">
                  <a:extLst>
                    <a:ext uri="{9D8B030D-6E8A-4147-A177-3AD203B41FA5}">
                      <a16:colId xmlns:a16="http://schemas.microsoft.com/office/drawing/2014/main" val="2440472067"/>
                    </a:ext>
                  </a:extLst>
                </a:gridCol>
                <a:gridCol w="587876">
                  <a:extLst>
                    <a:ext uri="{9D8B030D-6E8A-4147-A177-3AD203B41FA5}">
                      <a16:colId xmlns:a16="http://schemas.microsoft.com/office/drawing/2014/main" val="2535686451"/>
                    </a:ext>
                  </a:extLst>
                </a:gridCol>
                <a:gridCol w="587520">
                  <a:extLst>
                    <a:ext uri="{9D8B030D-6E8A-4147-A177-3AD203B41FA5}">
                      <a16:colId xmlns:a16="http://schemas.microsoft.com/office/drawing/2014/main" val="951216132"/>
                    </a:ext>
                  </a:extLst>
                </a:gridCol>
                <a:gridCol w="587876">
                  <a:extLst>
                    <a:ext uri="{9D8B030D-6E8A-4147-A177-3AD203B41FA5}">
                      <a16:colId xmlns:a16="http://schemas.microsoft.com/office/drawing/2014/main" val="3405231785"/>
                    </a:ext>
                  </a:extLst>
                </a:gridCol>
                <a:gridCol w="587876">
                  <a:extLst>
                    <a:ext uri="{9D8B030D-6E8A-4147-A177-3AD203B41FA5}">
                      <a16:colId xmlns:a16="http://schemas.microsoft.com/office/drawing/2014/main" val="99231130"/>
                    </a:ext>
                  </a:extLst>
                </a:gridCol>
                <a:gridCol w="587520">
                  <a:extLst>
                    <a:ext uri="{9D8B030D-6E8A-4147-A177-3AD203B41FA5}">
                      <a16:colId xmlns:a16="http://schemas.microsoft.com/office/drawing/2014/main" val="2916676596"/>
                    </a:ext>
                  </a:extLst>
                </a:gridCol>
                <a:gridCol w="672120">
                  <a:extLst>
                    <a:ext uri="{9D8B030D-6E8A-4147-A177-3AD203B41FA5}">
                      <a16:colId xmlns:a16="http://schemas.microsoft.com/office/drawing/2014/main" val="842195105"/>
                    </a:ext>
                  </a:extLst>
                </a:gridCol>
                <a:gridCol w="587520">
                  <a:extLst>
                    <a:ext uri="{9D8B030D-6E8A-4147-A177-3AD203B41FA5}">
                      <a16:colId xmlns:a16="http://schemas.microsoft.com/office/drawing/2014/main" val="1608911738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898865017"/>
                    </a:ext>
                  </a:extLst>
                </a:gridCol>
              </a:tblGrid>
              <a:tr h="448915"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 sz="1490"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052664"/>
                  </a:ext>
                </a:extLst>
              </a:tr>
              <a:tr h="681484"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x³ + x + 6 mod 11</a:t>
                      </a:r>
                    </a:p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endParaRPr lang="en-US" sz="1800" b="0" i="0" u="none" strike="noStrike" kern="1200" cap="none">
                        <a:effectLst>
                          <a:outerShdw dist="17962" dir="2700000">
                            <a:srgbClr val="000000"/>
                          </a:outerShdw>
                        </a:effectLst>
                        <a:latin typeface="Tahoma" pitchFamily="34"/>
                        <a:ea typeface="Noto Sans CJK SC Regular" pitchFamily="2"/>
                        <a:cs typeface="FreeSans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161789"/>
                  </a:ext>
                </a:extLst>
              </a:tr>
              <a:tr h="506879"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95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8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QR?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4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312597"/>
                  </a:ext>
                </a:extLst>
              </a:tr>
              <a:tr h="506879"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695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8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atin typeface="Liberation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atin typeface="Liberation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atin typeface="Liberation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2,9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atin typeface="Liberation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2,9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atin typeface="Liberation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>
                          <a:effectLst>
                            <a:outerShdw dist="17962" dir="2700000">
                              <a:srgbClr val="000000"/>
                            </a:outerShdw>
                          </a:effectLst>
                          <a:latin typeface="Tahoma" pitchFamily="34"/>
                          <a:ea typeface="Noto Sans CJK SC Regular" pitchFamily="2"/>
                          <a:cs typeface="FreeSans" pitchFamily="2"/>
                        </a:rPr>
                        <a:t>2,9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3068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enerating our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EF9D1-46E9-0521-CFB1-511D03DFB93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Generating our group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1AD72-60B4-FC6D-02D4-4E66AE0633F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/>
              <a:t>From the previous chart, and including the point at infinity </a:t>
            </a:r>
            <a:r>
              <a:rPr lang="en-US" i="1"/>
              <a:t>O</a:t>
            </a:r>
            <a:r>
              <a:rPr lang="en-US"/>
              <a:t>, we have a group with 13 points.</a:t>
            </a:r>
          </a:p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/>
              <a:t>Since the O(</a:t>
            </a:r>
            <a:r>
              <a:rPr lang="en-US" i="1"/>
              <a:t>E</a:t>
            </a:r>
            <a:r>
              <a:rPr lang="en-US"/>
              <a:t>) is prime, the group is cyclic.</a:t>
            </a:r>
          </a:p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/>
              <a:t>We can generate the group by choosing any point other then the point at infinity.</a:t>
            </a:r>
          </a:p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/>
              <a:t>Let our generator =  = (2,7)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E250-6163-DDC8-786D-BCE0430B41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The Group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DE709-1EE2-AEBA-33B7-B4B7747EBE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marL="342717" lvl="0" indent="-342717">
              <a:lnSpc>
                <a:spcPct val="70000"/>
              </a:lnSpc>
              <a:spcBef>
                <a:spcPts val="800"/>
              </a:spcBef>
            </a:pPr>
            <a:r>
              <a:rPr lang="en-US" sz="2700">
                <a:latin typeface="Arial Unicode MS" pitchFamily="34"/>
              </a:rPr>
              <a:t>We can generate this by using the rules of addition we defined earlier where </a:t>
            </a:r>
            <a:r>
              <a:rPr lang="en-US" sz="2700"/>
              <a:t></a:t>
            </a:r>
          </a:p>
          <a:p>
            <a:pPr marL="342717" lvl="0" indent="-342717">
              <a:lnSpc>
                <a:spcPct val="70000"/>
              </a:lnSpc>
              <a:spcBef>
                <a:spcPts val="800"/>
              </a:spcBef>
            </a:pPr>
            <a:endParaRPr lang="en-US" sz="2700">
              <a:latin typeface="Symbol" pitchFamily="18"/>
            </a:endParaRPr>
          </a:p>
          <a:p>
            <a:pPr marL="342717" lvl="0" indent="-342717">
              <a:lnSpc>
                <a:spcPct val="7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700"/>
              <a:t></a:t>
            </a:r>
          </a:p>
          <a:p>
            <a:pPr marL="342717" lvl="0" indent="-342717">
              <a:lnSpc>
                <a:spcPct val="7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700"/>
              <a:t></a:t>
            </a:r>
          </a:p>
          <a:p>
            <a:pPr marL="342717" lvl="0" indent="-342717">
              <a:lnSpc>
                <a:spcPct val="7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700"/>
              <a:t></a:t>
            </a:r>
          </a:p>
          <a:p>
            <a:pPr marL="342717" lvl="0" indent="-342717">
              <a:lnSpc>
                <a:spcPct val="7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700"/>
              <a:t>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cryption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0FD12-B457-EE3B-CB76-18ECCAB96F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Encryption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86E78-2C5F-91B4-3642-E523B98CAC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Suppose we let  = (2,7) and choose the private key to be 7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then  = 7 = (7,2)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Encryption:</a:t>
            </a:r>
          </a:p>
          <a:p>
            <a:pPr marL="342717" lvl="0" indent="-342717">
              <a:lnSpc>
                <a:spcPct val="80000"/>
              </a:lnSpc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600"/>
              <a:t>		e</a:t>
            </a:r>
            <a:r>
              <a:rPr lang="en-US" sz="2600" baseline="-25000"/>
              <a:t>K</a:t>
            </a:r>
            <a:r>
              <a:rPr lang="en-US" sz="2600"/>
              <a:t>(x,k) = (k(</a:t>
            </a:r>
            <a:r>
              <a:rPr lang="en-US" sz="2600">
                <a:latin typeface="Arial" pitchFamily="34"/>
              </a:rPr>
              <a:t>), x + k(</a:t>
            </a:r>
            <a:r>
              <a:rPr lang="en-US" sz="2600"/>
              <a:t></a:t>
            </a:r>
            <a:r>
              <a:rPr lang="en-US" sz="2600">
                <a:latin typeface="Arial" pitchFamily="34"/>
              </a:rPr>
              <a:t>))</a:t>
            </a:r>
          </a:p>
          <a:p>
            <a:pPr marL="342717" lvl="0" indent="-342717">
              <a:lnSpc>
                <a:spcPct val="80000"/>
              </a:lnSpc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600"/>
              <a:t>		e</a:t>
            </a:r>
            <a:r>
              <a:rPr lang="en-US" sz="2600" baseline="-25000"/>
              <a:t>K</a:t>
            </a:r>
            <a:r>
              <a:rPr lang="en-US" sz="2600"/>
              <a:t>(x,k) = (k(2,7), x+k(7,2)) ,</a:t>
            </a:r>
          </a:p>
          <a:p>
            <a:pPr marL="342717" lvl="0" indent="-342717">
              <a:lnSpc>
                <a:spcPct val="80000"/>
              </a:lnSpc>
              <a:spcBef>
                <a:spcPts val="695"/>
              </a:spcBef>
            </a:pPr>
            <a:endParaRPr lang="en-US" sz="2600"/>
          </a:p>
          <a:p>
            <a:pPr marL="342717" lvl="0" indent="-342717">
              <a:lnSpc>
                <a:spcPct val="80000"/>
              </a:lnSpc>
              <a:spcBef>
                <a:spcPts val="695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2600"/>
              <a:t>	where x </a:t>
            </a:r>
            <a:r>
              <a:rPr lang="en-US" sz="2600">
                <a:latin typeface="Arial Unicode MS" pitchFamily="34"/>
              </a:rPr>
              <a:t>∈ </a:t>
            </a:r>
            <a:r>
              <a:rPr lang="en-US" sz="2600" i="1">
                <a:latin typeface="Arial Unicode MS" pitchFamily="34"/>
              </a:rPr>
              <a:t>E </a:t>
            </a:r>
            <a:r>
              <a:rPr lang="en-US" sz="2600"/>
              <a:t>and 0 </a:t>
            </a:r>
            <a:r>
              <a:rPr lang="en-US" sz="2600">
                <a:latin typeface="Arial Unicode MS" pitchFamily="34"/>
              </a:rPr>
              <a:t>≤ </a:t>
            </a:r>
            <a:r>
              <a:rPr lang="en-US" sz="2600"/>
              <a:t>k </a:t>
            </a:r>
            <a:r>
              <a:rPr lang="en-US" sz="2600">
                <a:latin typeface="Arial Unicode MS" pitchFamily="34"/>
              </a:rPr>
              <a:t>≤</a:t>
            </a:r>
            <a:r>
              <a:rPr lang="en-US" sz="2600"/>
              <a:t> 12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cryption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28A65-C3A5-E17B-3799-AC22BA9697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Decryption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A17B-019E-07AC-8E85-4E45BE2E7AD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 sz="3000"/>
              <a:t>Decryption:</a:t>
            </a:r>
          </a:p>
          <a:p>
            <a:pPr marL="342717" lvl="0" indent="-342717">
              <a:lnSpc>
                <a:spcPct val="90000"/>
              </a:lnSpc>
              <a:spcBef>
                <a:spcPts val="11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000"/>
              <a:t>		d</a:t>
            </a:r>
            <a:r>
              <a:rPr lang="en-US" sz="3000" baseline="-25000"/>
              <a:t>K</a:t>
            </a:r>
            <a:r>
              <a:rPr lang="en-US" sz="3000"/>
              <a:t>(y</a:t>
            </a:r>
            <a:r>
              <a:rPr lang="en-US" sz="4100" baseline="-25000"/>
              <a:t>1</a:t>
            </a:r>
            <a:r>
              <a:rPr lang="en-US" sz="4100"/>
              <a:t>,</a:t>
            </a:r>
            <a:r>
              <a:rPr lang="en-US" sz="3000"/>
              <a:t>y</a:t>
            </a:r>
            <a:r>
              <a:rPr lang="en-US" sz="4100" baseline="-25000"/>
              <a:t>2</a:t>
            </a:r>
            <a:r>
              <a:rPr lang="en-US" sz="3000"/>
              <a:t>) = y</a:t>
            </a:r>
            <a:r>
              <a:rPr lang="en-US" sz="4100" baseline="-25000"/>
              <a:t>2 </a:t>
            </a:r>
            <a:r>
              <a:rPr lang="en-US" sz="3000"/>
              <a:t>– K</a:t>
            </a:r>
            <a:r>
              <a:rPr lang="en-US" sz="3000" baseline="-25000"/>
              <a:t>priv</a:t>
            </a:r>
            <a:r>
              <a:rPr lang="en-US" sz="3000"/>
              <a:t>y</a:t>
            </a:r>
            <a:r>
              <a:rPr lang="en-US" sz="4100" baseline="-25000"/>
              <a:t>1</a:t>
            </a:r>
          </a:p>
          <a:p>
            <a:pPr marL="342717" lvl="0" indent="-342717">
              <a:lnSpc>
                <a:spcPct val="90000"/>
              </a:lnSpc>
              <a:spcBef>
                <a:spcPts val="1100"/>
              </a:spcBef>
            </a:pPr>
            <a:r>
              <a:rPr lang="en-US" sz="3000"/>
              <a:t>       d</a:t>
            </a:r>
            <a:r>
              <a:rPr lang="en-US" sz="3000" baseline="-25000"/>
              <a:t>K</a:t>
            </a:r>
            <a:r>
              <a:rPr lang="en-US" sz="3000"/>
              <a:t>(y</a:t>
            </a:r>
            <a:r>
              <a:rPr lang="en-US" sz="4100" baseline="-25000"/>
              <a:t>1</a:t>
            </a:r>
            <a:r>
              <a:rPr lang="en-US" sz="4100"/>
              <a:t>,</a:t>
            </a:r>
            <a:r>
              <a:rPr lang="en-US" sz="3000"/>
              <a:t>y</a:t>
            </a:r>
            <a:r>
              <a:rPr lang="en-US" sz="4100" baseline="-25000"/>
              <a:t>2</a:t>
            </a:r>
            <a:r>
              <a:rPr lang="en-US" sz="3000"/>
              <a:t>) =  y</a:t>
            </a:r>
            <a:r>
              <a:rPr lang="en-US" sz="4100" baseline="-25000"/>
              <a:t>2 </a:t>
            </a:r>
            <a:r>
              <a:rPr lang="en-US" sz="3000"/>
              <a:t>– 7y</a:t>
            </a:r>
            <a:r>
              <a:rPr lang="en-US" sz="4100" baseline="-25000"/>
              <a:t>1</a:t>
            </a:r>
          </a:p>
          <a:p>
            <a:pPr marL="342717" lvl="0" indent="-342717">
              <a:lnSpc>
                <a:spcPct val="90000"/>
              </a:lnSpc>
              <a:spcBef>
                <a:spcPts val="1100"/>
              </a:spcBef>
            </a:pPr>
            <a:endParaRPr lang="en-US" sz="4100" baseline="-25000"/>
          </a:p>
          <a:p>
            <a:pPr lvl="0">
              <a:lnSpc>
                <a:spcPct val="9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 sz="3000"/>
              <a:t>This is based on the ElGamal scheme of elliptic curve encryption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ing this Sc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DBBE-4186-16CF-901E-142F57144C9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Using this Scheme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11840-2649-5047-B7C6-DE6291AC6E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Suppose Alice wants to send a message to Bob.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Plaintext is x = (10,9) which is a point in </a:t>
            </a:r>
            <a:r>
              <a:rPr lang="en-US" sz="2600" i="1"/>
              <a:t>E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Choose a random value for k, k = 3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So now calculate (y</a:t>
            </a:r>
            <a:r>
              <a:rPr lang="en-US" sz="3700" baseline="-25000"/>
              <a:t>1</a:t>
            </a:r>
            <a:r>
              <a:rPr lang="en-US" sz="3700"/>
              <a:t>,</a:t>
            </a:r>
            <a:r>
              <a:rPr lang="en-US" sz="2600"/>
              <a:t>y</a:t>
            </a:r>
            <a:r>
              <a:rPr lang="en-US" sz="3700" baseline="-25000"/>
              <a:t>2</a:t>
            </a:r>
            <a:r>
              <a:rPr lang="en-US" sz="2600"/>
              <a:t>):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y</a:t>
            </a:r>
            <a:r>
              <a:rPr lang="en-US" sz="2600" baseline="-25000"/>
              <a:t>1</a:t>
            </a:r>
            <a:r>
              <a:rPr lang="en-US" sz="3700"/>
              <a:t> </a:t>
            </a:r>
            <a:r>
              <a:rPr lang="en-US" sz="2600"/>
              <a:t>= 3(2,7) = (8,3)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y</a:t>
            </a:r>
            <a:r>
              <a:rPr lang="en-US" sz="3700" baseline="-25000"/>
              <a:t>2</a:t>
            </a:r>
            <a:r>
              <a:rPr lang="en-US" sz="3700"/>
              <a:t> </a:t>
            </a:r>
            <a:r>
              <a:rPr lang="en-US" sz="2600"/>
              <a:t>= (10,9) + 3(7,2) = (10,9) + (3,5) = (10,2)</a:t>
            </a:r>
          </a:p>
          <a:p>
            <a:pPr lvl="0">
              <a:lnSpc>
                <a:spcPct val="80000"/>
              </a:lnSpc>
              <a:spcBef>
                <a:spcPts val="695"/>
              </a:spcBef>
              <a:buSzPct val="45000"/>
              <a:buFont typeface="StarSymbol"/>
              <a:buChar char="●"/>
            </a:pPr>
            <a:r>
              <a:rPr lang="en-US" sz="2600"/>
              <a:t>Alice transmits y = ((8,3),(10,2))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b Decryp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F8D4-A970-8C7E-0C4C-2FF767797CC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Bob Decrypts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05BB5-130B-D2E3-CBD7-6E7CFC549A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lnSpc>
                <a:spcPct val="8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 sz="3000"/>
              <a:t>Bob receives y = ((8,3),(10,2))</a:t>
            </a:r>
          </a:p>
          <a:p>
            <a:pPr lvl="0">
              <a:lnSpc>
                <a:spcPct val="80000"/>
              </a:lnSpc>
              <a:spcBef>
                <a:spcPts val="800"/>
              </a:spcBef>
              <a:buSzPct val="45000"/>
              <a:buFont typeface="StarSymbol"/>
              <a:buChar char="●"/>
            </a:pPr>
            <a:r>
              <a:rPr lang="en-US" sz="3000"/>
              <a:t>Calculates</a:t>
            </a:r>
          </a:p>
          <a:p>
            <a:pPr marL="342717" lvl="0" indent="-342717">
              <a:lnSpc>
                <a:spcPct val="8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000"/>
              <a:t>			     x = (10,2) – 7(8,3)</a:t>
            </a:r>
          </a:p>
          <a:p>
            <a:pPr marL="342717" lvl="0" indent="-342717">
              <a:lnSpc>
                <a:spcPct val="8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000"/>
              <a:t>                     	= (10,2) – (3,5)</a:t>
            </a:r>
          </a:p>
          <a:p>
            <a:pPr marL="342717" lvl="0" indent="-342717">
              <a:lnSpc>
                <a:spcPct val="8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000"/>
              <a:t>				= (10,2) + (3,6)</a:t>
            </a:r>
          </a:p>
          <a:p>
            <a:pPr marL="342717" lvl="0" indent="-342717">
              <a:lnSpc>
                <a:spcPct val="80000"/>
              </a:lnSpc>
              <a:spcBef>
                <a:spcPts val="800"/>
              </a:spcBef>
              <a:tabLst>
                <a:tab pos="342717" algn="l"/>
                <a:tab pos="914034" algn="l"/>
                <a:tab pos="1828434" algn="l"/>
                <a:tab pos="2742834" algn="l"/>
                <a:tab pos="3657234" algn="l"/>
                <a:tab pos="4571634" algn="l"/>
                <a:tab pos="5486034" algn="l"/>
                <a:tab pos="6400434" algn="l"/>
                <a:tab pos="7314834" algn="l"/>
                <a:tab pos="8229234" algn="l"/>
                <a:tab pos="9143634" algn="l"/>
                <a:tab pos="10058034" algn="l"/>
              </a:tabLst>
            </a:pPr>
            <a:r>
              <a:rPr lang="en-US" sz="3000"/>
              <a:t>				= (10,9)   </a:t>
            </a:r>
          </a:p>
          <a:p>
            <a:pPr marL="342717" lvl="0" indent="-342717">
              <a:lnSpc>
                <a:spcPct val="80000"/>
              </a:lnSpc>
              <a:spcBef>
                <a:spcPts val="800"/>
              </a:spcBef>
            </a:pPr>
            <a:r>
              <a:rPr lang="en-US" sz="3000"/>
              <a:t>Which was the plaintext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al example from the N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73759-FE1D-D10A-AD01-2173EB2B41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241200"/>
            <a:ext cx="9072000" cy="1144801"/>
          </a:xfrm>
        </p:spPr>
        <p:txBody>
          <a:bodyPr lIns="90004" tIns="46798" rIns="90004" bIns="46798"/>
          <a:lstStyle/>
          <a:p>
            <a:pPr lvl="0"/>
            <a:r>
              <a:rPr lang="en-US"/>
              <a:t>Real example from the NSA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B8187-7F57-B373-62BC-733D62FE6A6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574999"/>
            <a:ext cx="9072000" cy="3401997"/>
          </a:xfrm>
        </p:spPr>
        <p:txBody>
          <a:bodyPr lIns="90004" tIns="46798" rIns="90004" bIns="46798"/>
          <a:lstStyle/>
          <a:p>
            <a:pPr lvl="0">
              <a:lnSpc>
                <a:spcPct val="70000"/>
              </a:lnSpc>
              <a:spcBef>
                <a:spcPts val="450"/>
              </a:spcBef>
              <a:buSzPct val="45000"/>
              <a:buFont typeface="StarSymbol"/>
              <a:buChar char="●"/>
            </a:pPr>
            <a:r>
              <a:rPr lang="en-US" sz="1800" b="1"/>
              <a:t>Curve P-192</a:t>
            </a:r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endParaRPr lang="en-US" sz="1800"/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r>
              <a:rPr lang="en-US" sz="1800"/>
              <a:t>p = 62771017353866807638578942320766641608390870039024961279</a:t>
            </a:r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endParaRPr lang="en-US" sz="1800"/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r>
              <a:rPr lang="en-US" sz="1800"/>
              <a:t>r = 627710173538668076385789423176059013767194773182842284081</a:t>
            </a:r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endParaRPr lang="en-US" sz="1800"/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r>
              <a:rPr lang="en-US" sz="1800"/>
              <a:t>a = 3099d2bb bfcb2538 542dcd5f b078b6ef 5f3d6fe2 c745de65</a:t>
            </a:r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endParaRPr lang="en-US" sz="1800"/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r>
              <a:rPr lang="en-US" sz="1800"/>
              <a:t>b = 64210519 e59c80e7 0fa7e9ab 72243049 feb8deec c146b9b1</a:t>
            </a:r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endParaRPr lang="en-US" sz="1800"/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r>
              <a:rPr lang="en-US" sz="1800"/>
              <a:t>G</a:t>
            </a:r>
            <a:r>
              <a:rPr lang="en-US" sz="1800" baseline="-25000"/>
              <a:t>x</a:t>
            </a:r>
            <a:r>
              <a:rPr lang="en-US" sz="1800"/>
              <a:t> = 188da89e b03090f6 7cbf20eb 43a18800 f4ff0afd 82ff1012</a:t>
            </a:r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endParaRPr lang="en-US" sz="1800"/>
          </a:p>
          <a:p>
            <a:pPr marL="342717" lvl="0" indent="-342717">
              <a:lnSpc>
                <a:spcPct val="70000"/>
              </a:lnSpc>
              <a:spcBef>
                <a:spcPts val="450"/>
              </a:spcBef>
            </a:pPr>
            <a:r>
              <a:rPr lang="en-US" sz="1800"/>
              <a:t>G</a:t>
            </a:r>
            <a:r>
              <a:rPr lang="en-US" sz="1800" baseline="-25000"/>
              <a:t>y</a:t>
            </a:r>
            <a:r>
              <a:rPr lang="en-US" sz="1800"/>
              <a:t> = 07192b95 ffc8da78 631011ed 6b24cdd5 73f977a1 1e794811</a:t>
            </a:r>
          </a:p>
          <a:p>
            <a:pPr lvl="0">
              <a:lnSpc>
                <a:spcPct val="70000"/>
              </a:lnSpc>
              <a:spcBef>
                <a:spcPts val="450"/>
              </a:spcBef>
            </a:pP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3874</Words>
  <Application>Microsoft Office PowerPoint</Application>
  <PresentationFormat>Widescreen</PresentationFormat>
  <Paragraphs>596</Paragraphs>
  <Slides>86</Slides>
  <Notes>83</Notes>
  <HiddenSlides>6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7" baseType="lpstr">
      <vt:lpstr>Arial</vt:lpstr>
      <vt:lpstr>Arial Unicode MS</vt:lpstr>
      <vt:lpstr>Calibri</vt:lpstr>
      <vt:lpstr>Liberation Sans</vt:lpstr>
      <vt:lpstr>Liberation Serif</vt:lpstr>
      <vt:lpstr>StarSymbol</vt:lpstr>
      <vt:lpstr>Symbol</vt:lpstr>
      <vt:lpstr>Tahoma</vt:lpstr>
      <vt:lpstr>Times New Roman</vt:lpstr>
      <vt:lpstr>Wingdings</vt:lpstr>
      <vt:lpstr>Default</vt:lpstr>
      <vt:lpstr>PowerPoint Presentation</vt:lpstr>
      <vt:lpstr>Kunci</vt:lpstr>
      <vt:lpstr>Kanal Aman : Kunci Bersama</vt:lpstr>
      <vt:lpstr>Blok Cipher</vt:lpstr>
      <vt:lpstr>Kriptografi Kunci Simetrik</vt:lpstr>
      <vt:lpstr>Notasi Kunci</vt:lpstr>
      <vt:lpstr>Mode Cipher Blok</vt:lpstr>
      <vt:lpstr>Mode Electronic Code Book (ECB)</vt:lpstr>
      <vt:lpstr>Mode Cipher Block Chaining (CBC)</vt:lpstr>
      <vt:lpstr>Hasil ECB &amp; CBC</vt:lpstr>
      <vt:lpstr>Mode Output Feedback (OFB)</vt:lpstr>
      <vt:lpstr>Mode Cipher Feedback (CFB)</vt:lpstr>
      <vt:lpstr>Ciphertext Function Module</vt:lpstr>
      <vt:lpstr>Ciphertext Stream Module</vt:lpstr>
      <vt:lpstr>Jaringan Feistel</vt:lpstr>
      <vt:lpstr>Jaringan Feistel : Ronde Satu</vt:lpstr>
      <vt:lpstr>Jaringan Feistel : n Ronde</vt:lpstr>
      <vt:lpstr>Data Encryption Standard (DES)</vt:lpstr>
      <vt:lpstr>Arsitektur DES</vt:lpstr>
      <vt:lpstr>Arsitektur DES</vt:lpstr>
      <vt:lpstr>Pemrosesan Kunci (Key Processor)</vt:lpstr>
      <vt:lpstr>Pola Permutasi Awal (Initial Permutation - IP)</vt:lpstr>
      <vt:lpstr>PC-1</vt:lpstr>
      <vt:lpstr>PC-2</vt:lpstr>
      <vt:lpstr>Blok Iterasi</vt:lpstr>
      <vt:lpstr>Fungsi 32 bit kanan dan kunci</vt:lpstr>
      <vt:lpstr>Fungsi E</vt:lpstr>
      <vt:lpstr>S-Box DES</vt:lpstr>
      <vt:lpstr>Fungsi S</vt:lpstr>
      <vt:lpstr>Fungsi S</vt:lpstr>
      <vt:lpstr>Fungsi S (S1 – S8)</vt:lpstr>
      <vt:lpstr>Dekripsi DES</vt:lpstr>
      <vt:lpstr>Kekurangan DES</vt:lpstr>
      <vt:lpstr>Triple-DES</vt:lpstr>
      <vt:lpstr>Pemilihan Kunci</vt:lpstr>
      <vt:lpstr>AES-Rijndael</vt:lpstr>
      <vt:lpstr>AES-Rijndael</vt:lpstr>
      <vt:lpstr>AES-Rijndael</vt:lpstr>
      <vt:lpstr>AES-Rijndael (Sub-bytes)</vt:lpstr>
      <vt:lpstr>AES-Rijndael (Shift Rows)</vt:lpstr>
      <vt:lpstr>AES-Rijndael (Mix Columns)</vt:lpstr>
      <vt:lpstr>AES-Rijndael (Add Round Keys)</vt:lpstr>
      <vt:lpstr>Kesimpulan Kunci Simetrik</vt:lpstr>
      <vt:lpstr>Kriptografi Kunci Asimetrik</vt:lpstr>
      <vt:lpstr>Kriptografi Kunci Asimetrik</vt:lpstr>
      <vt:lpstr>Notasi Kunci</vt:lpstr>
      <vt:lpstr>Pro &amp; Kontra untuk Kriptografi Kunci Asimetrik</vt:lpstr>
      <vt:lpstr>Algoritma RSA</vt:lpstr>
      <vt:lpstr>RSA</vt:lpstr>
      <vt:lpstr>Kunci RSA</vt:lpstr>
      <vt:lpstr>Kriptografi Kunci Asimetrik</vt:lpstr>
      <vt:lpstr>RSA : Pemilihan Kunci</vt:lpstr>
      <vt:lpstr>Generate Kunci</vt:lpstr>
      <vt:lpstr>PowerPoint Presentation</vt:lpstr>
      <vt:lpstr>Contoh RSA</vt:lpstr>
      <vt:lpstr>RSA</vt:lpstr>
      <vt:lpstr>Cara Menghasilkan Bilangan Prima</vt:lpstr>
      <vt:lpstr>Penggunaan Lain Kripto Kunci Asimetrik</vt:lpstr>
      <vt:lpstr>Kriptografi Kunci Hybrid</vt:lpstr>
      <vt:lpstr>Homomorphic Encryption</vt:lpstr>
      <vt:lpstr>Pertukaran kunci Delfie-Helmann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Permasalahan</vt:lpstr>
      <vt:lpstr>Elliptic Curve (Kurva Eliptik)</vt:lpstr>
      <vt:lpstr>Singular Elliptic Curve</vt:lpstr>
      <vt:lpstr>Group</vt:lpstr>
      <vt:lpstr>Grup Abelian</vt:lpstr>
      <vt:lpstr>3 Cases for Solutions</vt:lpstr>
      <vt:lpstr>Defining Addition on E: Case 1</vt:lpstr>
      <vt:lpstr>Defining Addition on E : Case 2</vt:lpstr>
      <vt:lpstr>Defining Addition on E : Case 3</vt:lpstr>
      <vt:lpstr>Defining the Identity</vt:lpstr>
      <vt:lpstr>Elliptic Curves modulo p</vt:lpstr>
      <vt:lpstr>Contoh</vt:lpstr>
      <vt:lpstr>Generating our group</vt:lpstr>
      <vt:lpstr>The Group</vt:lpstr>
      <vt:lpstr>Encryption Rules</vt:lpstr>
      <vt:lpstr>Decryption Rule</vt:lpstr>
      <vt:lpstr>Using this Scheme</vt:lpstr>
      <vt:lpstr>Bob Decrypts</vt:lpstr>
      <vt:lpstr>Real example from the NSA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omyud</dc:creator>
  <cp:lastModifiedBy>MUHAMMAD AL QARNIE</cp:lastModifiedBy>
  <cp:revision>56</cp:revision>
  <dcterms:created xsi:type="dcterms:W3CDTF">2018-08-26T22:56:21Z</dcterms:created>
  <dcterms:modified xsi:type="dcterms:W3CDTF">2026-03-15T16:34:23Z</dcterms:modified>
</cp:coreProperties>
</file>