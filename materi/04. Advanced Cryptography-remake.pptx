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6"/>
  </p:notesMasterIdLst>
  <p:handoutMasterIdLst>
    <p:handoutMasterId r:id="rId5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</p:sldIdLst>
  <p:sldSz cx="10080625" cy="5670550"/>
  <p:notesSz cx="7559675" cy="10691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D3E1C5-3330-25FB-FE00-F2A5620A464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>
            <a:lvl1pPr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4DD88-CCA8-D47C-5541-56FD02EB632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313" y="0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Ctr="0" compatLnSpc="0">
            <a:noAutofit/>
          </a:bodyPr>
          <a:lstStyle>
            <a:lvl1pPr algn="r"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89BFE-8EBA-DEB7-638A-55677D77AEA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6825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>
            <a:lvl1pPr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DFCD7-0514-8001-770A-6E94D13AA92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anchor="b" anchorCtr="0" compatLnSpc="0">
            <a:noAutofit/>
          </a:bodyPr>
          <a:lstStyle>
            <a:lvl1pPr algn="r" eaLnBrk="1" fontAlgn="auto">
              <a:spcBef>
                <a:spcPts val="0"/>
              </a:spcBef>
              <a:spcAft>
                <a:spcPts val="0"/>
              </a:spcAft>
              <a:defRPr sz="1400"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 sz="1400"/>
            </a:pPr>
            <a:fld id="{AA0BB6F0-F633-4B85-A0CB-FF47A47AB73A}" type="slidenum">
              <a:rPr lang="en-US"/>
              <a:pPr>
                <a:defRPr sz="1400"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Image Placeholder 1">
            <a:extLst>
              <a:ext uri="{FF2B5EF4-FFF2-40B4-BE49-F238E27FC236}">
                <a16:creationId xmlns:a16="http://schemas.microsoft.com/office/drawing/2014/main" id="{FAD4A28E-D578-AE6E-74ED-A0A4EF35538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15900" y="812800"/>
            <a:ext cx="7127875" cy="400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8A795-0E4F-67B9-6921-D30EDEC20F4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lvl="0"/>
            <a:endParaRPr lang="en-US" noProof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B509903-5F04-04BF-C649-2E11B0A074E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BC877-24A8-22D0-8061-FCBAB25C5B2C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313" y="0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166E7-1F1E-9FB4-CB10-754DC92223B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6825"/>
            <a:ext cx="3281363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20B17-C25F-CF08-ADFC-5C2FB58807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C8862BA3-73A9-4837-80A2-D20B7A1D7060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15900" indent="-215900" algn="l" rtl="0" eaLnBrk="0" fontAlgn="base" hangingPunct="0">
      <a:spcBef>
        <a:spcPct val="30000"/>
      </a:spcBef>
      <a:spcAft>
        <a:spcPct val="0"/>
      </a:spcAft>
      <a:defRPr lang="en-US" sz="2000" kern="1200">
        <a:solidFill>
          <a:schemeClr val="tx1"/>
        </a:solidFill>
        <a:highlight>
          <a:scrgbClr r="0" g="0" b="0">
            <a:alpha val="0"/>
          </a:scrgbClr>
        </a:highlight>
        <a:latin typeface="Liberation Sans" pitchFamily="18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6">
            <a:extLst>
              <a:ext uri="{FF2B5EF4-FFF2-40B4-BE49-F238E27FC236}">
                <a16:creationId xmlns:a16="http://schemas.microsoft.com/office/drawing/2014/main" id="{7EE4A88A-BF31-E7CF-1CBF-9E177A6785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082FAB-BBCF-4D1F-9902-A00CD65A518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147" name="Slide Image Placeholder 1">
            <a:extLst>
              <a:ext uri="{FF2B5EF4-FFF2-40B4-BE49-F238E27FC236}">
                <a16:creationId xmlns:a16="http://schemas.microsoft.com/office/drawing/2014/main" id="{77492B91-5F13-EE70-141E-33AE961AF6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C7BD1-DE79-A75D-ACB6-D46CB5D4F71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6">
            <a:extLst>
              <a:ext uri="{FF2B5EF4-FFF2-40B4-BE49-F238E27FC236}">
                <a16:creationId xmlns:a16="http://schemas.microsoft.com/office/drawing/2014/main" id="{C04F85AF-0EB6-0487-B769-3405E9D42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51AD58-FC5C-4575-AA69-5CA0AA2DA7A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195" name="Slide Image Placeholder 1">
            <a:extLst>
              <a:ext uri="{FF2B5EF4-FFF2-40B4-BE49-F238E27FC236}">
                <a16:creationId xmlns:a16="http://schemas.microsoft.com/office/drawing/2014/main" id="{48E0B62C-24C1-E9A1-28FB-7193BFAB42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B7C0A-0693-97FE-B258-9C1BDA5CFFE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6">
            <a:extLst>
              <a:ext uri="{FF2B5EF4-FFF2-40B4-BE49-F238E27FC236}">
                <a16:creationId xmlns:a16="http://schemas.microsoft.com/office/drawing/2014/main" id="{ECB5C00F-9960-2ECA-AC5F-C92DD96EB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B031D5-CACF-4D5B-849A-61FEB796A357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243" name="Slide Image Placeholder 1">
            <a:extLst>
              <a:ext uri="{FF2B5EF4-FFF2-40B4-BE49-F238E27FC236}">
                <a16:creationId xmlns:a16="http://schemas.microsoft.com/office/drawing/2014/main" id="{F00BF9AB-BC4E-959F-6B6A-C5B7DBCD39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19B3A-AE25-AECD-05AC-947EB213F5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6">
            <a:extLst>
              <a:ext uri="{FF2B5EF4-FFF2-40B4-BE49-F238E27FC236}">
                <a16:creationId xmlns:a16="http://schemas.microsoft.com/office/drawing/2014/main" id="{98762673-1A5B-D9CD-79C1-017AAFC0E6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0920CCF-965F-445D-9345-4C31642966BD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2291" name="Slide Image Placeholder 1">
            <a:extLst>
              <a:ext uri="{FF2B5EF4-FFF2-40B4-BE49-F238E27FC236}">
                <a16:creationId xmlns:a16="http://schemas.microsoft.com/office/drawing/2014/main" id="{3BC3FB4E-1463-75BF-1323-217784F118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7F362-DB5E-F61A-FF50-0B1F9BD4E1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6">
            <a:extLst>
              <a:ext uri="{FF2B5EF4-FFF2-40B4-BE49-F238E27FC236}">
                <a16:creationId xmlns:a16="http://schemas.microsoft.com/office/drawing/2014/main" id="{B87AE225-8F5A-C051-01DA-20CDDCFCA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95B43C-7A42-4E57-B441-E076DDE9B33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4339" name="Slide Image Placeholder 1">
            <a:extLst>
              <a:ext uri="{FF2B5EF4-FFF2-40B4-BE49-F238E27FC236}">
                <a16:creationId xmlns:a16="http://schemas.microsoft.com/office/drawing/2014/main" id="{C11C3FCB-256D-337A-D372-6D11563B02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DF667-C460-81A3-CB27-6BFC53F237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>
            <a:extLst>
              <a:ext uri="{FF2B5EF4-FFF2-40B4-BE49-F238E27FC236}">
                <a16:creationId xmlns:a16="http://schemas.microsoft.com/office/drawing/2014/main" id="{111C0BCB-5B00-3A16-EAB9-ED8C80EEC0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5A3093-0573-4D87-BD81-A02C479E6EEB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7411" name="Slide Image Placeholder 1">
            <a:extLst>
              <a:ext uri="{FF2B5EF4-FFF2-40B4-BE49-F238E27FC236}">
                <a16:creationId xmlns:a16="http://schemas.microsoft.com/office/drawing/2014/main" id="{9CCF97FC-F213-3B24-A93E-03F82511F3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34470-A58A-A4A8-DBD2-A0F111BDD31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>
            <a:extLst>
              <a:ext uri="{FF2B5EF4-FFF2-40B4-BE49-F238E27FC236}">
                <a16:creationId xmlns:a16="http://schemas.microsoft.com/office/drawing/2014/main" id="{63FA8D50-20FD-DF17-C8D5-24806CB6E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9991D25-FC14-408D-9F79-7E8BF471E0C8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9459" name="Slide Image Placeholder 1">
            <a:extLst>
              <a:ext uri="{FF2B5EF4-FFF2-40B4-BE49-F238E27FC236}">
                <a16:creationId xmlns:a16="http://schemas.microsoft.com/office/drawing/2014/main" id="{109DF3BE-0B0F-95E3-1CE9-ED495D27F7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3E139-154D-3CEE-1F9D-E04BB0BD95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>
            <a:extLst>
              <a:ext uri="{FF2B5EF4-FFF2-40B4-BE49-F238E27FC236}">
                <a16:creationId xmlns:a16="http://schemas.microsoft.com/office/drawing/2014/main" id="{053AE90F-C978-DA07-BA69-561D7E284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34B12E4-35D8-4C91-8B24-6ECCDA0F5D3D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C31B2F3-D93F-7365-5759-B98F7CFD4DE7}"/>
              </a:ext>
            </a:extLst>
          </p:cNvPr>
          <p:cNvSpPr/>
          <p:nvPr/>
        </p:nvSpPr>
        <p:spPr>
          <a:xfrm>
            <a:off x="4281488" y="10155238"/>
            <a:ext cx="3276600" cy="53498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anchor="b" compatLnSpc="0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476FF1C-1D5A-4D36-8FE4-64B2A25F5F77}" type="slidenum">
              <a:rPr lang="en-US" sz="1200">
                <a:latin typeface="Liberation Sans" pitchFamily="18"/>
                <a:ea typeface="Noto Sans CJK SC Regular" pitchFamily="2"/>
                <a:cs typeface="FreeSans" pitchFamily="2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en-US" sz="1200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1508" name="Slide Image Placeholder 2">
            <a:extLst>
              <a:ext uri="{FF2B5EF4-FFF2-40B4-BE49-F238E27FC236}">
                <a16:creationId xmlns:a16="http://schemas.microsoft.com/office/drawing/2014/main" id="{945D7514-7774-FE95-73C8-6559E4676E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4" name="Notes Placeholder 3">
            <a:extLst>
              <a:ext uri="{FF2B5EF4-FFF2-40B4-BE49-F238E27FC236}">
                <a16:creationId xmlns:a16="http://schemas.microsoft.com/office/drawing/2014/main" id="{7F1C506A-02C5-3B3B-6623-F7EE2964D6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wrap="square" lIns="91440" tIns="45720" rIns="91440" bIns="45720" anchor="t" anchorCtr="0" compatLnSpc="1">
            <a:noAutofit/>
          </a:bodyPr>
          <a:lstStyle/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280">
                <a:solidFill>
                  <a:srgbClr val="000000"/>
                </a:solidFill>
                <a:latin typeface="Arial" pitchFamily="34"/>
              </a:rPr>
              <a:t>account:coded password data:uid:gid:GCOS-field:homedir:shell</a:t>
            </a:r>
          </a:p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3280">
              <a:solidFill>
                <a:srgbClr val="000000"/>
              </a:solidFill>
              <a:latin typeface="Arial" pitchFamily="34"/>
            </a:endParaRPr>
          </a:p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280">
                <a:solidFill>
                  <a:srgbClr val="808080"/>
                </a:solidFill>
                <a:latin typeface="Arial" pitchFamily="34"/>
              </a:rPr>
              <a:t>Salt: 12 bits encoded in 2 bytes</a:t>
            </a:r>
          </a:p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280">
                <a:solidFill>
                  <a:srgbClr val="808080"/>
                </a:solidFill>
                <a:latin typeface="Arial" pitchFamily="34"/>
              </a:rPr>
              <a:t>Ciphertext: 11 bytes</a:t>
            </a:r>
          </a:p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3280">
              <a:solidFill>
                <a:srgbClr val="808080"/>
              </a:solidFill>
              <a:latin typeface="Arial" pitchFamily="34"/>
            </a:endParaRPr>
          </a:p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280">
                <a:solidFill>
                  <a:srgbClr val="808080"/>
                </a:solidFill>
                <a:latin typeface="Arial" pitchFamily="34"/>
              </a:rPr>
              <a:t>It is much harder to infer the key than to infer the clear text.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6">
            <a:extLst>
              <a:ext uri="{FF2B5EF4-FFF2-40B4-BE49-F238E27FC236}">
                <a16:creationId xmlns:a16="http://schemas.microsoft.com/office/drawing/2014/main" id="{55D52B93-605B-29A0-2910-9E4B4EED90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26E84DD-4585-4435-AA40-2DC45743CCF1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3555" name="Slide Image Placeholder 1">
            <a:extLst>
              <a:ext uri="{FF2B5EF4-FFF2-40B4-BE49-F238E27FC236}">
                <a16:creationId xmlns:a16="http://schemas.microsoft.com/office/drawing/2014/main" id="{C01A1299-81FF-2D6A-DB95-67008F9569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77531-1666-ECCA-FF7D-C12067D412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6">
            <a:extLst>
              <a:ext uri="{FF2B5EF4-FFF2-40B4-BE49-F238E27FC236}">
                <a16:creationId xmlns:a16="http://schemas.microsoft.com/office/drawing/2014/main" id="{7DB3791F-DCCB-8C6C-83AF-79DDCA6353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7477D5C-C912-4844-9D9A-558E80624FF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5603" name="Slide Image Placeholder 1">
            <a:extLst>
              <a:ext uri="{FF2B5EF4-FFF2-40B4-BE49-F238E27FC236}">
                <a16:creationId xmlns:a16="http://schemas.microsoft.com/office/drawing/2014/main" id="{4095339A-20AA-ACBC-CA24-F199C1C939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DD9A9-4C36-5805-7CEB-1F4B977667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C6077A7E-EE02-5A47-2470-C8A1C6D10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C8CAA6-6A56-4E08-95C8-4B2ED4C9CE6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7651" name="Slide Image Placeholder 1">
            <a:extLst>
              <a:ext uri="{FF2B5EF4-FFF2-40B4-BE49-F238E27FC236}">
                <a16:creationId xmlns:a16="http://schemas.microsoft.com/office/drawing/2014/main" id="{25FDCA49-BF46-1218-B763-9CA1F7118A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E1816-1BAA-02AE-634A-6D37198882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6">
            <a:extLst>
              <a:ext uri="{FF2B5EF4-FFF2-40B4-BE49-F238E27FC236}">
                <a16:creationId xmlns:a16="http://schemas.microsoft.com/office/drawing/2014/main" id="{333B537A-9010-A61F-6DFC-F94729688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A6D5BDF-346A-457F-870B-F3478A17BA2D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9699" name="Slide Image Placeholder 1">
            <a:extLst>
              <a:ext uri="{FF2B5EF4-FFF2-40B4-BE49-F238E27FC236}">
                <a16:creationId xmlns:a16="http://schemas.microsoft.com/office/drawing/2014/main" id="{F974BE03-19D4-720B-C9A5-8A1B3ACDCA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C6614-94F6-D6EF-BECB-99F4761EE4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6">
            <a:extLst>
              <a:ext uri="{FF2B5EF4-FFF2-40B4-BE49-F238E27FC236}">
                <a16:creationId xmlns:a16="http://schemas.microsoft.com/office/drawing/2014/main" id="{60B3531D-1C0B-A584-C8D9-9FA148C7FF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90CC6B4-6429-4FE4-A989-6E49F0BAA78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1747" name="Slide Image Placeholder 1">
            <a:extLst>
              <a:ext uri="{FF2B5EF4-FFF2-40B4-BE49-F238E27FC236}">
                <a16:creationId xmlns:a16="http://schemas.microsoft.com/office/drawing/2014/main" id="{45F3BB04-2724-D6A2-267B-05A35220B7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B922C-FCC9-2FF3-319D-08D1CBC061F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6">
            <a:extLst>
              <a:ext uri="{FF2B5EF4-FFF2-40B4-BE49-F238E27FC236}">
                <a16:creationId xmlns:a16="http://schemas.microsoft.com/office/drawing/2014/main" id="{554DE0C7-09CF-508F-FC31-50103D71C1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541838-AB16-41FD-BBFD-0C44BCFCEE3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3795" name="Slide Image Placeholder 1">
            <a:extLst>
              <a:ext uri="{FF2B5EF4-FFF2-40B4-BE49-F238E27FC236}">
                <a16:creationId xmlns:a16="http://schemas.microsoft.com/office/drawing/2014/main" id="{87F34200-3ADB-F900-DB0E-D164DFC6BE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63A30-E413-2D25-CEE5-1DD54772219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13D33E94-86AD-25F0-756C-3ADD2E3B1A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194F17-1DEC-4B1F-859C-3D7353B6FBD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5843" name="Slide Image Placeholder 1">
            <a:extLst>
              <a:ext uri="{FF2B5EF4-FFF2-40B4-BE49-F238E27FC236}">
                <a16:creationId xmlns:a16="http://schemas.microsoft.com/office/drawing/2014/main" id="{E05625B7-964B-7673-BBC2-969FC8BE6C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74635-AFBA-D633-51C3-1CE57B868C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>
            <a:extLst>
              <a:ext uri="{FF2B5EF4-FFF2-40B4-BE49-F238E27FC236}">
                <a16:creationId xmlns:a16="http://schemas.microsoft.com/office/drawing/2014/main" id="{3ECE39AD-589E-328B-CDC5-C7F52B556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14D24D-B0BD-4D75-B7A3-FF4EB3FE7A7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7891" name="Slide Image Placeholder 1">
            <a:extLst>
              <a:ext uri="{FF2B5EF4-FFF2-40B4-BE49-F238E27FC236}">
                <a16:creationId xmlns:a16="http://schemas.microsoft.com/office/drawing/2014/main" id="{8094C7C7-2CA3-B526-2D72-FB2615E216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34088-612C-9952-DB6B-8B96594422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6BEBAE04-A5A8-C77C-A584-D3D332A6B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79B2F77-0D62-4DE5-9DA6-EA2761D3110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39939" name="Slide Image Placeholder 1">
            <a:extLst>
              <a:ext uri="{FF2B5EF4-FFF2-40B4-BE49-F238E27FC236}">
                <a16:creationId xmlns:a16="http://schemas.microsoft.com/office/drawing/2014/main" id="{65633AC0-B3FE-3695-C1E6-67A73D1B46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52885-1D57-F924-735B-BDE13A1A36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6">
            <a:extLst>
              <a:ext uri="{FF2B5EF4-FFF2-40B4-BE49-F238E27FC236}">
                <a16:creationId xmlns:a16="http://schemas.microsoft.com/office/drawing/2014/main" id="{5B599C66-7AD4-4792-2C21-7D3113AD5F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E953C50-6B4C-4AB7-8905-44ECC1E77F38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1987" name="Slide Image Placeholder 1">
            <a:extLst>
              <a:ext uri="{FF2B5EF4-FFF2-40B4-BE49-F238E27FC236}">
                <a16:creationId xmlns:a16="http://schemas.microsoft.com/office/drawing/2014/main" id="{929BAB5D-2F0E-A570-B993-385BE2D0EA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D4D80-611E-30FC-3B41-EF07EA94D0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>
            <a:extLst>
              <a:ext uri="{FF2B5EF4-FFF2-40B4-BE49-F238E27FC236}">
                <a16:creationId xmlns:a16="http://schemas.microsoft.com/office/drawing/2014/main" id="{482D3F1C-0D65-7421-18A6-06E277B937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9FA8542-073C-41DD-B1EE-A3B668D0849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C277282D-A126-33E9-5705-B996D3F74B68}"/>
              </a:ext>
            </a:extLst>
          </p:cNvPr>
          <p:cNvSpPr/>
          <p:nvPr/>
        </p:nvSpPr>
        <p:spPr>
          <a:xfrm>
            <a:off x="4281488" y="10155238"/>
            <a:ext cx="3276600" cy="53498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anchor="b" compatLnSpc="0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325A6D6-B4C8-4D03-A430-0F6A3C641810}" type="slidenum">
              <a:rPr lang="en-US" sz="1200">
                <a:latin typeface="Liberation Sans" pitchFamily="18"/>
                <a:ea typeface="Noto Sans CJK SC Regular" pitchFamily="2"/>
                <a:cs typeface="FreeSans" pitchFamily="2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</a:t>
            </a:fld>
            <a:endParaRPr lang="en-US" sz="1200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44036" name="Slide Image Placeholder 2">
            <a:extLst>
              <a:ext uri="{FF2B5EF4-FFF2-40B4-BE49-F238E27FC236}">
                <a16:creationId xmlns:a16="http://schemas.microsoft.com/office/drawing/2014/main" id="{5D348861-62B4-C7D7-5B9B-3E55D0A0A6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4" name="Notes Placeholder 3">
            <a:extLst>
              <a:ext uri="{FF2B5EF4-FFF2-40B4-BE49-F238E27FC236}">
                <a16:creationId xmlns:a16="http://schemas.microsoft.com/office/drawing/2014/main" id="{2F66ECBA-C630-89CF-8CD6-38CCEF5E6E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wrap="square" lIns="91440" tIns="45720" rIns="91440" bIns="45720" anchor="t" anchorCtr="0" compatLnSpc="1">
            <a:noAutofit/>
          </a:bodyPr>
          <a:lstStyle/>
          <a:p>
            <a:pPr marL="0" indent="0" eaLnBrk="1" fontAlgn="auto" hangingPunct="1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1400">
                <a:solidFill>
                  <a:srgbClr val="000000"/>
                </a:solidFill>
                <a:latin typeface="Arial" pitchFamily="34"/>
              </a:rPr>
              <a:t>Masquerade attack?  No, unless A and B want to communicate simulatenously.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6">
            <a:extLst>
              <a:ext uri="{FF2B5EF4-FFF2-40B4-BE49-F238E27FC236}">
                <a16:creationId xmlns:a16="http://schemas.microsoft.com/office/drawing/2014/main" id="{88305C4B-37BE-FF3B-DD31-C2BCA98C1F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2B2E39-162A-4D49-A91F-9A5FEEB1E7B7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6083" name="Slide Image Placeholder 1">
            <a:extLst>
              <a:ext uri="{FF2B5EF4-FFF2-40B4-BE49-F238E27FC236}">
                <a16:creationId xmlns:a16="http://schemas.microsoft.com/office/drawing/2014/main" id="{370E95C2-7AB2-479E-E201-0A4F81CA76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01688"/>
            <a:ext cx="7126287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1EB0B-4220-68C1-7858-580E56007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compatLnSpc="1"/>
          <a:lstStyle/>
          <a:p>
            <a:pPr marL="0" indent="0" eaLnBrk="1" fontAlgn="auto">
              <a:spcBef>
                <a:spcPts val="448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sz="2810">
              <a:solidFill>
                <a:srgbClr val="000000"/>
              </a:solidFill>
              <a:latin typeface="Arial" pitchFamily="3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6">
            <a:extLst>
              <a:ext uri="{FF2B5EF4-FFF2-40B4-BE49-F238E27FC236}">
                <a16:creationId xmlns:a16="http://schemas.microsoft.com/office/drawing/2014/main" id="{3182F649-66D1-2116-2624-7FB803A2A7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3FD635C-9650-46A3-BFB0-10ECF0F799B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48131" name="Slide Image Placeholder 1">
            <a:extLst>
              <a:ext uri="{FF2B5EF4-FFF2-40B4-BE49-F238E27FC236}">
                <a16:creationId xmlns:a16="http://schemas.microsoft.com/office/drawing/2014/main" id="{40D182BB-6554-0871-4163-84F6447EC8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5900" y="801688"/>
            <a:ext cx="7127875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27485-CD1F-9FCF-88AC-0A85757FF8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8063" y="5078413"/>
            <a:ext cx="5543550" cy="4810125"/>
          </a:xfrm>
        </p:spPr>
        <p:txBody>
          <a:bodyPr anchor="t" anchorCtr="0"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6">
            <a:extLst>
              <a:ext uri="{FF2B5EF4-FFF2-40B4-BE49-F238E27FC236}">
                <a16:creationId xmlns:a16="http://schemas.microsoft.com/office/drawing/2014/main" id="{C835FE99-1164-C290-618D-DC67A91591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C5072-8657-4818-90F3-15AF88E6AA0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0179" name="Slide Image Placeholder 1">
            <a:extLst>
              <a:ext uri="{FF2B5EF4-FFF2-40B4-BE49-F238E27FC236}">
                <a16:creationId xmlns:a16="http://schemas.microsoft.com/office/drawing/2014/main" id="{6992698C-0B6B-A76A-B709-84AD730BAD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5900" y="801688"/>
            <a:ext cx="7127875" cy="4010025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9E734-F3AE-1F8A-1861-E667BDC39A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1008063" y="5078413"/>
            <a:ext cx="5543550" cy="4810125"/>
          </a:xfrm>
        </p:spPr>
        <p:txBody>
          <a:bodyPr anchor="t" anchorCtr="0"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6">
            <a:extLst>
              <a:ext uri="{FF2B5EF4-FFF2-40B4-BE49-F238E27FC236}">
                <a16:creationId xmlns:a16="http://schemas.microsoft.com/office/drawing/2014/main" id="{35D00EAE-3D9C-DD2C-6D24-8FF9F80AFD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E8A480-CDD7-40C9-990A-021FDC13FB93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2227" name="Slide Image Placeholder 1">
            <a:extLst>
              <a:ext uri="{FF2B5EF4-FFF2-40B4-BE49-F238E27FC236}">
                <a16:creationId xmlns:a16="http://schemas.microsoft.com/office/drawing/2014/main" id="{2FF31658-05DC-6E22-61D3-E39E19D725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D8F5D-2349-D8FF-ABF1-573B3C970D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6">
            <a:extLst>
              <a:ext uri="{FF2B5EF4-FFF2-40B4-BE49-F238E27FC236}">
                <a16:creationId xmlns:a16="http://schemas.microsoft.com/office/drawing/2014/main" id="{6E8F5B97-6A57-423A-728E-02FB61E54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A76865D-FAB4-4608-8508-337431EDA697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4275" name="Slide Image Placeholder 1">
            <a:extLst>
              <a:ext uri="{FF2B5EF4-FFF2-40B4-BE49-F238E27FC236}">
                <a16:creationId xmlns:a16="http://schemas.microsoft.com/office/drawing/2014/main" id="{3A5D2F1B-C4D7-0DA8-C1E4-EAFE0AC226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E09F3-9DFF-0B04-E45F-FDC61EE0CC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6">
            <a:extLst>
              <a:ext uri="{FF2B5EF4-FFF2-40B4-BE49-F238E27FC236}">
                <a16:creationId xmlns:a16="http://schemas.microsoft.com/office/drawing/2014/main" id="{44B3CC4B-378A-191C-21D0-109361188F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11DC41-ABC0-4843-BB5A-876F9BF363E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6323" name="Slide Image Placeholder 1">
            <a:extLst>
              <a:ext uri="{FF2B5EF4-FFF2-40B4-BE49-F238E27FC236}">
                <a16:creationId xmlns:a16="http://schemas.microsoft.com/office/drawing/2014/main" id="{EA9B545D-CCD9-EC3A-0B85-DEF4DE9EFC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289FF-C8E6-D7BC-1005-0B5E7531D3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6">
            <a:extLst>
              <a:ext uri="{FF2B5EF4-FFF2-40B4-BE49-F238E27FC236}">
                <a16:creationId xmlns:a16="http://schemas.microsoft.com/office/drawing/2014/main" id="{B1F3904E-40A5-E638-F1D9-A3CBB735B4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09B093-BE06-43F9-9BBB-283393B43B04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8371" name="Slide Image Placeholder 1">
            <a:extLst>
              <a:ext uri="{FF2B5EF4-FFF2-40B4-BE49-F238E27FC236}">
                <a16:creationId xmlns:a16="http://schemas.microsoft.com/office/drawing/2014/main" id="{3D30FDB2-3CFE-23A9-768C-D363F8382F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1C6D0-08AB-F970-C514-C1B6ABABB9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6">
            <a:extLst>
              <a:ext uri="{FF2B5EF4-FFF2-40B4-BE49-F238E27FC236}">
                <a16:creationId xmlns:a16="http://schemas.microsoft.com/office/drawing/2014/main" id="{B53530B0-7298-AA98-D19F-65D926E9DF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393E87-E54F-4CEF-9B90-84A6F2A9E7D4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0419" name="Slide Image Placeholder 1">
            <a:extLst>
              <a:ext uri="{FF2B5EF4-FFF2-40B4-BE49-F238E27FC236}">
                <a16:creationId xmlns:a16="http://schemas.microsoft.com/office/drawing/2014/main" id="{5D189018-7E58-539B-0638-159FD5505B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F48AA-3B84-6816-9CEC-5EE4F97277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6">
            <a:extLst>
              <a:ext uri="{FF2B5EF4-FFF2-40B4-BE49-F238E27FC236}">
                <a16:creationId xmlns:a16="http://schemas.microsoft.com/office/drawing/2014/main" id="{EF09094E-3756-80B2-4915-DDA2491B93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4E5220F-9A06-4B9E-8F33-B751FFF2DCF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2467" name="Slide Image Placeholder 1">
            <a:extLst>
              <a:ext uri="{FF2B5EF4-FFF2-40B4-BE49-F238E27FC236}">
                <a16:creationId xmlns:a16="http://schemas.microsoft.com/office/drawing/2014/main" id="{F1221701-E746-539C-B031-83EF0A5C31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82AA0-8DEE-FC23-81D1-AB424248484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6">
            <a:extLst>
              <a:ext uri="{FF2B5EF4-FFF2-40B4-BE49-F238E27FC236}">
                <a16:creationId xmlns:a16="http://schemas.microsoft.com/office/drawing/2014/main" id="{1242FE66-D97F-0AE8-1BF6-22E68AE6C4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B539402-C781-47BF-A73A-98D499AFF9A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4515" name="Slide Image Placeholder 1">
            <a:extLst>
              <a:ext uri="{FF2B5EF4-FFF2-40B4-BE49-F238E27FC236}">
                <a16:creationId xmlns:a16="http://schemas.microsoft.com/office/drawing/2014/main" id="{8B765ACB-79F7-E99E-B0E7-7992E540BE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147D3-7A10-C4C4-8C54-863772876D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6">
            <a:extLst>
              <a:ext uri="{FF2B5EF4-FFF2-40B4-BE49-F238E27FC236}">
                <a16:creationId xmlns:a16="http://schemas.microsoft.com/office/drawing/2014/main" id="{E1013494-B67B-32D2-25F4-49A05C19AC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0C9440-D9B8-456D-BA67-44665DC6021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6563" name="Slide Image Placeholder 1">
            <a:extLst>
              <a:ext uri="{FF2B5EF4-FFF2-40B4-BE49-F238E27FC236}">
                <a16:creationId xmlns:a16="http://schemas.microsoft.com/office/drawing/2014/main" id="{365CECF0-27F7-3B5A-F717-423A5CAE2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A32BF-F4E2-5887-E1EB-4A29C161911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6">
            <a:extLst>
              <a:ext uri="{FF2B5EF4-FFF2-40B4-BE49-F238E27FC236}">
                <a16:creationId xmlns:a16="http://schemas.microsoft.com/office/drawing/2014/main" id="{841D707F-16EF-C30F-5B14-F7015461E3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AD5D48-34A2-47C6-AE1D-AC99A8EE3468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68611" name="Slide Image Placeholder 1">
            <a:extLst>
              <a:ext uri="{FF2B5EF4-FFF2-40B4-BE49-F238E27FC236}">
                <a16:creationId xmlns:a16="http://schemas.microsoft.com/office/drawing/2014/main" id="{F7C3E37E-F892-2281-E4E0-5CEF6A61EF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6D106-4CF4-BB53-A5DB-2EFA636547A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6">
            <a:extLst>
              <a:ext uri="{FF2B5EF4-FFF2-40B4-BE49-F238E27FC236}">
                <a16:creationId xmlns:a16="http://schemas.microsoft.com/office/drawing/2014/main" id="{C6510FF4-150F-EC38-5135-7E9CA8CCBD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AF94F65-7F75-4EEB-AA75-681C1D144A2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0659" name="Slide Image Placeholder 1">
            <a:extLst>
              <a:ext uri="{FF2B5EF4-FFF2-40B4-BE49-F238E27FC236}">
                <a16:creationId xmlns:a16="http://schemas.microsoft.com/office/drawing/2014/main" id="{696D7CB6-18E9-9CE7-ACA7-3F1819C551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824BF-6255-1382-1E0F-5F791F34B3E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6">
            <a:extLst>
              <a:ext uri="{FF2B5EF4-FFF2-40B4-BE49-F238E27FC236}">
                <a16:creationId xmlns:a16="http://schemas.microsoft.com/office/drawing/2014/main" id="{1A095EC2-6131-789D-3183-298BE2AA3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2E57C7-C6BB-4776-8538-2ABD4602623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2707" name="Slide Image Placeholder 1">
            <a:extLst>
              <a:ext uri="{FF2B5EF4-FFF2-40B4-BE49-F238E27FC236}">
                <a16:creationId xmlns:a16="http://schemas.microsoft.com/office/drawing/2014/main" id="{C9B08E8E-01E6-976D-4FB8-68A5C5EACC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D811C-5A24-9A28-AE7F-14A2B37D94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6">
            <a:extLst>
              <a:ext uri="{FF2B5EF4-FFF2-40B4-BE49-F238E27FC236}">
                <a16:creationId xmlns:a16="http://schemas.microsoft.com/office/drawing/2014/main" id="{6DC589F0-61AC-ABB6-8F30-6C87E8C27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E3222B3-5C1B-4FBF-ACA0-C521D898A212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4755" name="Slide Image Placeholder 1">
            <a:extLst>
              <a:ext uri="{FF2B5EF4-FFF2-40B4-BE49-F238E27FC236}">
                <a16:creationId xmlns:a16="http://schemas.microsoft.com/office/drawing/2014/main" id="{FFAE12EB-560F-B7D8-2467-75D694257B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488B7-9D10-D774-5B4D-F7ED9E5F5B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6">
            <a:extLst>
              <a:ext uri="{FF2B5EF4-FFF2-40B4-BE49-F238E27FC236}">
                <a16:creationId xmlns:a16="http://schemas.microsoft.com/office/drawing/2014/main" id="{34110FB9-6F63-8F04-3306-429615A131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089451-E3EA-4DE3-8FC1-7075E84432A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6803" name="Slide Image Placeholder 1">
            <a:extLst>
              <a:ext uri="{FF2B5EF4-FFF2-40B4-BE49-F238E27FC236}">
                <a16:creationId xmlns:a16="http://schemas.microsoft.com/office/drawing/2014/main" id="{3A7CD73D-BF4F-D3A4-2BF1-5B3496A7B1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C4481-D096-D615-CD9E-A7AC28477AD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>
            <a:extLst>
              <a:ext uri="{FF2B5EF4-FFF2-40B4-BE49-F238E27FC236}">
                <a16:creationId xmlns:a16="http://schemas.microsoft.com/office/drawing/2014/main" id="{D151EFAB-E042-455F-2A78-E421BDA1B9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9F6A4A-D993-43BB-BC0B-11CD4DFAAF3A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78851" name="Slide Image Placeholder 1">
            <a:extLst>
              <a:ext uri="{FF2B5EF4-FFF2-40B4-BE49-F238E27FC236}">
                <a16:creationId xmlns:a16="http://schemas.microsoft.com/office/drawing/2014/main" id="{00C265E1-2748-B9EA-FBC8-E5519BA7D7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04E9F-6913-B622-1BCC-4F2F59566B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6">
            <a:extLst>
              <a:ext uri="{FF2B5EF4-FFF2-40B4-BE49-F238E27FC236}">
                <a16:creationId xmlns:a16="http://schemas.microsoft.com/office/drawing/2014/main" id="{27F34972-EDB6-AB46-6A16-42CD77BE20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3649FF-0D78-403E-B318-FD328F4E1CBD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0899" name="Slide Image Placeholder 1">
            <a:extLst>
              <a:ext uri="{FF2B5EF4-FFF2-40B4-BE49-F238E27FC236}">
                <a16:creationId xmlns:a16="http://schemas.microsoft.com/office/drawing/2014/main" id="{68A26591-7B59-DA77-3071-FBF45811CC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171E9-E5D7-EEAC-21CE-2849FCE408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6">
            <a:extLst>
              <a:ext uri="{FF2B5EF4-FFF2-40B4-BE49-F238E27FC236}">
                <a16:creationId xmlns:a16="http://schemas.microsoft.com/office/drawing/2014/main" id="{54563E25-99C8-1A00-85A7-D3E4FC13C7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195125-B730-46E4-A44C-37600652EC67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2947" name="Slide Image Placeholder 1">
            <a:extLst>
              <a:ext uri="{FF2B5EF4-FFF2-40B4-BE49-F238E27FC236}">
                <a16:creationId xmlns:a16="http://schemas.microsoft.com/office/drawing/2014/main" id="{1309948C-B9CD-0D71-2865-BBFB6499DE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50B08-F7E1-6CA4-5AAB-F937CCED11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6">
            <a:extLst>
              <a:ext uri="{FF2B5EF4-FFF2-40B4-BE49-F238E27FC236}">
                <a16:creationId xmlns:a16="http://schemas.microsoft.com/office/drawing/2014/main" id="{CD15E865-CFF7-2946-B3D7-C94E6C17AB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7294638-C1CF-45AF-B094-FA601C583F9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4995" name="Slide Image Placeholder 1">
            <a:extLst>
              <a:ext uri="{FF2B5EF4-FFF2-40B4-BE49-F238E27FC236}">
                <a16:creationId xmlns:a16="http://schemas.microsoft.com/office/drawing/2014/main" id="{C77ED869-480D-335B-8C49-347D1B0ED5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DA4F3-6A6A-7F07-AA47-784634694B4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6">
            <a:extLst>
              <a:ext uri="{FF2B5EF4-FFF2-40B4-BE49-F238E27FC236}">
                <a16:creationId xmlns:a16="http://schemas.microsoft.com/office/drawing/2014/main" id="{6DCCBDBC-0E2C-A9F9-AF01-2A537D7B1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E5B5C4-DAF9-4299-8C1B-D5A5CA9CC259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7043" name="Slide Image Placeholder 1">
            <a:extLst>
              <a:ext uri="{FF2B5EF4-FFF2-40B4-BE49-F238E27FC236}">
                <a16:creationId xmlns:a16="http://schemas.microsoft.com/office/drawing/2014/main" id="{5417A4CF-BC70-E34F-9382-0990E32EEF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C17C7-7795-AC7A-776F-56A98D223A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>
            <a:extLst>
              <a:ext uri="{FF2B5EF4-FFF2-40B4-BE49-F238E27FC236}">
                <a16:creationId xmlns:a16="http://schemas.microsoft.com/office/drawing/2014/main" id="{B4814DD0-02BE-F856-915F-F1BF0338EC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9C948F-5CE5-44DB-A627-6EFFA135A4C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89091" name="Slide Image Placeholder 1">
            <a:extLst>
              <a:ext uri="{FF2B5EF4-FFF2-40B4-BE49-F238E27FC236}">
                <a16:creationId xmlns:a16="http://schemas.microsoft.com/office/drawing/2014/main" id="{6A61E7DD-0A2C-E603-C170-1B661AC05C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7B8E8-9858-9D3F-7114-C851CE8AFE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6">
            <a:extLst>
              <a:ext uri="{FF2B5EF4-FFF2-40B4-BE49-F238E27FC236}">
                <a16:creationId xmlns:a16="http://schemas.microsoft.com/office/drawing/2014/main" id="{61310CDE-D2AA-CC53-2521-7961E3AEE0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030848-C7CD-4917-91BE-021765381288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1139" name="Slide Image Placeholder 1">
            <a:extLst>
              <a:ext uri="{FF2B5EF4-FFF2-40B4-BE49-F238E27FC236}">
                <a16:creationId xmlns:a16="http://schemas.microsoft.com/office/drawing/2014/main" id="{CF7CBFE7-9A13-3F60-0E43-3089C4911F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9542E-56CF-C4EA-1215-C9A6003E69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6">
            <a:extLst>
              <a:ext uri="{FF2B5EF4-FFF2-40B4-BE49-F238E27FC236}">
                <a16:creationId xmlns:a16="http://schemas.microsoft.com/office/drawing/2014/main" id="{2DD10FFC-E0BE-2706-61DB-8F8AA4675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F6D87E3-B99B-4123-BCDE-BD53E5B95AE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3187" name="Slide Image Placeholder 1">
            <a:extLst>
              <a:ext uri="{FF2B5EF4-FFF2-40B4-BE49-F238E27FC236}">
                <a16:creationId xmlns:a16="http://schemas.microsoft.com/office/drawing/2014/main" id="{0B826683-B9EF-5A70-C164-51A07AA4F7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C99CD-0FF5-A768-7321-5A76B9DBCF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6">
            <a:extLst>
              <a:ext uri="{FF2B5EF4-FFF2-40B4-BE49-F238E27FC236}">
                <a16:creationId xmlns:a16="http://schemas.microsoft.com/office/drawing/2014/main" id="{C9D23BA9-3BB2-AE0C-BA8B-BED43223F6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31F42F3-F241-4095-BC0E-32440D64CAD5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5235" name="Slide Image Placeholder 1">
            <a:extLst>
              <a:ext uri="{FF2B5EF4-FFF2-40B4-BE49-F238E27FC236}">
                <a16:creationId xmlns:a16="http://schemas.microsoft.com/office/drawing/2014/main" id="{9F5CC0E9-2796-68A6-37AD-DEDAE63104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51665-497D-342E-9A23-C6A4451BC51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6">
            <a:extLst>
              <a:ext uri="{FF2B5EF4-FFF2-40B4-BE49-F238E27FC236}">
                <a16:creationId xmlns:a16="http://schemas.microsoft.com/office/drawing/2014/main" id="{9E80DA5D-8013-51F4-8F24-A87FBD9ADC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E589CF-B8C1-47E7-B9E4-3C754A59AF8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7283" name="Slide Image Placeholder 1">
            <a:extLst>
              <a:ext uri="{FF2B5EF4-FFF2-40B4-BE49-F238E27FC236}">
                <a16:creationId xmlns:a16="http://schemas.microsoft.com/office/drawing/2014/main" id="{E9287D5D-A85B-91A3-CDC0-20D538047A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54870-F1B7-94D2-F23A-62FABBB15A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6">
            <a:extLst>
              <a:ext uri="{FF2B5EF4-FFF2-40B4-BE49-F238E27FC236}">
                <a16:creationId xmlns:a16="http://schemas.microsoft.com/office/drawing/2014/main" id="{2D33F1D4-F3C4-764F-91ED-7598AF3062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0145D4-C9C8-40C3-971C-1A2AF46045A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99331" name="Slide Image Placeholder 1">
            <a:extLst>
              <a:ext uri="{FF2B5EF4-FFF2-40B4-BE49-F238E27FC236}">
                <a16:creationId xmlns:a16="http://schemas.microsoft.com/office/drawing/2014/main" id="{70FC9F77-6C39-D2AC-7F74-D8BB2A4318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EF6C9-983A-4D58-2023-B81F5A0694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6">
            <a:extLst>
              <a:ext uri="{FF2B5EF4-FFF2-40B4-BE49-F238E27FC236}">
                <a16:creationId xmlns:a16="http://schemas.microsoft.com/office/drawing/2014/main" id="{97EFC670-DD1E-70DC-6988-0CB6BAFC71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3CBB2D0-A69C-43FA-A8FC-365795D26430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1379" name="Slide Image Placeholder 1">
            <a:extLst>
              <a:ext uri="{FF2B5EF4-FFF2-40B4-BE49-F238E27FC236}">
                <a16:creationId xmlns:a16="http://schemas.microsoft.com/office/drawing/2014/main" id="{E0C3BCF2-7D3F-8CCA-7348-D107D1F3F3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49E48-F41F-B62A-2129-CBCA7B7844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6">
            <a:extLst>
              <a:ext uri="{FF2B5EF4-FFF2-40B4-BE49-F238E27FC236}">
                <a16:creationId xmlns:a16="http://schemas.microsoft.com/office/drawing/2014/main" id="{6B690B3A-67C5-1953-0FB1-F5E5325519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8F50D6-A5CD-4151-B8EC-16DD5732512E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3427" name="Slide Image Placeholder 1">
            <a:extLst>
              <a:ext uri="{FF2B5EF4-FFF2-40B4-BE49-F238E27FC236}">
                <a16:creationId xmlns:a16="http://schemas.microsoft.com/office/drawing/2014/main" id="{A0DCF709-6B7F-AF89-0AA7-C32985980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D1AD6-4CBD-DF45-9C50-FE654059EF2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6">
            <a:extLst>
              <a:ext uri="{FF2B5EF4-FFF2-40B4-BE49-F238E27FC236}">
                <a16:creationId xmlns:a16="http://schemas.microsoft.com/office/drawing/2014/main" id="{1DFE980A-C7D6-B609-2A6A-FB98FFC3B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7A7D3D-40F0-4100-BD8B-97C6BC7141E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5475" name="Slide Image Placeholder 1">
            <a:extLst>
              <a:ext uri="{FF2B5EF4-FFF2-40B4-BE49-F238E27FC236}">
                <a16:creationId xmlns:a16="http://schemas.microsoft.com/office/drawing/2014/main" id="{AE4882DD-22FC-D6AF-55F7-B8B2179675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D7F07-46EC-5CDF-4B95-2BB28D92B5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6">
            <a:extLst>
              <a:ext uri="{FF2B5EF4-FFF2-40B4-BE49-F238E27FC236}">
                <a16:creationId xmlns:a16="http://schemas.microsoft.com/office/drawing/2014/main" id="{112EF9B7-99FB-CD77-AA4D-39E910CFAF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A3D531-F468-4969-83B8-958CE6F31EFF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7523" name="Slide Image Placeholder 1">
            <a:extLst>
              <a:ext uri="{FF2B5EF4-FFF2-40B4-BE49-F238E27FC236}">
                <a16:creationId xmlns:a16="http://schemas.microsoft.com/office/drawing/2014/main" id="{D68EB403-8C77-DE28-7B8F-DFBEB2F641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A2773-0B4D-38A2-DCDD-3FCB0D7C1F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6">
            <a:extLst>
              <a:ext uri="{FF2B5EF4-FFF2-40B4-BE49-F238E27FC236}">
                <a16:creationId xmlns:a16="http://schemas.microsoft.com/office/drawing/2014/main" id="{401BE2D3-B37A-CB4E-B730-DE1209AB60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96A3E3C-A073-44B8-ACBC-5599AF24F6A1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09571" name="Slide Image Placeholder 1">
            <a:extLst>
              <a:ext uri="{FF2B5EF4-FFF2-40B4-BE49-F238E27FC236}">
                <a16:creationId xmlns:a16="http://schemas.microsoft.com/office/drawing/2014/main" id="{0AA00469-A52E-6923-8458-F4453592B0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99B4D-4740-1566-E0D7-9B45DD4F45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6">
            <a:extLst>
              <a:ext uri="{FF2B5EF4-FFF2-40B4-BE49-F238E27FC236}">
                <a16:creationId xmlns:a16="http://schemas.microsoft.com/office/drawing/2014/main" id="{E96AA5AA-176E-5924-F73A-141506FF3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DB0984-C089-4C0F-B3CF-C420902965AB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111619" name="Slide Image Placeholder 1">
            <a:extLst>
              <a:ext uri="{FF2B5EF4-FFF2-40B4-BE49-F238E27FC236}">
                <a16:creationId xmlns:a16="http://schemas.microsoft.com/office/drawing/2014/main" id="{B7DC7552-B40E-ED97-3DCB-F73066417E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miter lim="800000"/>
            <a:headEnd/>
            <a:tailEnd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F9C30-A38A-4875-BF79-879DC3AAF1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216000" indent="-216000"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3F5D1-6CA3-C959-A987-D96C528ACED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A722B-D4C1-A687-68CE-71762B1A8E8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09973-67A5-B88C-4C75-67D439CBFFB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979A38-88F7-44E9-ABEB-4E38AEA7D79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985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DDE-6B37-E352-B662-BAD8079EBB3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DFF9D-7421-F604-F99E-A55EA5DDD3E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71A1A-DC93-BEAC-0DEB-EB194842BC44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B37C4-7118-4B52-8862-E00AE78F4E1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501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F492-22E6-1803-CEEF-56EDB1934BA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20BE8-18F1-6B33-B688-196A9435E59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DC43-8D24-3942-F811-B9D6DDC80E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515473-77E6-425A-B847-B350195D545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846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03563F-9315-6CC2-E49A-B8515FB573C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FAA1C1-4AF5-2BEB-2DE6-E8B1A11FF3E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0B03A3-B412-6854-2124-4B4EF877CC4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0E44E-0292-464A-87E6-0F5F80910925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04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A1D090A-B644-312D-08E7-7353F20D39D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E4C829-B103-EE4B-E835-51F1A116B78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F3762B-88B0-446F-636F-6916148E9E0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90358-68C3-4C63-B493-0F64428AADB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909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55D147D-2CF7-6A38-0A35-DAB7D18CD3E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DC5476-9161-5B05-9B9B-91619FB2440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9F649-CF77-0E43-8522-BCEE25ED122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61853-85E5-413B-A7EC-FA2C05408832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508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2CDFEEC-35AD-6499-3AC9-060C65B7A15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14C96A4-E19C-87E0-CBF1-2031794D552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3115A65-136D-8498-0479-C1584C1D720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17BE9-E143-4802-B52A-F8DF090F338C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66409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09B0A8-21D0-F9F0-3A6B-90DA3814228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120B21-4EA5-5C8A-73C1-E2191500410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76E9E5-BB96-85A4-4247-393F140C5CA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99455-7D34-445A-B06E-81086C45CC4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387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6D4EE22-38D3-5CFF-ACB5-4B6F94CF526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CE33394-19EC-1FE3-1747-04013A927DA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DDE3C8-B008-3149-6BD3-800A059B3E5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07A9F-EAA3-458A-8BA1-E2490AC81753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131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AF7F7-0D1C-44AF-3599-72C9C1578D62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3D90E-90B7-4F7A-2249-8074C56E17E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80737-8912-0CE6-4773-0814C44C4AA9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5F92A-4CD3-4E17-8108-E54E95B0BE8B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855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AC911-A3FE-92A0-DA56-159FF5B7844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5B250-D5D9-3D9D-BBCA-B17D5540F7B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CE55D-C8DC-5792-2052-CCE99DDAF7E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1286C-E5DB-4D6F-BAF5-6AAC8DC862A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685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197CE-F37C-5743-5CFD-E12A5AE6198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EEBA3-3F7A-4015-A6C3-B01E718B43BA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A98A4-9244-FBF7-D674-97009D6173F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339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B586A-C2F8-8000-AA3D-53C93084A64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E9EBC-7F60-4AD7-BCF1-316B3AF311B9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3A86D-AF89-6D75-8FDB-2C6BFD84FE7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874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930A-9CE3-78BD-0D19-ED2623C1F2B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26F79-D2C8-464B-89A0-7A3DCC35462E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47EAD-22E0-2282-7870-63473CE4D32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992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2388"/>
            <a:ext cx="4459287" cy="3741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2388"/>
            <a:ext cx="4460875" cy="3741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122161-48DC-F597-6237-E6D50293D1C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3BEB0-7F54-4A39-B05E-825F97481C49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386F28-7282-D718-414F-7D43C30BA84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61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FC8E5E2-00C8-BA7B-A29F-5B1AC3F72F4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E2B06-1CA4-4746-9E0C-83813C6E9101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78C009-D8D0-CCE5-73F0-BB39595CF0D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111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893D322-6164-8C1D-E11F-BC6280B6699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08BB5-E99D-446E-A560-4EB6497536CA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B1F32FC-45C0-0FA7-200F-F1BA156F460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4074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1922E13-8D44-2D20-554B-0A5592F3962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99ABDD-E489-4672-B7B2-DB280F0AE74F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4259CA-736F-FC90-6D83-5BFE2B8FA34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5903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74EDCB-AB7C-257D-737B-1699D4525DE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C7053-832B-43E5-A4AD-24D043EB7DEF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4064EB0-1384-CD9C-497C-6689874CE6F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7246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A193B9C-0A2B-BDC8-4B66-F7846D831FA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73777-71F3-47C2-97BF-A2FBF749C1B0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B6D57B-3E2A-DFEB-F0B5-C6CF3CBE696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7947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41EE-57D9-F974-32D2-D89B25EF31E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0D96AB-F5D6-47D0-8425-F526576F1492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AF62A-1515-50CB-23DA-06F4E27DA6C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263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7013"/>
            <a:ext cx="2266950" cy="4837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7013"/>
            <a:ext cx="6653212" cy="4837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A3C9-6831-3AB2-8075-445B3BA6D18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61F3-BD46-43BA-A486-52A3EFC11770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7AF97-B355-A634-6F15-42AC6CE4CC5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68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8EF2D-E71B-B26F-0A7D-F42355D3D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238" y="225425"/>
            <a:ext cx="9072562" cy="947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57354-DC03-BE87-6896-D6D9E3145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238" y="1327150"/>
            <a:ext cx="9072562" cy="32877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9C3D1-B062-6AE0-804F-2E114593EB7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238" y="5165725"/>
            <a:ext cx="2349500" cy="390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8EA45-5E25-1E59-6A61-3C40AC56DA4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8050" y="5165725"/>
            <a:ext cx="3194050" cy="390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ct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069DF-B2E2-98FC-DE64-0D901499B0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888" y="5165725"/>
            <a:ext cx="2347912" cy="3905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eaLnBrk="1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kern="1200" smtClean="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>
              <a:defRPr/>
            </a:pPr>
            <a:fld id="{356C86BE-A18F-46B3-9820-644C0D4FECAD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4400" kern="1200">
          <a:solidFill>
            <a:schemeClr val="tx2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iberation Sans"/>
        </a:defRPr>
      </a:lvl9pPr>
    </p:titleStyle>
    <p:bodyStyle>
      <a:lvl1pPr algn="l" rtl="0" eaLnBrk="0" fontAlgn="base" hangingPunct="0">
        <a:spcBef>
          <a:spcPts val="1413"/>
        </a:spcBef>
        <a:spcAft>
          <a:spcPct val="0"/>
        </a:spcAft>
        <a:defRPr lang="en-US" sz="3200" kern="1200">
          <a:solidFill>
            <a:schemeClr val="tx1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327D4-12AE-93F9-D53D-2C5510A31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238" y="227013"/>
            <a:ext cx="9072562" cy="944562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 anchorCtr="0" compatLnSpc="1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9A005-5A68-9099-95F2-E0FC6E12D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238" y="1322388"/>
            <a:ext cx="9072562" cy="3741737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2E51-6F1D-9DD2-365A-5ACFCD16C50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238" y="5162550"/>
            <a:ext cx="2352675" cy="3937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t" anchorCtr="0" compatLnSpc="0">
            <a:noAutofit/>
          </a:bodyPr>
          <a:lstStyle>
            <a:lvl1pPr marL="0" marR="0" lvl="0" indent="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mtClean="0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/>
            </a:pPr>
            <a:fld id="{1CD84BB8-3F1A-49DD-9166-56D1EE9F98F1}" type="datetime1">
              <a:rPr/>
              <a:pPr>
                <a:defRPr/>
              </a:pPr>
              <a:t>3/21/2026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836F1-3DFF-F0F2-3DEF-99ADE317AE9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5711825" y="5292725"/>
            <a:ext cx="4367213" cy="37782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t" anchorCtr="0" compatLnSpc="0">
            <a:noAutofit/>
          </a:bodyPr>
          <a:lstStyle>
            <a:lvl1pPr marL="0" marR="0" lvl="0" indent="0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FreeSans" pitchFamily="2"/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 spd="slow"/>
  <p:txStyles>
    <p:titleStyle>
      <a:lvl1pPr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lang="en-US" sz="3800" kern="1200">
          <a:solidFill>
            <a:srgbClr val="FF0000"/>
          </a:solidFill>
          <a:highlight>
            <a:scrgbClr r="0" g="0" b="0">
              <a:alpha val="0"/>
            </a:scrgbClr>
          </a:highlight>
          <a:latin typeface="Comic Sans MS" pitchFamily="66"/>
        </a:defRPr>
      </a:lvl1pPr>
      <a:lvl2pPr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spcBef>
          <a:spcPts val="1200"/>
        </a:spcBef>
        <a:spcAft>
          <a:spcPts val="300"/>
        </a:spcAft>
        <a:tabLst>
          <a:tab pos="0" algn="l"/>
          <a:tab pos="914400" algn="l"/>
          <a:tab pos="1828800" algn="l"/>
          <a:tab pos="2741613" algn="l"/>
          <a:tab pos="3657600" algn="l"/>
          <a:tab pos="4572000" algn="l"/>
          <a:tab pos="5484813" algn="l"/>
          <a:tab pos="6399213" algn="l"/>
          <a:tab pos="7315200" algn="l"/>
          <a:tab pos="8229600" algn="l"/>
          <a:tab pos="9144000" algn="l"/>
          <a:tab pos="10058400" algn="l"/>
        </a:tabLst>
        <a:defRPr sz="3800">
          <a:solidFill>
            <a:srgbClr val="FF0000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spcBef>
          <a:spcPts val="988"/>
        </a:spcBef>
        <a:spcAft>
          <a:spcPts val="250"/>
        </a:spcAft>
        <a:tabLst>
          <a:tab pos="569913" algn="l"/>
          <a:tab pos="1484313" algn="l"/>
          <a:tab pos="2398713" algn="l"/>
          <a:tab pos="3313113" algn="l"/>
          <a:tab pos="4227513" algn="l"/>
          <a:tab pos="5141913" algn="l"/>
          <a:tab pos="6056313" algn="l"/>
          <a:tab pos="6970713" algn="l"/>
          <a:tab pos="7885113" algn="l"/>
          <a:tab pos="8799513" algn="l"/>
          <a:tab pos="9713913" algn="l"/>
        </a:tabLst>
        <a:defRPr lang="en-US" sz="2300" kern="1200">
          <a:solidFill>
            <a:srgbClr val="000000"/>
          </a:solidFill>
          <a:highlight>
            <a:scrgbClr r="0" g="0" b="0">
              <a:alpha val="0"/>
            </a:scrgbClr>
          </a:highlight>
          <a:latin typeface="Comic Sans MS" pitchFamily="66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EDCC50D-AA66-420C-C00C-213D32535B6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225720"/>
            <a:ext cx="9071640" cy="4388760"/>
          </a:xfrm>
        </p:spPr>
        <p:txBody>
          <a:bodyPr anchor="ctr"/>
          <a:lstStyle/>
          <a:p>
            <a:pPr algn="ctr" eaLnBrk="1" fontAlgn="auto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defRPr/>
            </a:pPr>
            <a:r>
              <a:rPr sz="4400">
                <a:solidFill>
                  <a:sysClr val="windowText" lastClr="000000"/>
                </a:solidFill>
              </a:rPr>
              <a:t>Keamanan Sistem Komputer</a:t>
            </a:r>
          </a:p>
          <a:p>
            <a:pPr algn="ctr" eaLnBrk="1" fontAlgn="auto">
              <a:lnSpc>
                <a:spcPct val="150000"/>
              </a:lnSpc>
              <a:spcBef>
                <a:spcPts val="1417"/>
              </a:spcBef>
              <a:spcAft>
                <a:spcPts val="0"/>
              </a:spcAft>
              <a:defRPr/>
            </a:pPr>
            <a:r>
              <a:rPr sz="4400">
                <a:solidFill>
                  <a:sysClr val="windowText" lastClr="000000"/>
                </a:solidFill>
              </a:rPr>
              <a:t>CEH3D3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6999B-B267-E265-267C-DF3CDC7C2B87}"/>
              </a:ext>
            </a:extLst>
          </p:cNvPr>
          <p:cNvSpPr txBox="1"/>
          <p:nvPr/>
        </p:nvSpPr>
        <p:spPr>
          <a:xfrm>
            <a:off x="1743075" y="3536950"/>
            <a:ext cx="6869113" cy="88265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>
                <a:latin typeface="Liberation Sans" pitchFamily="18"/>
                <a:ea typeface="Noto Sans CJK SC Regular" pitchFamily="2"/>
                <a:cs typeface="FreeSans" pitchFamily="2"/>
              </a:rPr>
              <a:t>Authentication, Hash Function,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>
                <a:latin typeface="Liberation Sans" pitchFamily="18"/>
                <a:ea typeface="Noto Sans CJK SC Regular" pitchFamily="2"/>
                <a:cs typeface="FreeSans" pitchFamily="2"/>
              </a:rPr>
              <a:t>Digital Signatures, Quantum Cryptography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7311-E123-3D5F-0456-33E9D47147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Identification vs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F6874-CCC4-02FF-36EF-541026D5A29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Identifikasi, menyatakan identitas suatu subjek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Autentikasi, membuktikan kebenaran identitas yang dinyatakan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FEB1-5F35-3574-61B5-FAB4B06BE9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0786D-BE8C-5449-C1DE-D3FF3A250D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Mekanisme autentikasi dapat menggunakan: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Sesuatu yang diketahui user (Password, PIN, secret handshake, dll)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Sesuatu yang ada pada user (Biometrics: fingerprint, voice pattern, face, dll)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Sesuatu yang dimiliki user (kartu identitas, kartu ATM, kunci, dll)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Pada </a:t>
            </a:r>
            <a:r>
              <a:rPr>
                <a:solidFill>
                  <a:srgbClr val="CE181E"/>
                </a:solidFill>
              </a:rPr>
              <a:t>jaringan</a:t>
            </a:r>
            <a:r>
              <a:rPr>
                <a:solidFill>
                  <a:sysClr val="windowText" lastClr="000000"/>
                </a:solidFill>
              </a:rPr>
              <a:t>, tiga hal tersebut tidak dapat dibuktikan secara otentik sehingga terjadi permasalahan baru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50C6-B907-7D53-8ECB-10AE3EFB89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237C6-FC48-88D8-A64E-0293A76449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Password authentication, salt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Challenge-response authentication protocols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Biometrics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Token-based authentication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946-0C7D-642C-C7E8-93255E292B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Password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9FA65-3755-58C5-E2BF-0A6328DDBA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Ide </a:t>
            </a:r>
            <a:r>
              <a:rPr sz="2400" dirty="0" err="1">
                <a:solidFill>
                  <a:sysClr val="windowText" lastClr="000000"/>
                </a:solidFill>
              </a:rPr>
              <a:t>dasar</a:t>
            </a:r>
            <a:endParaRPr sz="2400" dirty="0">
              <a:solidFill>
                <a:sysClr val="windowText" lastClr="000000"/>
              </a:solidFill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User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memiliki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rahasia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Sistem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memeriksa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mengautentikasi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user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Masalah</a:t>
            </a:r>
            <a:endParaRPr sz="2400" dirty="0">
              <a:solidFill>
                <a:sysClr val="windowText" lastClr="000000"/>
              </a:solidFill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Bagaimana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penyimpanan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Bagaimana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sistem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memeriksa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Seberapa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mudah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menebak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password?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83E3-CED4-3CE9-78E1-08C9E5C4C3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ID">
              <a:solidFill>
                <a:sysClr val="windowText" lastClr="0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17085-E369-5BCE-E072-87FA10BF6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endParaRPr lang="en-ID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1A55A-82E7-A82D-712F-BD350C233E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Skema Dasar Password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3D8E9-9F20-4B4B-4DB4-06F4B728E50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Fungsi</a:t>
            </a:r>
            <a:r>
              <a:rPr sz="2400" dirty="0">
                <a:solidFill>
                  <a:sysClr val="windowText" lastClr="000000"/>
                </a:solidFill>
              </a:rPr>
              <a:t> hash h : strings </a:t>
            </a:r>
            <a:r>
              <a:rPr sz="2400" dirty="0">
                <a:solidFill>
                  <a:sysClr val="windowText" lastClr="000000"/>
                </a:solidFill>
                <a:latin typeface="Symbol" pitchFamily="18"/>
              </a:rPr>
              <a:t></a:t>
            </a:r>
            <a:r>
              <a:rPr sz="2400" dirty="0">
                <a:solidFill>
                  <a:sysClr val="windowText" lastClr="000000"/>
                </a:solidFill>
              </a:rPr>
              <a:t> strings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h(password),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sulit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mengetahui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</a:t>
            </a:r>
          </a:p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2400" dirty="0">
                <a:solidFill>
                  <a:sysClr val="windowText" lastClr="000000"/>
                </a:solidFill>
              </a:rPr>
              <a:t>User password </a:t>
            </a:r>
            <a:r>
              <a:rPr sz="2400" dirty="0" err="1">
                <a:solidFill>
                  <a:sysClr val="windowText" lastClr="000000"/>
                </a:solidFill>
              </a:rPr>
              <a:t>disimpan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sebagai</a:t>
            </a:r>
            <a:r>
              <a:rPr sz="2400" dirty="0">
                <a:solidFill>
                  <a:sysClr val="windowText" lastClr="000000"/>
                </a:solidFill>
              </a:rPr>
              <a:t> h(password)</a:t>
            </a:r>
          </a:p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2400" dirty="0">
                <a:solidFill>
                  <a:sysClr val="windowText" lastClr="000000"/>
                </a:solidFill>
              </a:rPr>
              <a:t>Ketika user </a:t>
            </a:r>
            <a:r>
              <a:rPr sz="2400" dirty="0" err="1">
                <a:solidFill>
                  <a:sysClr val="windowText" lastClr="000000"/>
                </a:solidFill>
              </a:rPr>
              <a:t>memasukkan</a:t>
            </a:r>
            <a:r>
              <a:rPr sz="2400" dirty="0">
                <a:solidFill>
                  <a:sysClr val="windowText" lastClr="000000"/>
                </a:solidFill>
              </a:rPr>
              <a:t> password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Sistem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menghitung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h(password)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Membandingkan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file password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Tidak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ada</a:t>
            </a:r>
            <a:r>
              <a:rPr sz="2400" dirty="0">
                <a:solidFill>
                  <a:sysClr val="windowText" lastClr="000000"/>
                </a:solidFill>
              </a:rPr>
              <a:t> password </a:t>
            </a:r>
            <a:r>
              <a:rPr sz="2400" dirty="0" err="1">
                <a:solidFill>
                  <a:sysClr val="windowText" lastClr="000000"/>
                </a:solidFill>
              </a:rPr>
              <a:t>mentah</a:t>
            </a:r>
            <a:r>
              <a:rPr sz="2400" dirty="0">
                <a:solidFill>
                  <a:sysClr val="windowText" lastClr="000000"/>
                </a:solidFill>
              </a:rPr>
              <a:t>/plaintext </a:t>
            </a:r>
            <a:r>
              <a:rPr sz="2400" dirty="0" err="1">
                <a:solidFill>
                  <a:sysClr val="windowText" lastClr="000000"/>
                </a:solidFill>
              </a:rPr>
              <a:t>disimpan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dalam</a:t>
            </a:r>
            <a:r>
              <a:rPr sz="2400" dirty="0">
                <a:solidFill>
                  <a:sysClr val="windowText" lastClr="000000"/>
                </a:solidFill>
              </a:rPr>
              <a:t> disk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F90A-1840-1B43-04E6-B93222B38D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Password pada *NIX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114D8-4684-1AE2-EF45-6900BA44DF4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2800" dirty="0" err="1">
                <a:solidFill>
                  <a:sysClr val="windowText" lastClr="000000"/>
                </a:solidFill>
              </a:rPr>
              <a:t>Fungsi</a:t>
            </a:r>
            <a:r>
              <a:rPr sz="2800" dirty="0">
                <a:solidFill>
                  <a:sysClr val="windowText" lastClr="000000"/>
                </a:solidFill>
              </a:rPr>
              <a:t> hash yang </a:t>
            </a:r>
            <a:r>
              <a:rPr sz="2800" dirty="0" err="1">
                <a:solidFill>
                  <a:sysClr val="windowText" lastClr="000000"/>
                </a:solidFill>
              </a:rPr>
              <a:t>digunakan</a:t>
            </a:r>
            <a:r>
              <a:rPr sz="2800" dirty="0">
                <a:solidFill>
                  <a:sysClr val="windowText" lastClr="000000"/>
                </a:solidFill>
              </a:rPr>
              <a:t> 25xDES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25 ronde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enkripsi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DES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atau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variannya</a:t>
            </a:r>
            <a:endParaRPr lang="en-US" sz="28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2800" dirty="0" err="1">
                <a:solidFill>
                  <a:sysClr val="windowText" lastClr="000000"/>
                </a:solidFill>
              </a:rPr>
              <a:t>Setiap</a:t>
            </a:r>
            <a:r>
              <a:rPr sz="2800" dirty="0">
                <a:solidFill>
                  <a:sysClr val="windowText" lastClr="000000"/>
                </a:solidFill>
              </a:rPr>
              <a:t> user </a:t>
            </a:r>
            <a:r>
              <a:rPr sz="2800" dirty="0" err="1">
                <a:solidFill>
                  <a:sysClr val="windowText" lastClr="000000"/>
                </a:solidFill>
              </a:rPr>
              <a:t>bisa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melakukan</a:t>
            </a:r>
            <a:r>
              <a:rPr sz="2800" dirty="0">
                <a:solidFill>
                  <a:sysClr val="windowText" lastClr="000000"/>
                </a:solidFill>
              </a:rPr>
              <a:t> “dictionary attack”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User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melihat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isi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file password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Menghitung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hash(word)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8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setiap</a:t>
            </a: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kata pada dictionary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 dirty="0">
                <a:solidFill>
                  <a:sysClr val="windowText" lastClr="000000"/>
                </a:solidFill>
              </a:rPr>
              <a:t>“Salt” </a:t>
            </a:r>
            <a:r>
              <a:rPr sz="2800" dirty="0" err="1">
                <a:solidFill>
                  <a:sysClr val="windowText" lastClr="000000"/>
                </a:solidFill>
              </a:rPr>
              <a:t>menyulitkan</a:t>
            </a:r>
            <a:r>
              <a:rPr sz="2800" dirty="0">
                <a:solidFill>
                  <a:sysClr val="windowText" lastClr="000000"/>
                </a:solidFill>
              </a:rPr>
              <a:t> dictionary attack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0AB6-D7AE-5789-88EC-DB5284B9A7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870">
                <a:latin typeface="Liberation Sans" pitchFamily="34"/>
              </a:rPr>
              <a:t>Salt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A7825-BBA1-F054-403F-05011E1E00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12880" y="1134000"/>
            <a:ext cx="9072000" cy="902880"/>
          </a:xfrm>
        </p:spPr>
        <p:txBody>
          <a:bodyPr wrap="square" lIns="91440" tIns="45720" rIns="91440" bIns="45720"/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Clr>
                <a:srgbClr val="000000"/>
              </a:buClr>
              <a:buSzPct val="100000"/>
              <a:buFont typeface="Comic Sans MS" pitchFamily="66"/>
              <a:buChar char="•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3200" dirty="0">
                <a:latin typeface="Liberation Sans" pitchFamily="34"/>
              </a:rPr>
              <a:t>Password line</a:t>
            </a:r>
          </a:p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Clr>
                <a:srgbClr val="000000"/>
              </a:buClr>
              <a:buSzPct val="100000"/>
              <a:buFont typeface="Comic Sans MS" pitchFamily="66"/>
              <a:buChar char="•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1800" dirty="0">
                <a:latin typeface="Liberation Sans" pitchFamily="34"/>
              </a:rPr>
              <a:t>     walt: </a:t>
            </a:r>
            <a:r>
              <a:rPr sz="1800" dirty="0" err="1">
                <a:latin typeface="Liberation Sans" pitchFamily="34"/>
              </a:rPr>
              <a:t>fU</a:t>
            </a:r>
            <a:r>
              <a:rPr sz="1800" dirty="0">
                <a:latin typeface="Liberation Sans" pitchFamily="34"/>
              </a:rPr>
              <a:t>  Rfuu4.4hY0U :129:129:Belgers:/home/walt:/bin/</a:t>
            </a:r>
            <a:r>
              <a:rPr sz="1800" dirty="0" err="1">
                <a:latin typeface="Liberation Sans" pitchFamily="34"/>
              </a:rPr>
              <a:t>csh</a:t>
            </a:r>
            <a:endParaRPr sz="1800" dirty="0">
              <a:latin typeface="Liberation Sans" pitchFamily="34"/>
            </a:endParaRPr>
          </a:p>
          <a:p>
            <a:pPr marL="0" lvl="1" indent="0" fontAlgn="auto">
              <a:lnSpc>
                <a:spcPct val="100000"/>
              </a:lnSpc>
              <a:spcBef>
                <a:spcPts val="1199"/>
              </a:spcBef>
              <a:spcAft>
                <a:spcPts val="298"/>
              </a:spcAft>
              <a:buFont typeface="Arial" panose="020B0604020202020204" pitchFamily="34" charset="0"/>
              <a:buNone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endParaRPr lang="en-US" sz="1800" dirty="0">
              <a:solidFill>
                <a:srgbClr val="000000"/>
              </a:solidFill>
              <a:highlight>
                <a:scrgbClr r="0" g="0" b="0">
                  <a:alpha val="0"/>
                </a:scrgbClr>
              </a:highlight>
              <a:latin typeface="Liberation Sans" pitchFamily="34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65909B-155F-6FC8-11AA-D626DBB0BDC3}"/>
              </a:ext>
            </a:extLst>
          </p:cNvPr>
          <p:cNvSpPr/>
          <p:nvPr/>
        </p:nvSpPr>
        <p:spPr>
          <a:xfrm>
            <a:off x="2776538" y="1700213"/>
            <a:ext cx="280987" cy="254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9360" cap="sq">
            <a:solidFill>
              <a:srgbClr val="0000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6AD8B5-EC04-694C-6FBC-E1144B5CFAB1}"/>
              </a:ext>
            </a:extLst>
          </p:cNvPr>
          <p:cNvSpPr/>
          <p:nvPr/>
        </p:nvSpPr>
        <p:spPr>
          <a:xfrm>
            <a:off x="3057525" y="3708400"/>
            <a:ext cx="2519363" cy="56673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BBE0E3"/>
          </a:solidFill>
          <a:ln w="9360" cap="sq">
            <a:solidFill>
              <a:srgbClr val="0000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algn="ctr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25x DES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29EC26F-EF12-31DD-D75E-652556AB345A}"/>
              </a:ext>
            </a:extLst>
          </p:cNvPr>
          <p:cNvSpPr/>
          <p:nvPr/>
        </p:nvSpPr>
        <p:spPr>
          <a:xfrm>
            <a:off x="1644650" y="2898775"/>
            <a:ext cx="969963" cy="45878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Input</a:t>
            </a: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05DACFB7-7FC6-73CB-50B0-5DAF520CDF4C}"/>
              </a:ext>
            </a:extLst>
          </p:cNvPr>
          <p:cNvSpPr/>
          <p:nvPr/>
        </p:nvSpPr>
        <p:spPr>
          <a:xfrm>
            <a:off x="2720975" y="3089275"/>
            <a:ext cx="923925" cy="0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2B741D66-BD26-FDEA-51A0-0A723882A3D8}"/>
              </a:ext>
            </a:extLst>
          </p:cNvPr>
          <p:cNvSpPr/>
          <p:nvPr/>
        </p:nvSpPr>
        <p:spPr>
          <a:xfrm>
            <a:off x="3644900" y="3089275"/>
            <a:ext cx="0" cy="582613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E2FF6AC9-BF0F-C087-817B-9FCF84FB3260}"/>
              </a:ext>
            </a:extLst>
          </p:cNvPr>
          <p:cNvSpPr/>
          <p:nvPr/>
        </p:nvSpPr>
        <p:spPr>
          <a:xfrm>
            <a:off x="3813175" y="3086100"/>
            <a:ext cx="0" cy="585788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609A6071-FE31-61DA-253C-23740A4C3E00}"/>
              </a:ext>
            </a:extLst>
          </p:cNvPr>
          <p:cNvSpPr/>
          <p:nvPr/>
        </p:nvSpPr>
        <p:spPr>
          <a:xfrm>
            <a:off x="3057525" y="1954213"/>
            <a:ext cx="755650" cy="1133475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5F2950EB-FA4D-AD8E-1E4B-6732F1529943}"/>
              </a:ext>
            </a:extLst>
          </p:cNvPr>
          <p:cNvSpPr/>
          <p:nvPr/>
        </p:nvSpPr>
        <p:spPr>
          <a:xfrm>
            <a:off x="3808413" y="2646363"/>
            <a:ext cx="765175" cy="45878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Salt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1CCBB112-3975-F86A-B378-E76988A327A6}"/>
              </a:ext>
            </a:extLst>
          </p:cNvPr>
          <p:cNvSpPr/>
          <p:nvPr/>
        </p:nvSpPr>
        <p:spPr>
          <a:xfrm>
            <a:off x="2946400" y="3276600"/>
            <a:ext cx="641350" cy="3984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499"/>
              </a:spcBef>
              <a:spcAft>
                <a:spcPts val="0"/>
              </a:spcAft>
              <a:defRPr/>
            </a:pPr>
            <a:r>
              <a:rPr lang="en-US" sz="20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Key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73929F59-E233-FED0-42AF-F8F36A4395FC}"/>
              </a:ext>
            </a:extLst>
          </p:cNvPr>
          <p:cNvSpPr/>
          <p:nvPr/>
        </p:nvSpPr>
        <p:spPr>
          <a:xfrm>
            <a:off x="-19050" y="3338513"/>
            <a:ext cx="2968625" cy="9017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Constant,</a:t>
            </a:r>
          </a:p>
          <a:p>
            <a:pPr algn="ctr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A 64-bit block of 0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D966D782-C66B-DDF2-41FB-256B526CB72F}"/>
              </a:ext>
            </a:extLst>
          </p:cNvPr>
          <p:cNvSpPr/>
          <p:nvPr/>
        </p:nvSpPr>
        <p:spPr>
          <a:xfrm>
            <a:off x="1628775" y="4022725"/>
            <a:ext cx="1428750" cy="0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119E5F7A-B683-0241-270E-7894929D18FC}"/>
              </a:ext>
            </a:extLst>
          </p:cNvPr>
          <p:cNvSpPr/>
          <p:nvPr/>
        </p:nvSpPr>
        <p:spPr>
          <a:xfrm>
            <a:off x="1320800" y="4064000"/>
            <a:ext cx="1292225" cy="3984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499"/>
              </a:spcBef>
              <a:spcAft>
                <a:spcPts val="0"/>
              </a:spcAft>
              <a:defRPr/>
            </a:pPr>
            <a:r>
              <a:rPr lang="en-US" sz="20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Plaintext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6E58EBC7-3FA4-C9C1-F49A-F1A13B05CAD5}"/>
              </a:ext>
            </a:extLst>
          </p:cNvPr>
          <p:cNvSpPr/>
          <p:nvPr/>
        </p:nvSpPr>
        <p:spPr>
          <a:xfrm>
            <a:off x="3057525" y="1889125"/>
            <a:ext cx="1279525" cy="25241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9360" cap="sq">
            <a:solidFill>
              <a:srgbClr val="0000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4085CFD2-9EAD-516A-80B3-479E6F0B19D7}"/>
              </a:ext>
            </a:extLst>
          </p:cNvPr>
          <p:cNvSpPr/>
          <p:nvPr/>
        </p:nvSpPr>
        <p:spPr>
          <a:xfrm>
            <a:off x="5680075" y="3622675"/>
            <a:ext cx="1516063" cy="3984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499"/>
              </a:spcBef>
              <a:spcAft>
                <a:spcPts val="0"/>
              </a:spcAft>
              <a:defRPr/>
            </a:pPr>
            <a:r>
              <a:rPr lang="en-US" sz="2000">
                <a:solidFill>
                  <a:srgbClr val="808080"/>
                </a:solidFill>
                <a:latin typeface="Tahoma" pitchFamily="34"/>
                <a:ea typeface="Noto Sans CJK SC Regular" pitchFamily="2"/>
                <a:cs typeface="FreeSans" pitchFamily="2"/>
              </a:rPr>
              <a:t>Ciphertext</a:t>
            </a: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B53F5592-0DD7-64CC-1F03-4E3209685D05}"/>
              </a:ext>
            </a:extLst>
          </p:cNvPr>
          <p:cNvSpPr/>
          <p:nvPr/>
        </p:nvSpPr>
        <p:spPr>
          <a:xfrm>
            <a:off x="5576888" y="4022725"/>
            <a:ext cx="1847850" cy="0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95250E09-F182-BF6D-1CD1-E2123C43644D}"/>
              </a:ext>
            </a:extLst>
          </p:cNvPr>
          <p:cNvSpPr/>
          <p:nvPr/>
        </p:nvSpPr>
        <p:spPr>
          <a:xfrm flipH="1" flipV="1">
            <a:off x="3952875" y="1954213"/>
            <a:ext cx="2044700" cy="808037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1032B2B-38ED-28A4-C7DE-CBDC1C0AC5C3}"/>
              </a:ext>
            </a:extLst>
          </p:cNvPr>
          <p:cNvSpPr/>
          <p:nvPr/>
        </p:nvSpPr>
        <p:spPr>
          <a:xfrm flipV="1">
            <a:off x="7424738" y="2762250"/>
            <a:ext cx="0" cy="1260475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2A5DA595-6E28-0E94-481E-53A7D6E60558}"/>
              </a:ext>
            </a:extLst>
          </p:cNvPr>
          <p:cNvSpPr/>
          <p:nvPr/>
        </p:nvSpPr>
        <p:spPr>
          <a:xfrm flipH="1">
            <a:off x="5997575" y="2762250"/>
            <a:ext cx="1427163" cy="0"/>
          </a:xfrm>
          <a:prstGeom prst="line">
            <a:avLst/>
          </a:prstGeom>
          <a:noFill/>
          <a:ln w="1908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CA7FA9EB-F337-B508-0E29-E47C7EA05947}"/>
              </a:ext>
            </a:extLst>
          </p:cNvPr>
          <p:cNvSpPr/>
          <p:nvPr/>
        </p:nvSpPr>
        <p:spPr>
          <a:xfrm>
            <a:off x="5386388" y="2141538"/>
            <a:ext cx="1563687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400">
                <a:latin typeface="Tahoma" pitchFamily="34"/>
                <a:ea typeface="Noto Sans CJK SC Regular" pitchFamily="2"/>
                <a:cs typeface="FreeSans" pitchFamily="2"/>
              </a:rPr>
              <a:t>Compare</a:t>
            </a: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66514DBC-94FE-3507-F191-FCF3536F5DF6}"/>
              </a:ext>
            </a:extLst>
          </p:cNvPr>
          <p:cNvSpPr/>
          <p:nvPr/>
        </p:nvSpPr>
        <p:spPr>
          <a:xfrm>
            <a:off x="539750" y="4724400"/>
            <a:ext cx="9372600" cy="7239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lnSpc>
                <a:spcPct val="70000"/>
              </a:lnSpc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600">
                <a:solidFill>
                  <a:srgbClr val="333399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Setelah password diset, salt dipilih secara acak</a:t>
            </a:r>
          </a:p>
          <a:p>
            <a:pPr algn="ctr" eaLnBrk="1" fontAlgn="auto">
              <a:lnSpc>
                <a:spcPct val="70000"/>
              </a:lnSpc>
              <a:spcBef>
                <a:spcPts val="598"/>
              </a:spcBef>
              <a:spcAft>
                <a:spcPts val="0"/>
              </a:spcAft>
              <a:defRPr/>
            </a:pPr>
            <a:r>
              <a:rPr lang="en-US" sz="2600">
                <a:solidFill>
                  <a:srgbClr val="333399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12-bit salt memperlambat dictionary attack dengan faktor of 2</a:t>
            </a:r>
            <a:r>
              <a:rPr lang="en-US" sz="2600" baseline="30000">
                <a:solidFill>
                  <a:srgbClr val="333399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12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AE1E-38D6-E037-0CF6-1E9DE79DEBE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Dictionary Attack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BEF74-BAA3-C880-0355-A0FAD82A10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1800" dirty="0">
                <a:solidFill>
                  <a:sysClr val="windowText" lastClr="000000"/>
                </a:solidFill>
              </a:rPr>
              <a:t>Dictionary password </a:t>
            </a:r>
            <a:r>
              <a:rPr sz="1800" dirty="0" err="1">
                <a:solidFill>
                  <a:sysClr val="windowText" lastClr="000000"/>
                </a:solidFill>
              </a:rPr>
              <a:t>umum</a:t>
            </a:r>
            <a:endParaRPr sz="1800" dirty="0">
              <a:solidFill>
                <a:sysClr val="windowText" lastClr="000000"/>
              </a:solidFill>
            </a:endParaRP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1,000,000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entri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yang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umum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digunakan</a:t>
            </a:r>
            <a:endParaRPr lang="en-US" sz="16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2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685799" algn="l"/>
                <a:tab pos="1600200" algn="l"/>
                <a:tab pos="2514600" algn="l"/>
                <a:tab pos="3429000" algn="l"/>
                <a:tab pos="4343400" algn="l"/>
                <a:tab pos="5257800" algn="l"/>
                <a:tab pos="6172200" algn="l"/>
                <a:tab pos="7086600" algn="l"/>
                <a:tab pos="8000999" algn="l"/>
                <a:tab pos="8915399" algn="l"/>
              </a:tabLst>
              <a:defRPr/>
            </a:pP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Nama orang,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nama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hewan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peliharaan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kata-kata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umum</a:t>
            </a:r>
            <a:endParaRPr lang="en-US" sz="14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Asumsikan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dilakukan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10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tebakan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per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detik</a:t>
            </a:r>
            <a:endParaRPr lang="en-US" sz="16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Dictionary attack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berhasil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max 100,000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detik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= 28 jam,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atau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rata-rata 14 jam</a:t>
            </a:r>
          </a:p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1800" dirty="0">
                <a:solidFill>
                  <a:sysClr val="windowText" lastClr="000000"/>
                </a:solidFill>
              </a:rPr>
              <a:t>Jika password random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Asumsikan</a:t>
            </a:r>
            <a:r>
              <a:rPr lang="en-US" sz="16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6 </a:t>
            </a:r>
            <a:r>
              <a:rPr lang="en-US" sz="16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karakter</a:t>
            </a:r>
            <a:endParaRPr lang="en-US" sz="16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2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685799" algn="l"/>
                <a:tab pos="1600200" algn="l"/>
                <a:tab pos="2514600" algn="l"/>
                <a:tab pos="3429000" algn="l"/>
                <a:tab pos="4343400" algn="l"/>
                <a:tab pos="5257800" algn="l"/>
                <a:tab pos="6172200" algn="l"/>
                <a:tab pos="7086600" algn="l"/>
                <a:tab pos="8000999" algn="l"/>
                <a:tab pos="8915399" algn="l"/>
              </a:tabLst>
              <a:defRPr/>
            </a:pP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Huruf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uppercase dan lowercase,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angka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32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karakter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tambahan</a:t>
            </a:r>
            <a:endParaRPr lang="en-US" sz="14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2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tabLst>
                <a:tab pos="685799" algn="l"/>
                <a:tab pos="1600200" algn="l"/>
                <a:tab pos="2514600" algn="l"/>
                <a:tab pos="3429000" algn="l"/>
                <a:tab pos="4343400" algn="l"/>
                <a:tab pos="5257800" algn="l"/>
                <a:tab pos="6172200" algn="l"/>
                <a:tab pos="7086600" algn="l"/>
                <a:tab pos="8000999" algn="l"/>
                <a:tab pos="8915399" algn="l"/>
              </a:tabLst>
              <a:defRPr/>
            </a:pP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689,869,781,056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kombinasi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Pencarian</a:t>
            </a:r>
            <a:r>
              <a:rPr lang="en-US" sz="14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rata-rata 1,093 </a:t>
            </a:r>
            <a:r>
              <a:rPr lang="en-US" sz="14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tahun</a:t>
            </a:r>
            <a:endParaRPr lang="en-US" sz="14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144F-966F-8525-4BA7-2E1D2735FA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662B3-A0D5-6BD9-31BB-57B4225EE8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Password authentication, salt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Challenge-response authentication protocols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Biometrics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Token-based authentication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llenge-response Authent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DE32-7577-EAA6-7379-106A014E53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40720" y="258120"/>
            <a:ext cx="8568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Challenge-response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243D8-D790-D42E-BF74-A4A6CCD5F9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2640"/>
            <a:ext cx="9072000" cy="778320"/>
          </a:xfrm>
        </p:spPr>
        <p:txBody>
          <a:bodyPr wrap="square" lIns="91440" tIns="45720" rIns="91440" bIns="45720"/>
          <a:lstStyle/>
          <a:p>
            <a:pPr marL="342720" indent="-342720" eaLnBrk="1" fontAlgn="auto" hangingPunct="1">
              <a:spcBef>
                <a:spcPts val="1199"/>
              </a:spcBef>
              <a:spcAft>
                <a:spcPts val="298"/>
              </a:spcAft>
              <a:tabLst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/>
            </a:pPr>
            <a:r>
              <a:rPr sz="2320">
                <a:latin typeface="Liberation Sans" pitchFamily="34"/>
              </a:rPr>
              <a:t>Tujuan: Bob ingin Alice membuktikan identitasnya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128EF3F-7B1E-C2FE-2D33-631BC916655A}"/>
              </a:ext>
            </a:extLst>
          </p:cNvPr>
          <p:cNvSpPr/>
          <p:nvPr/>
        </p:nvSpPr>
        <p:spPr>
          <a:xfrm>
            <a:off x="423863" y="2193925"/>
            <a:ext cx="6429375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ap1.0: Alice mengatakan “Saya Alice”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2EB4543-D831-CFC8-32BA-280D31472913}"/>
              </a:ext>
            </a:extLst>
          </p:cNvPr>
          <p:cNvSpPr/>
          <p:nvPr/>
        </p:nvSpPr>
        <p:spPr>
          <a:xfrm>
            <a:off x="5999163" y="3419475"/>
            <a:ext cx="2684462" cy="45878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Failure scenario??</a:t>
            </a:r>
          </a:p>
        </p:txBody>
      </p:sp>
      <p:pic>
        <p:nvPicPr>
          <p:cNvPr id="26630" name="Picture 6" descr="Alice">
            <a:extLst>
              <a:ext uri="{FF2B5EF4-FFF2-40B4-BE49-F238E27FC236}">
                <a16:creationId xmlns:a16="http://schemas.microsoft.com/office/drawing/2014/main" id="{6F59E954-20F6-8BC3-378B-BD5FF00E2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7" descr="Eve">
            <a:extLst>
              <a:ext uri="{FF2B5EF4-FFF2-40B4-BE49-F238E27FC236}">
                <a16:creationId xmlns:a16="http://schemas.microsoft.com/office/drawing/2014/main" id="{2846AF76-56D7-5334-48ED-3F4059DD5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4119563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8" descr="Bob">
            <a:extLst>
              <a:ext uri="{FF2B5EF4-FFF2-40B4-BE49-F238E27FC236}">
                <a16:creationId xmlns:a16="http://schemas.microsoft.com/office/drawing/2014/main" id="{437C31AE-A9ED-EBC7-E39D-79EB31AB2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3" y="3151188"/>
            <a:ext cx="895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9">
            <a:extLst>
              <a:ext uri="{FF2B5EF4-FFF2-40B4-BE49-F238E27FC236}">
                <a16:creationId xmlns:a16="http://schemas.microsoft.com/office/drawing/2014/main" id="{E55A841D-684E-BD35-9FFC-9193EDECD408}"/>
              </a:ext>
            </a:extLst>
          </p:cNvPr>
          <p:cNvSpPr/>
          <p:nvPr/>
        </p:nvSpPr>
        <p:spPr>
          <a:xfrm>
            <a:off x="1643063" y="3511550"/>
            <a:ext cx="2060575" cy="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CEBE22D9-225B-2E54-2CEE-494360FE988C}"/>
              </a:ext>
            </a:extLst>
          </p:cNvPr>
          <p:cNvSpPr/>
          <p:nvPr/>
        </p:nvSpPr>
        <p:spPr>
          <a:xfrm>
            <a:off x="1739900" y="3100388"/>
            <a:ext cx="1806575" cy="45878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“Saya Alice”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hent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F1A3-4232-0F57-31A5-E87B75632D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40720" y="258120"/>
            <a:ext cx="8568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Challenge-response Authentication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93980-5A68-DD2C-CEA8-34246DCEFB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2640"/>
            <a:ext cx="9072000" cy="778320"/>
          </a:xfrm>
        </p:spPr>
        <p:txBody>
          <a:bodyPr wrap="square" lIns="91440" tIns="45720" rIns="91440" bIns="45720"/>
          <a:lstStyle/>
          <a:p>
            <a:pPr marL="342720" indent="-342720" eaLnBrk="1" fontAlgn="auto" hangingPunct="1">
              <a:spcBef>
                <a:spcPts val="1199"/>
              </a:spcBef>
              <a:spcAft>
                <a:spcPts val="298"/>
              </a:spcAft>
              <a:tabLst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/>
            </a:pPr>
            <a:r>
              <a:rPr sz="2320">
                <a:latin typeface="Liberation Sans" pitchFamily="34"/>
              </a:rPr>
              <a:t>Tujuan: Bob ingin Alice membuktikan identitasnya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B3BB7C7-3E7D-F4A1-997A-E9022A92F6EB}"/>
              </a:ext>
            </a:extLst>
          </p:cNvPr>
          <p:cNvSpPr/>
          <p:nvPr/>
        </p:nvSpPr>
        <p:spPr>
          <a:xfrm>
            <a:off x="423863" y="2193925"/>
            <a:ext cx="6429375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ap1.0: Alice mengatakan “Saya Alice”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22BF7916-B960-09EC-CC23-6F24317EBB55}"/>
              </a:ext>
            </a:extLst>
          </p:cNvPr>
          <p:cNvSpPr/>
          <p:nvPr/>
        </p:nvSpPr>
        <p:spPr>
          <a:xfrm>
            <a:off x="5614988" y="3175000"/>
            <a:ext cx="3884612" cy="16176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Pada sebuah jaringan,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Bob tidak bisa ‘melihat’ Alice, sehingga Trudy cukup mengatakan bahwa dia adalah Alice</a:t>
            </a:r>
          </a:p>
        </p:txBody>
      </p:sp>
      <p:pic>
        <p:nvPicPr>
          <p:cNvPr id="28678" name="Picture 6" descr="Alice">
            <a:extLst>
              <a:ext uri="{FF2B5EF4-FFF2-40B4-BE49-F238E27FC236}">
                <a16:creationId xmlns:a16="http://schemas.microsoft.com/office/drawing/2014/main" id="{1523A7B8-F5B5-E03D-5DF9-F080CD7F3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 descr="Eve">
            <a:extLst>
              <a:ext uri="{FF2B5EF4-FFF2-40B4-BE49-F238E27FC236}">
                <a16:creationId xmlns:a16="http://schemas.microsoft.com/office/drawing/2014/main" id="{C15FBB18-4A67-0A0B-6710-CBBE4ADA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4119563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8" descr="Bob">
            <a:extLst>
              <a:ext uri="{FF2B5EF4-FFF2-40B4-BE49-F238E27FC236}">
                <a16:creationId xmlns:a16="http://schemas.microsoft.com/office/drawing/2014/main" id="{F27ED1C6-7AF3-A2FC-7880-051063DAF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313" y="3152775"/>
            <a:ext cx="8969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9">
            <a:extLst>
              <a:ext uri="{FF2B5EF4-FFF2-40B4-BE49-F238E27FC236}">
                <a16:creationId xmlns:a16="http://schemas.microsoft.com/office/drawing/2014/main" id="{AA6099B3-4D72-8110-FA03-BA653CD6E374}"/>
              </a:ext>
            </a:extLst>
          </p:cNvPr>
          <p:cNvSpPr/>
          <p:nvPr/>
        </p:nvSpPr>
        <p:spPr>
          <a:xfrm flipV="1">
            <a:off x="3068638" y="3698875"/>
            <a:ext cx="852487" cy="849313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3D884C1-466E-B650-6090-0BCADA64C048}"/>
              </a:ext>
            </a:extLst>
          </p:cNvPr>
          <p:cNvSpPr/>
          <p:nvPr/>
        </p:nvSpPr>
        <p:spPr>
          <a:xfrm>
            <a:off x="3476625" y="4135438"/>
            <a:ext cx="1804988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“Saya Alice”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hentication: another 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413F-34DE-8A3F-E963-2BB2F6595F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kedua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A542257-EA4D-7681-F3EE-83F9F4577F90}"/>
              </a:ext>
            </a:extLst>
          </p:cNvPr>
          <p:cNvSpPr/>
          <p:nvPr/>
        </p:nvSpPr>
        <p:spPr>
          <a:xfrm>
            <a:off x="320675" y="1200150"/>
            <a:ext cx="9631363" cy="8255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ap2.0: Alice mengatakan “Saya Alice” pada sebuah packet IP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yang berisi alamat IP-nya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CF41A2D-2FC3-B224-2441-28A995F7FBB8}"/>
              </a:ext>
            </a:extLst>
          </p:cNvPr>
          <p:cNvSpPr/>
          <p:nvPr/>
        </p:nvSpPr>
        <p:spPr>
          <a:xfrm>
            <a:off x="6824663" y="3400425"/>
            <a:ext cx="2684462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Failure scenario??</a:t>
            </a:r>
          </a:p>
        </p:txBody>
      </p:sp>
      <p:pic>
        <p:nvPicPr>
          <p:cNvPr id="30725" name="Picture 5" descr="Alice">
            <a:extLst>
              <a:ext uri="{FF2B5EF4-FFF2-40B4-BE49-F238E27FC236}">
                <a16:creationId xmlns:a16="http://schemas.microsoft.com/office/drawing/2014/main" id="{0B9494F7-0F94-9F08-1A0B-FBA2B6A92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6" descr="Eve">
            <a:extLst>
              <a:ext uri="{FF2B5EF4-FFF2-40B4-BE49-F238E27FC236}">
                <a16:creationId xmlns:a16="http://schemas.microsoft.com/office/drawing/2014/main" id="{6B7E678E-73D6-5DCE-75C0-871F01AB9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4119563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7" descr="Bob">
            <a:extLst>
              <a:ext uri="{FF2B5EF4-FFF2-40B4-BE49-F238E27FC236}">
                <a16:creationId xmlns:a16="http://schemas.microsoft.com/office/drawing/2014/main" id="{1F187625-D0E2-7415-3945-949CA9E5A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638" y="3046413"/>
            <a:ext cx="8969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D6D7F774-BD05-C26A-575C-F2048183A0E1}"/>
              </a:ext>
            </a:extLst>
          </p:cNvPr>
          <p:cNvSpPr/>
          <p:nvPr/>
        </p:nvSpPr>
        <p:spPr>
          <a:xfrm>
            <a:off x="1365250" y="3524250"/>
            <a:ext cx="4186238" cy="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0729" name="Group 9">
            <a:extLst>
              <a:ext uri="{FF2B5EF4-FFF2-40B4-BE49-F238E27FC236}">
                <a16:creationId xmlns:a16="http://schemas.microsoft.com/office/drawing/2014/main" id="{1B68EF42-DF25-57B2-66BA-2956C0E85358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2838450"/>
            <a:ext cx="3148012" cy="584200"/>
            <a:chOff x="1751399" y="2838960"/>
            <a:chExt cx="3148199" cy="583200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E2E307E1-8020-1FB0-A6EF-BB28E3EBDA72}"/>
                </a:ext>
              </a:extLst>
            </p:cNvPr>
            <p:cNvSpPr/>
            <p:nvPr/>
          </p:nvSpPr>
          <p:spPr>
            <a:xfrm>
              <a:off x="1751399" y="2838960"/>
              <a:ext cx="3148199" cy="522978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5FC53C09-E55D-D32A-B948-701A818E42BF}"/>
                </a:ext>
              </a:extLst>
            </p:cNvPr>
            <p:cNvSpPr/>
            <p:nvPr/>
          </p:nvSpPr>
          <p:spPr>
            <a:xfrm>
              <a:off x="3240562" y="2951480"/>
              <a:ext cx="1539966" cy="399365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“Saya Alice”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DDFF5556-7ED0-90D8-2394-85915B1A9668}"/>
                </a:ext>
              </a:extLst>
            </p:cNvPr>
            <p:cNvSpPr/>
            <p:nvPr/>
          </p:nvSpPr>
          <p:spPr>
            <a:xfrm>
              <a:off x="1913334" y="2842130"/>
              <a:ext cx="1062100" cy="58003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BD67B1EA-D19C-96D7-43FB-2022E460159D}"/>
                </a:ext>
              </a:extLst>
            </p:cNvPr>
            <p:cNvSpPr/>
            <p:nvPr/>
          </p:nvSpPr>
          <p:spPr>
            <a:xfrm>
              <a:off x="3148482" y="2846884"/>
              <a:ext cx="0" cy="51505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B978C-A597-DD47-3DE5-18B09FE26C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kedua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79CA1A1-7324-FF96-6B5D-F8662B66EED9}"/>
              </a:ext>
            </a:extLst>
          </p:cNvPr>
          <p:cNvSpPr/>
          <p:nvPr/>
        </p:nvSpPr>
        <p:spPr>
          <a:xfrm>
            <a:off x="317500" y="1200150"/>
            <a:ext cx="9631363" cy="8255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ap2.0: Alice mengatakan “Saya Alice” pada sebuah packet IP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yang berisi alamat IP-nya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369DD10-568B-DC8C-4A70-F0FAD200FD5F}"/>
              </a:ext>
            </a:extLst>
          </p:cNvPr>
          <p:cNvSpPr/>
          <p:nvPr/>
        </p:nvSpPr>
        <p:spPr>
          <a:xfrm>
            <a:off x="7000875" y="3295650"/>
            <a:ext cx="3078163" cy="155733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Trudy dapat membuat paket dengan “spoofing”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alamat Alice</a:t>
            </a:r>
          </a:p>
        </p:txBody>
      </p:sp>
      <p:pic>
        <p:nvPicPr>
          <p:cNvPr id="32773" name="Picture 5" descr="Alice">
            <a:extLst>
              <a:ext uri="{FF2B5EF4-FFF2-40B4-BE49-F238E27FC236}">
                <a16:creationId xmlns:a16="http://schemas.microsoft.com/office/drawing/2014/main" id="{79E51C81-6E09-0EBC-8AC4-61294C8FE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6" descr="Eve">
            <a:extLst>
              <a:ext uri="{FF2B5EF4-FFF2-40B4-BE49-F238E27FC236}">
                <a16:creationId xmlns:a16="http://schemas.microsoft.com/office/drawing/2014/main" id="{6BE8DE5B-29AC-37D7-53C6-7C10B78AF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4119563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7" descr="Bob">
            <a:extLst>
              <a:ext uri="{FF2B5EF4-FFF2-40B4-BE49-F238E27FC236}">
                <a16:creationId xmlns:a16="http://schemas.microsoft.com/office/drawing/2014/main" id="{58677D2F-AEE0-2EB6-880B-B4444E66E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638" y="3046413"/>
            <a:ext cx="8969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F8A96FE5-610B-4355-820B-F213E50CC157}"/>
              </a:ext>
            </a:extLst>
          </p:cNvPr>
          <p:cNvSpPr/>
          <p:nvPr/>
        </p:nvSpPr>
        <p:spPr>
          <a:xfrm flipV="1">
            <a:off x="3224213" y="3524250"/>
            <a:ext cx="2327275" cy="1023938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2777" name="Group 9">
            <a:extLst>
              <a:ext uri="{FF2B5EF4-FFF2-40B4-BE49-F238E27FC236}">
                <a16:creationId xmlns:a16="http://schemas.microsoft.com/office/drawing/2014/main" id="{2597A28B-C7CC-EB34-1748-D4FF7B40A121}"/>
              </a:ext>
            </a:extLst>
          </p:cNvPr>
          <p:cNvGrpSpPr>
            <a:grpSpLocks/>
          </p:cNvGrpSpPr>
          <p:nvPr/>
        </p:nvGrpSpPr>
        <p:grpSpPr bwMode="auto">
          <a:xfrm>
            <a:off x="3830638" y="4083050"/>
            <a:ext cx="3148012" cy="582613"/>
            <a:chOff x="3830399" y="4083120"/>
            <a:chExt cx="3148199" cy="583200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A621B0DB-F3F5-8FA1-84BA-914079DAEFE6}"/>
                </a:ext>
              </a:extLst>
            </p:cNvPr>
            <p:cNvSpPr/>
            <p:nvPr/>
          </p:nvSpPr>
          <p:spPr>
            <a:xfrm>
              <a:off x="3830399" y="4083120"/>
              <a:ext cx="3148199" cy="522814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CD4A40B0-1073-9310-44EB-AF091290F60A}"/>
                </a:ext>
              </a:extLst>
            </p:cNvPr>
            <p:cNvSpPr/>
            <p:nvPr/>
          </p:nvSpPr>
          <p:spPr>
            <a:xfrm>
              <a:off x="5319562" y="4195947"/>
              <a:ext cx="1539966" cy="39886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“Saya Alice”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50985F90-424A-1061-CBA9-BFD74D009F26}"/>
                </a:ext>
              </a:extLst>
            </p:cNvPr>
            <p:cNvSpPr/>
            <p:nvPr/>
          </p:nvSpPr>
          <p:spPr>
            <a:xfrm>
              <a:off x="3992334" y="4086298"/>
              <a:ext cx="1060513" cy="58002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ADFCADC9-3141-7797-1B9F-A76A8CD08C61}"/>
                </a:ext>
              </a:extLst>
            </p:cNvPr>
            <p:cNvSpPr/>
            <p:nvPr/>
          </p:nvSpPr>
          <p:spPr>
            <a:xfrm>
              <a:off x="5227482" y="4091066"/>
              <a:ext cx="0" cy="51486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2611-2C53-2EE1-330F-9FED997236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ketiga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B560CC1-E31F-710C-714E-4B1FE437109B}"/>
              </a:ext>
            </a:extLst>
          </p:cNvPr>
          <p:cNvSpPr/>
          <p:nvPr/>
        </p:nvSpPr>
        <p:spPr>
          <a:xfrm>
            <a:off x="788988" y="1200150"/>
            <a:ext cx="8850312" cy="8255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ap3.0: Alice mengatakan “Saya Alice” dan mengirimkan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password rahasia untuk membuktikannya.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D63826F-6EED-1AE7-27B5-7B983CBFBCBC}"/>
              </a:ext>
            </a:extLst>
          </p:cNvPr>
          <p:cNvSpPr/>
          <p:nvPr/>
        </p:nvSpPr>
        <p:spPr>
          <a:xfrm>
            <a:off x="6824663" y="3400425"/>
            <a:ext cx="2684462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Failure scenario??</a:t>
            </a:r>
          </a:p>
        </p:txBody>
      </p:sp>
      <p:pic>
        <p:nvPicPr>
          <p:cNvPr id="34821" name="Picture 5" descr="Alice">
            <a:extLst>
              <a:ext uri="{FF2B5EF4-FFF2-40B4-BE49-F238E27FC236}">
                <a16:creationId xmlns:a16="http://schemas.microsoft.com/office/drawing/2014/main" id="{1C1B1114-BD57-5EDB-E54C-848E832C1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6" descr="Eve">
            <a:extLst>
              <a:ext uri="{FF2B5EF4-FFF2-40B4-BE49-F238E27FC236}">
                <a16:creationId xmlns:a16="http://schemas.microsoft.com/office/drawing/2014/main" id="{DA5AE055-3C96-35CB-D4E2-0E36B2B65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294188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 descr="Bob">
            <a:extLst>
              <a:ext uri="{FF2B5EF4-FFF2-40B4-BE49-F238E27FC236}">
                <a16:creationId xmlns:a16="http://schemas.microsoft.com/office/drawing/2014/main" id="{DBB0F398-019E-4052-2621-725923C58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8" y="3033713"/>
            <a:ext cx="8953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EF859ABB-EC54-97D0-DD5F-6E8767D145BC}"/>
              </a:ext>
            </a:extLst>
          </p:cNvPr>
          <p:cNvSpPr/>
          <p:nvPr/>
        </p:nvSpPr>
        <p:spPr>
          <a:xfrm>
            <a:off x="1333500" y="3360738"/>
            <a:ext cx="4187825" cy="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4825" name="Group 9">
            <a:extLst>
              <a:ext uri="{FF2B5EF4-FFF2-40B4-BE49-F238E27FC236}">
                <a16:creationId xmlns:a16="http://schemas.microsoft.com/office/drawing/2014/main" id="{CE9B27F8-3D93-95EF-7F08-A412DC077D9D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2733675"/>
            <a:ext cx="3365500" cy="568325"/>
            <a:chOff x="1651680" y="2733840"/>
            <a:chExt cx="3365279" cy="568800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25B5EE78-1E7C-713B-59C9-6D95FA15F1AF}"/>
                </a:ext>
              </a:extLst>
            </p:cNvPr>
            <p:cNvSpPr/>
            <p:nvPr/>
          </p:nvSpPr>
          <p:spPr>
            <a:xfrm>
              <a:off x="1658030" y="2733840"/>
              <a:ext cx="3358929" cy="52431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DA852C63-2F61-09F1-6791-FC7442E6C718}"/>
                </a:ext>
              </a:extLst>
            </p:cNvPr>
            <p:cNvSpPr/>
            <p:nvPr/>
          </p:nvSpPr>
          <p:spPr>
            <a:xfrm>
              <a:off x="3756567" y="2835525"/>
              <a:ext cx="1179436" cy="319355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80">
                  <a:latin typeface="Liberation Sans" pitchFamily="34"/>
                  <a:ea typeface="Noto Sans CJK SC Regular" pitchFamily="2"/>
                  <a:cs typeface="FreeSans" pitchFamily="2"/>
                </a:rPr>
                <a:t>“Saya Alice”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304DC4B1-DCD0-4CC9-B589-72F6E2101B24}"/>
                </a:ext>
              </a:extLst>
            </p:cNvPr>
            <p:cNvSpPr/>
            <p:nvPr/>
          </p:nvSpPr>
          <p:spPr>
            <a:xfrm>
              <a:off x="1651680" y="2764028"/>
              <a:ext cx="955612" cy="519546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7C6C9B7A-648B-7E7B-7A25-BD08EB07EDFE}"/>
                </a:ext>
              </a:extLst>
            </p:cNvPr>
            <p:cNvSpPr/>
            <p:nvPr/>
          </p:nvSpPr>
          <p:spPr>
            <a:xfrm>
              <a:off x="2588243" y="2741785"/>
              <a:ext cx="0" cy="51636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F8A541A6-AD3E-2FAD-115E-6103BE4905D4}"/>
                </a:ext>
              </a:extLst>
            </p:cNvPr>
            <p:cNvSpPr/>
            <p:nvPr/>
          </p:nvSpPr>
          <p:spPr>
            <a:xfrm>
              <a:off x="2650152" y="2752906"/>
              <a:ext cx="1020695" cy="549734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Password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68D8F2BA-7842-DE3C-45CD-E11AB3A5B52B}"/>
                </a:ext>
              </a:extLst>
            </p:cNvPr>
            <p:cNvSpPr/>
            <p:nvPr/>
          </p:nvSpPr>
          <p:spPr>
            <a:xfrm>
              <a:off x="3701008" y="2741785"/>
              <a:ext cx="0" cy="51636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  <p:grpSp>
        <p:nvGrpSpPr>
          <p:cNvPr id="34826" name="Group 16">
            <a:extLst>
              <a:ext uri="{FF2B5EF4-FFF2-40B4-BE49-F238E27FC236}">
                <a16:creationId xmlns:a16="http://schemas.microsoft.com/office/drawing/2014/main" id="{25A42BB0-10A5-6015-4B9E-21BE0EF29269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3502025"/>
            <a:ext cx="1649413" cy="549275"/>
            <a:chOff x="3369240" y="3501719"/>
            <a:chExt cx="1649519" cy="550080"/>
          </a:xfrm>
        </p:grpSpPr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8ABA06BF-7FBD-BCFE-4D3B-AE5556B0F125}"/>
                </a:ext>
              </a:extLst>
            </p:cNvPr>
            <p:cNvSpPr/>
            <p:nvPr/>
          </p:nvSpPr>
          <p:spPr>
            <a:xfrm>
              <a:off x="3377179" y="3501719"/>
              <a:ext cx="1641580" cy="52305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DB8DF643-F06A-A6A9-F15E-B9994B632474}"/>
                </a:ext>
              </a:extLst>
            </p:cNvPr>
            <p:cNvSpPr/>
            <p:nvPr/>
          </p:nvSpPr>
          <p:spPr>
            <a:xfrm>
              <a:off x="4412295" y="3598699"/>
              <a:ext cx="511208" cy="3688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Liberation Sans" pitchFamily="34"/>
                  <a:ea typeface="Noto Sans CJK SC Regular" pitchFamily="2"/>
                  <a:cs typeface="FreeSans" pitchFamily="2"/>
                </a:rPr>
                <a:t>OK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89CD1941-409A-46CA-09E8-6CC1DADBB394}"/>
                </a:ext>
              </a:extLst>
            </p:cNvPr>
            <p:cNvSpPr/>
            <p:nvPr/>
          </p:nvSpPr>
          <p:spPr>
            <a:xfrm>
              <a:off x="3369240" y="3531926"/>
              <a:ext cx="955736" cy="51987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AF50689B-81F1-1EF4-F820-3278C3FC3A06}"/>
                </a:ext>
              </a:extLst>
            </p:cNvPr>
            <p:cNvSpPr/>
            <p:nvPr/>
          </p:nvSpPr>
          <p:spPr>
            <a:xfrm>
              <a:off x="4305925" y="3509669"/>
              <a:ext cx="0" cy="51510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  <p:sp>
        <p:nvSpPr>
          <p:cNvPr id="21" name="Line 21">
            <a:extLst>
              <a:ext uri="{FF2B5EF4-FFF2-40B4-BE49-F238E27FC236}">
                <a16:creationId xmlns:a16="http://schemas.microsoft.com/office/drawing/2014/main" id="{05E802F9-265B-EB7B-AEAD-27B635859C9F}"/>
              </a:ext>
            </a:extLst>
          </p:cNvPr>
          <p:cNvSpPr/>
          <p:nvPr/>
        </p:nvSpPr>
        <p:spPr>
          <a:xfrm>
            <a:off x="5100638" y="2976563"/>
            <a:ext cx="619125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423EE3BD-5E88-E24F-B54C-6285790A800E}"/>
              </a:ext>
            </a:extLst>
          </p:cNvPr>
          <p:cNvSpPr/>
          <p:nvPr/>
        </p:nvSpPr>
        <p:spPr>
          <a:xfrm flipH="1">
            <a:off x="2801938" y="3762375"/>
            <a:ext cx="498475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4A4D-98B8-D347-3C4E-193641B279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ketiga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E731082-C450-0999-D595-108F3F119033}"/>
              </a:ext>
            </a:extLst>
          </p:cNvPr>
          <p:cNvSpPr/>
          <p:nvPr/>
        </p:nvSpPr>
        <p:spPr>
          <a:xfrm>
            <a:off x="787400" y="1200150"/>
            <a:ext cx="8850313" cy="8255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ap3.0: Alice mengatakan “Saya Alice” dan mengirimkan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password rahasia untuk membuktikannya.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2855262-C3B1-0580-E2FC-4D14B75AC1FE}"/>
              </a:ext>
            </a:extLst>
          </p:cNvPr>
          <p:cNvSpPr/>
          <p:nvPr/>
        </p:nvSpPr>
        <p:spPr>
          <a:xfrm>
            <a:off x="6508750" y="3016250"/>
            <a:ext cx="3308350" cy="16176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Playback attack:</a:t>
            </a: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 Trudy merekam (record) paket Alice dan kemudian mengirimkan ulang (playback) ke Bob</a:t>
            </a:r>
          </a:p>
        </p:txBody>
      </p:sp>
      <p:pic>
        <p:nvPicPr>
          <p:cNvPr id="36869" name="Picture 5" descr="Alice">
            <a:extLst>
              <a:ext uri="{FF2B5EF4-FFF2-40B4-BE49-F238E27FC236}">
                <a16:creationId xmlns:a16="http://schemas.microsoft.com/office/drawing/2014/main" id="{AD71E6B0-D866-F5A2-B516-0150804FA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6" descr="Eve">
            <a:extLst>
              <a:ext uri="{FF2B5EF4-FFF2-40B4-BE49-F238E27FC236}">
                <a16:creationId xmlns:a16="http://schemas.microsoft.com/office/drawing/2014/main" id="{02FAB658-B78D-2FB6-00BA-731B8C97D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294188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7" descr="Bob">
            <a:extLst>
              <a:ext uri="{FF2B5EF4-FFF2-40B4-BE49-F238E27FC236}">
                <a16:creationId xmlns:a16="http://schemas.microsoft.com/office/drawing/2014/main" id="{C16B1BCB-ECDB-AA85-99D2-53EB8A0CE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8" y="3033713"/>
            <a:ext cx="8953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6DF5DB55-AF74-32B3-6733-E1D8FB62A10D}"/>
              </a:ext>
            </a:extLst>
          </p:cNvPr>
          <p:cNvSpPr/>
          <p:nvPr/>
        </p:nvSpPr>
        <p:spPr>
          <a:xfrm>
            <a:off x="1333500" y="3360738"/>
            <a:ext cx="4187825" cy="0"/>
          </a:xfrm>
          <a:prstGeom prst="line">
            <a:avLst/>
          </a:prstGeom>
          <a:noFill/>
          <a:ln w="57240" cap="sq">
            <a:solidFill>
              <a:srgbClr val="80808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FC69B8C-6482-6443-117E-0AC9C1B1D36C}"/>
              </a:ext>
            </a:extLst>
          </p:cNvPr>
          <p:cNvSpPr/>
          <p:nvPr/>
        </p:nvSpPr>
        <p:spPr>
          <a:xfrm>
            <a:off x="1658938" y="2733675"/>
            <a:ext cx="3359150" cy="5238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DDDDDD"/>
          </a:solidFill>
          <a:ln w="9360" cap="sq">
            <a:solidFill>
              <a:srgbClr val="0000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CC890F44-4691-C6FD-B561-96AF80B4409D}"/>
              </a:ext>
            </a:extLst>
          </p:cNvPr>
          <p:cNvSpPr/>
          <p:nvPr/>
        </p:nvSpPr>
        <p:spPr>
          <a:xfrm>
            <a:off x="3749675" y="2835275"/>
            <a:ext cx="1192213" cy="3206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9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“Saya Alice”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2797C199-099A-765A-5B6C-E8D1E1DEDBCA}"/>
              </a:ext>
            </a:extLst>
          </p:cNvPr>
          <p:cNvSpPr/>
          <p:nvPr/>
        </p:nvSpPr>
        <p:spPr>
          <a:xfrm>
            <a:off x="1651000" y="2763838"/>
            <a:ext cx="955675" cy="5207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Alamat IP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Alice</a:t>
            </a: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BA095179-ABA0-9F03-7B43-1C46B55D4E0D}"/>
              </a:ext>
            </a:extLst>
          </p:cNvPr>
          <p:cNvSpPr/>
          <p:nvPr/>
        </p:nvSpPr>
        <p:spPr>
          <a:xfrm>
            <a:off x="2587625" y="2741613"/>
            <a:ext cx="0" cy="515937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7775BBF9-A9A2-A7DF-E59F-D5759D62A753}"/>
              </a:ext>
            </a:extLst>
          </p:cNvPr>
          <p:cNvSpPr/>
          <p:nvPr/>
        </p:nvSpPr>
        <p:spPr>
          <a:xfrm>
            <a:off x="2649538" y="2751138"/>
            <a:ext cx="1020762" cy="55086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Password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Alice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4CF4969F-C00B-0D14-4F5D-43F3E30FC148}"/>
              </a:ext>
            </a:extLst>
          </p:cNvPr>
          <p:cNvSpPr/>
          <p:nvPr/>
        </p:nvSpPr>
        <p:spPr>
          <a:xfrm>
            <a:off x="3700463" y="2741613"/>
            <a:ext cx="0" cy="515937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6879" name="Group 15">
            <a:extLst>
              <a:ext uri="{FF2B5EF4-FFF2-40B4-BE49-F238E27FC236}">
                <a16:creationId xmlns:a16="http://schemas.microsoft.com/office/drawing/2014/main" id="{683B05C1-03AF-CDD4-B539-D425C0625246}"/>
              </a:ext>
            </a:extLst>
          </p:cNvPr>
          <p:cNvGrpSpPr>
            <a:grpSpLocks/>
          </p:cNvGrpSpPr>
          <p:nvPr/>
        </p:nvGrpSpPr>
        <p:grpSpPr bwMode="auto">
          <a:xfrm>
            <a:off x="3659188" y="3492500"/>
            <a:ext cx="1649412" cy="549275"/>
            <a:chOff x="3659760" y="3492359"/>
            <a:chExt cx="1649518" cy="550079"/>
          </a:xfrm>
        </p:grpSpPr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45911741-9AB5-529F-E158-0A1123FFAED6}"/>
                </a:ext>
              </a:extLst>
            </p:cNvPr>
            <p:cNvSpPr/>
            <p:nvPr/>
          </p:nvSpPr>
          <p:spPr>
            <a:xfrm>
              <a:off x="3667698" y="3492359"/>
              <a:ext cx="1641580" cy="52305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4BE0C484-5A31-BACF-8F06-5E072FE79474}"/>
                </a:ext>
              </a:extLst>
            </p:cNvPr>
            <p:cNvSpPr/>
            <p:nvPr/>
          </p:nvSpPr>
          <p:spPr>
            <a:xfrm>
              <a:off x="4702814" y="3589339"/>
              <a:ext cx="511208" cy="36883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Liberation Sans" pitchFamily="34"/>
                  <a:ea typeface="Noto Sans CJK SC Regular" pitchFamily="2"/>
                  <a:cs typeface="FreeSans" pitchFamily="2"/>
                </a:rPr>
                <a:t>OK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FC77C0F9-FF65-78B7-7B75-E87ADF67BD05}"/>
                </a:ext>
              </a:extLst>
            </p:cNvPr>
            <p:cNvSpPr/>
            <p:nvPr/>
          </p:nvSpPr>
          <p:spPr>
            <a:xfrm>
              <a:off x="3659760" y="3522566"/>
              <a:ext cx="955736" cy="51987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78675132-BB08-D56A-B39A-C803B8E1134D}"/>
                </a:ext>
              </a:extLst>
            </p:cNvPr>
            <p:cNvSpPr/>
            <p:nvPr/>
          </p:nvSpPr>
          <p:spPr>
            <a:xfrm>
              <a:off x="4596445" y="3500309"/>
              <a:ext cx="0" cy="51510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  <p:sp>
        <p:nvSpPr>
          <p:cNvPr id="20" name="Line 20">
            <a:extLst>
              <a:ext uri="{FF2B5EF4-FFF2-40B4-BE49-F238E27FC236}">
                <a16:creationId xmlns:a16="http://schemas.microsoft.com/office/drawing/2014/main" id="{DB3B719F-0C2A-7FF6-619A-E5ED1212A56B}"/>
              </a:ext>
            </a:extLst>
          </p:cNvPr>
          <p:cNvSpPr/>
          <p:nvPr/>
        </p:nvSpPr>
        <p:spPr>
          <a:xfrm>
            <a:off x="5100638" y="2976563"/>
            <a:ext cx="619125" cy="1587"/>
          </a:xfrm>
          <a:prstGeom prst="line">
            <a:avLst/>
          </a:prstGeom>
          <a:noFill/>
          <a:ln w="9360" cap="sq">
            <a:solidFill>
              <a:srgbClr val="80808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516F01C9-2974-0B09-DE18-70DFB98E6567}"/>
              </a:ext>
            </a:extLst>
          </p:cNvPr>
          <p:cNvSpPr/>
          <p:nvPr/>
        </p:nvSpPr>
        <p:spPr>
          <a:xfrm>
            <a:off x="2047875" y="3395663"/>
            <a:ext cx="687388" cy="1068387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A1216267-361D-8D72-79E5-BC2F20479A86}"/>
              </a:ext>
            </a:extLst>
          </p:cNvPr>
          <p:cNvSpPr/>
          <p:nvPr/>
        </p:nvSpPr>
        <p:spPr>
          <a:xfrm flipH="1">
            <a:off x="3687763" y="3484563"/>
            <a:ext cx="2046287" cy="1284287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0613F245-C327-F28F-8B25-E01BB9618A40}"/>
              </a:ext>
            </a:extLst>
          </p:cNvPr>
          <p:cNvSpPr/>
          <p:nvPr/>
        </p:nvSpPr>
        <p:spPr>
          <a:xfrm flipV="1">
            <a:off x="5013325" y="3919538"/>
            <a:ext cx="749300" cy="479425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4" name="Line 32">
            <a:extLst>
              <a:ext uri="{FF2B5EF4-FFF2-40B4-BE49-F238E27FC236}">
                <a16:creationId xmlns:a16="http://schemas.microsoft.com/office/drawing/2014/main" id="{3FFBE361-E54B-4BDC-8FD8-947AD2B05E8D}"/>
              </a:ext>
            </a:extLst>
          </p:cNvPr>
          <p:cNvSpPr/>
          <p:nvPr/>
        </p:nvSpPr>
        <p:spPr>
          <a:xfrm flipH="1">
            <a:off x="4075113" y="4033838"/>
            <a:ext cx="403225" cy="24130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6885" name="Group 9">
            <a:extLst>
              <a:ext uri="{FF2B5EF4-FFF2-40B4-BE49-F238E27FC236}">
                <a16:creationId xmlns:a16="http://schemas.microsoft.com/office/drawing/2014/main" id="{9B581DA6-C01C-BD4F-6127-C7AEE612C5AA}"/>
              </a:ext>
            </a:extLst>
          </p:cNvPr>
          <p:cNvGrpSpPr>
            <a:grpSpLocks/>
          </p:cNvGrpSpPr>
          <p:nvPr/>
        </p:nvGrpSpPr>
        <p:grpSpPr bwMode="auto">
          <a:xfrm>
            <a:off x="3930650" y="4664075"/>
            <a:ext cx="3365500" cy="568325"/>
            <a:chOff x="3930840" y="4663440"/>
            <a:chExt cx="3365279" cy="568800"/>
          </a:xfrm>
        </p:grpSpPr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D4EA81F2-DAC8-3F67-DBE2-39D6FAB2A385}"/>
                </a:ext>
              </a:extLst>
            </p:cNvPr>
            <p:cNvSpPr/>
            <p:nvPr/>
          </p:nvSpPr>
          <p:spPr>
            <a:xfrm>
              <a:off x="3937190" y="4663440"/>
              <a:ext cx="3358929" cy="52431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B6E94240-7390-6ED4-42F6-70CD0BB853B6}"/>
                </a:ext>
              </a:extLst>
            </p:cNvPr>
            <p:cNvSpPr/>
            <p:nvPr/>
          </p:nvSpPr>
          <p:spPr>
            <a:xfrm>
              <a:off x="6035727" y="4765125"/>
              <a:ext cx="1179436" cy="319355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80">
                  <a:latin typeface="Liberation Sans" pitchFamily="34"/>
                  <a:ea typeface="Noto Sans CJK SC Regular" pitchFamily="2"/>
                  <a:cs typeface="FreeSans" pitchFamily="2"/>
                </a:rPr>
                <a:t>“Saya Alice”</a:t>
              </a:r>
            </a:p>
          </p:txBody>
        </p:sp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6BADE402-77F0-BCBA-8B67-BE10B05076BB}"/>
                </a:ext>
              </a:extLst>
            </p:cNvPr>
            <p:cNvSpPr/>
            <p:nvPr/>
          </p:nvSpPr>
          <p:spPr>
            <a:xfrm>
              <a:off x="3930840" y="4693628"/>
              <a:ext cx="955612" cy="519546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1A3D875A-EAE7-D331-C73F-B43F2F660317}"/>
                </a:ext>
              </a:extLst>
            </p:cNvPr>
            <p:cNvSpPr/>
            <p:nvPr/>
          </p:nvSpPr>
          <p:spPr>
            <a:xfrm>
              <a:off x="4867403" y="4671385"/>
              <a:ext cx="0" cy="51636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2155FA7D-8580-B10A-E044-359A6A75C5F7}"/>
                </a:ext>
              </a:extLst>
            </p:cNvPr>
            <p:cNvSpPr/>
            <p:nvPr/>
          </p:nvSpPr>
          <p:spPr>
            <a:xfrm>
              <a:off x="4929312" y="4682506"/>
              <a:ext cx="1020695" cy="549734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Password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4098FCF6-AD71-79F4-49BA-3F870FCBA08C}"/>
                </a:ext>
              </a:extLst>
            </p:cNvPr>
            <p:cNvSpPr/>
            <p:nvPr/>
          </p:nvSpPr>
          <p:spPr>
            <a:xfrm>
              <a:off x="5980168" y="4671385"/>
              <a:ext cx="0" cy="516368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hentication: yet another 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7235-B0AD-F4C7-C85B-CE42145E60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ketiga (rev.)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CBA8938-ADAD-5FDD-A6D1-7E3E0ED5FA38}"/>
              </a:ext>
            </a:extLst>
          </p:cNvPr>
          <p:cNvSpPr/>
          <p:nvPr/>
        </p:nvSpPr>
        <p:spPr>
          <a:xfrm>
            <a:off x="814388" y="1200150"/>
            <a:ext cx="8850312" cy="8255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ap3.1: Alice mengatakan “Saya Alice” dan mengirimkan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password rahasia </a:t>
            </a:r>
            <a:r>
              <a:rPr lang="en-US" sz="2400">
                <a:solidFill>
                  <a:srgbClr val="CE181E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terenkripsi </a:t>
            </a: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untuk membuktikannya.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350077C-D50E-4AD7-FF97-128AEBD1190B}"/>
              </a:ext>
            </a:extLst>
          </p:cNvPr>
          <p:cNvSpPr/>
          <p:nvPr/>
        </p:nvSpPr>
        <p:spPr>
          <a:xfrm>
            <a:off x="6824663" y="3400425"/>
            <a:ext cx="2684462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Failure scenario??</a:t>
            </a:r>
          </a:p>
        </p:txBody>
      </p:sp>
      <p:pic>
        <p:nvPicPr>
          <p:cNvPr id="38917" name="Picture 5" descr="Alice">
            <a:extLst>
              <a:ext uri="{FF2B5EF4-FFF2-40B4-BE49-F238E27FC236}">
                <a16:creationId xmlns:a16="http://schemas.microsoft.com/office/drawing/2014/main" id="{A8810EA1-A65A-2B68-68D0-0310E78A0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6" descr="Eve">
            <a:extLst>
              <a:ext uri="{FF2B5EF4-FFF2-40B4-BE49-F238E27FC236}">
                <a16:creationId xmlns:a16="http://schemas.microsoft.com/office/drawing/2014/main" id="{16AF713A-C60D-CA5C-3047-5AE8ABAC7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294188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7" descr="Bob">
            <a:extLst>
              <a:ext uri="{FF2B5EF4-FFF2-40B4-BE49-F238E27FC236}">
                <a16:creationId xmlns:a16="http://schemas.microsoft.com/office/drawing/2014/main" id="{BD9E179B-BB8D-A009-99AF-0ED71071D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8" y="3033713"/>
            <a:ext cx="8953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96BEAD89-8BC8-9446-5B08-6BD2C6122494}"/>
              </a:ext>
            </a:extLst>
          </p:cNvPr>
          <p:cNvSpPr/>
          <p:nvPr/>
        </p:nvSpPr>
        <p:spPr>
          <a:xfrm>
            <a:off x="1333500" y="3360738"/>
            <a:ext cx="4187825" cy="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8921" name="Group 16">
            <a:extLst>
              <a:ext uri="{FF2B5EF4-FFF2-40B4-BE49-F238E27FC236}">
                <a16:creationId xmlns:a16="http://schemas.microsoft.com/office/drawing/2014/main" id="{E5AD4C60-B898-7158-A064-AAB7B2FB79B3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3502025"/>
            <a:ext cx="1649413" cy="549275"/>
            <a:chOff x="3369240" y="3501719"/>
            <a:chExt cx="1649519" cy="550080"/>
          </a:xfrm>
        </p:grpSpPr>
        <p:sp>
          <p:nvSpPr>
            <p:cNvPr id="10" name="Rectangle 17">
              <a:extLst>
                <a:ext uri="{FF2B5EF4-FFF2-40B4-BE49-F238E27FC236}">
                  <a16:creationId xmlns:a16="http://schemas.microsoft.com/office/drawing/2014/main" id="{5E558A6C-624C-C3E0-FD61-4539818CC2E1}"/>
                </a:ext>
              </a:extLst>
            </p:cNvPr>
            <p:cNvSpPr/>
            <p:nvPr/>
          </p:nvSpPr>
          <p:spPr>
            <a:xfrm>
              <a:off x="3377179" y="3501719"/>
              <a:ext cx="1641580" cy="52305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BCEB8631-C9DD-E317-6078-57B7EBD1C8E5}"/>
                </a:ext>
              </a:extLst>
            </p:cNvPr>
            <p:cNvSpPr/>
            <p:nvPr/>
          </p:nvSpPr>
          <p:spPr>
            <a:xfrm>
              <a:off x="4412295" y="3598699"/>
              <a:ext cx="511208" cy="36884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Liberation Sans" pitchFamily="34"/>
                  <a:ea typeface="Noto Sans CJK SC Regular" pitchFamily="2"/>
                  <a:cs typeface="FreeSans" pitchFamily="2"/>
                </a:rPr>
                <a:t>OK</a:t>
              </a:r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97E8BD35-0102-618C-44DF-7358C14A5234}"/>
                </a:ext>
              </a:extLst>
            </p:cNvPr>
            <p:cNvSpPr/>
            <p:nvPr/>
          </p:nvSpPr>
          <p:spPr>
            <a:xfrm>
              <a:off x="3369240" y="3531926"/>
              <a:ext cx="955736" cy="51987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id="{8F254D71-1F56-8522-9063-E7BF98D23A3B}"/>
                </a:ext>
              </a:extLst>
            </p:cNvPr>
            <p:cNvSpPr/>
            <p:nvPr/>
          </p:nvSpPr>
          <p:spPr>
            <a:xfrm>
              <a:off x="4305925" y="3509669"/>
              <a:ext cx="0" cy="51510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  <p:sp>
        <p:nvSpPr>
          <p:cNvPr id="14" name="Line 21">
            <a:extLst>
              <a:ext uri="{FF2B5EF4-FFF2-40B4-BE49-F238E27FC236}">
                <a16:creationId xmlns:a16="http://schemas.microsoft.com/office/drawing/2014/main" id="{1CF932E0-A436-CD62-A7C5-85ADEC972B2D}"/>
              </a:ext>
            </a:extLst>
          </p:cNvPr>
          <p:cNvSpPr/>
          <p:nvPr/>
        </p:nvSpPr>
        <p:spPr>
          <a:xfrm>
            <a:off x="5100638" y="2976563"/>
            <a:ext cx="619125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87F1ECAA-008F-D22A-5A5A-50F69A8D7840}"/>
              </a:ext>
            </a:extLst>
          </p:cNvPr>
          <p:cNvSpPr/>
          <p:nvPr/>
        </p:nvSpPr>
        <p:spPr>
          <a:xfrm flipH="1">
            <a:off x="2671763" y="3751263"/>
            <a:ext cx="596900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38924" name="Group 9">
            <a:extLst>
              <a:ext uri="{FF2B5EF4-FFF2-40B4-BE49-F238E27FC236}">
                <a16:creationId xmlns:a16="http://schemas.microsoft.com/office/drawing/2014/main" id="{B163002B-53C7-7E49-9DDF-42ACE86F3796}"/>
              </a:ext>
            </a:extLst>
          </p:cNvPr>
          <p:cNvGrpSpPr>
            <a:grpSpLocks/>
          </p:cNvGrpSpPr>
          <p:nvPr/>
        </p:nvGrpSpPr>
        <p:grpSpPr bwMode="auto">
          <a:xfrm>
            <a:off x="1641475" y="2727325"/>
            <a:ext cx="3365500" cy="568325"/>
            <a:chOff x="1641960" y="2726640"/>
            <a:chExt cx="3365280" cy="568799"/>
          </a:xfrm>
        </p:grpSpPr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3804B15C-9553-76F2-91CB-0DBCD32F8F9E}"/>
                </a:ext>
              </a:extLst>
            </p:cNvPr>
            <p:cNvSpPr/>
            <p:nvPr/>
          </p:nvSpPr>
          <p:spPr>
            <a:xfrm>
              <a:off x="1648310" y="2726640"/>
              <a:ext cx="3358930" cy="52431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CD8A6625-B4AE-E467-575F-EAF4E86A6234}"/>
                </a:ext>
              </a:extLst>
            </p:cNvPr>
            <p:cNvSpPr/>
            <p:nvPr/>
          </p:nvSpPr>
          <p:spPr>
            <a:xfrm>
              <a:off x="3746847" y="2828325"/>
              <a:ext cx="1179436" cy="319354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80">
                  <a:latin typeface="Liberation Sans" pitchFamily="34"/>
                  <a:ea typeface="Noto Sans CJK SC Regular" pitchFamily="2"/>
                  <a:cs typeface="FreeSans" pitchFamily="2"/>
                </a:rPr>
                <a:t>“Saya Alice”</a:t>
              </a:r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8F726496-2725-8603-EE64-078FA57A7B06}"/>
                </a:ext>
              </a:extLst>
            </p:cNvPr>
            <p:cNvSpPr/>
            <p:nvPr/>
          </p:nvSpPr>
          <p:spPr>
            <a:xfrm>
              <a:off x="1641960" y="2756828"/>
              <a:ext cx="955613" cy="519545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721EB6F0-C1DC-5B26-11AA-023067E3D813}"/>
                </a:ext>
              </a:extLst>
            </p:cNvPr>
            <p:cNvSpPr/>
            <p:nvPr/>
          </p:nvSpPr>
          <p:spPr>
            <a:xfrm>
              <a:off x="2578524" y="2734585"/>
              <a:ext cx="0" cy="51636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21" name="Text Box 14">
              <a:extLst>
                <a:ext uri="{FF2B5EF4-FFF2-40B4-BE49-F238E27FC236}">
                  <a16:creationId xmlns:a16="http://schemas.microsoft.com/office/drawing/2014/main" id="{755A8042-412C-D3F2-4AF7-C8B25E9F2FD4}"/>
                </a:ext>
              </a:extLst>
            </p:cNvPr>
            <p:cNvSpPr/>
            <p:nvPr/>
          </p:nvSpPr>
          <p:spPr>
            <a:xfrm>
              <a:off x="2640433" y="2745706"/>
              <a:ext cx="1020695" cy="54973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Password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E607F046-872B-3DB1-789C-C49698ACC1D3}"/>
                </a:ext>
              </a:extLst>
            </p:cNvPr>
            <p:cNvSpPr/>
            <p:nvPr/>
          </p:nvSpPr>
          <p:spPr>
            <a:xfrm>
              <a:off x="3691289" y="2734585"/>
              <a:ext cx="0" cy="516367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733D5-4104-3DB5-8E81-6FFB1F6E3D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ketiga (rev.)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8132606-EAB8-07D5-E3E1-E68417F2D445}"/>
              </a:ext>
            </a:extLst>
          </p:cNvPr>
          <p:cNvSpPr/>
          <p:nvPr/>
        </p:nvSpPr>
        <p:spPr>
          <a:xfrm>
            <a:off x="814388" y="1200150"/>
            <a:ext cx="8850312" cy="8255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Protocol ap3.1: Alice mengatakan “Saya Alice” dan mengirimkan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password rahasia </a:t>
            </a:r>
            <a:r>
              <a:rPr lang="en-US" sz="2400">
                <a:solidFill>
                  <a:srgbClr val="CE181E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terenkripsi </a:t>
            </a: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untuk membuktikannya.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EEE5D40-DF7F-335B-459A-4F2D4657C666}"/>
              </a:ext>
            </a:extLst>
          </p:cNvPr>
          <p:cNvSpPr/>
          <p:nvPr/>
        </p:nvSpPr>
        <p:spPr>
          <a:xfrm>
            <a:off x="7550150" y="2841625"/>
            <a:ext cx="1585913" cy="155733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record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and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playback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still </a:t>
            </a: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works!</a:t>
            </a:r>
          </a:p>
        </p:txBody>
      </p:sp>
      <p:pic>
        <p:nvPicPr>
          <p:cNvPr id="40965" name="Picture 5" descr="Alice">
            <a:extLst>
              <a:ext uri="{FF2B5EF4-FFF2-40B4-BE49-F238E27FC236}">
                <a16:creationId xmlns:a16="http://schemas.microsoft.com/office/drawing/2014/main" id="{F0EE2C79-2E4F-591A-2C3E-16BD7B8CA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76575"/>
            <a:ext cx="769937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 descr="Eve">
            <a:extLst>
              <a:ext uri="{FF2B5EF4-FFF2-40B4-BE49-F238E27FC236}">
                <a16:creationId xmlns:a16="http://schemas.microsoft.com/office/drawing/2014/main" id="{970F60A8-6C52-9C58-4B2A-63F215085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4294188"/>
            <a:ext cx="11938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7" descr="Bob">
            <a:extLst>
              <a:ext uri="{FF2B5EF4-FFF2-40B4-BE49-F238E27FC236}">
                <a16:creationId xmlns:a16="http://schemas.microsoft.com/office/drawing/2014/main" id="{B8D783D6-18AF-4DDD-9B84-9720FB202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8" y="3033713"/>
            <a:ext cx="8953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8">
            <a:extLst>
              <a:ext uri="{FF2B5EF4-FFF2-40B4-BE49-F238E27FC236}">
                <a16:creationId xmlns:a16="http://schemas.microsoft.com/office/drawing/2014/main" id="{966FA864-66AE-1BCC-0360-17FE75F5E004}"/>
              </a:ext>
            </a:extLst>
          </p:cNvPr>
          <p:cNvSpPr/>
          <p:nvPr/>
        </p:nvSpPr>
        <p:spPr>
          <a:xfrm>
            <a:off x="1333500" y="3360738"/>
            <a:ext cx="4187825" cy="0"/>
          </a:xfrm>
          <a:prstGeom prst="line">
            <a:avLst/>
          </a:prstGeom>
          <a:noFill/>
          <a:ln w="57240" cap="sq">
            <a:solidFill>
              <a:srgbClr val="80808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64BC8C9-4726-E462-B2B5-5AAC672B695C}"/>
              </a:ext>
            </a:extLst>
          </p:cNvPr>
          <p:cNvSpPr/>
          <p:nvPr/>
        </p:nvSpPr>
        <p:spPr>
          <a:xfrm>
            <a:off x="1658938" y="2733675"/>
            <a:ext cx="3359150" cy="5238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DDDDDD"/>
          </a:solidFill>
          <a:ln w="9360" cap="sq">
            <a:solidFill>
              <a:srgbClr val="000000"/>
            </a:solidFill>
            <a:prstDash val="solid"/>
            <a:miter/>
          </a:ln>
        </p:spPr>
        <p:txBody>
          <a:bodyPr wrap="none" lIns="90000" tIns="46800" rIns="90000" bIns="46800" anchor="ctr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1E001C47-F22C-CCED-D84F-A2DEAD48EC41}"/>
              </a:ext>
            </a:extLst>
          </p:cNvPr>
          <p:cNvSpPr/>
          <p:nvPr/>
        </p:nvSpPr>
        <p:spPr>
          <a:xfrm>
            <a:off x="3756025" y="2835275"/>
            <a:ext cx="1179513" cy="31908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8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“Saya Alice”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F9100AB0-A513-4D8B-7CBA-9B3F83D3D063}"/>
              </a:ext>
            </a:extLst>
          </p:cNvPr>
          <p:cNvSpPr/>
          <p:nvPr/>
        </p:nvSpPr>
        <p:spPr>
          <a:xfrm>
            <a:off x="1651000" y="2763838"/>
            <a:ext cx="955675" cy="5207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Alamat IP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Alice</a:t>
            </a: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30C4C22C-F652-37FE-18E0-9CD872A1AB60}"/>
              </a:ext>
            </a:extLst>
          </p:cNvPr>
          <p:cNvSpPr/>
          <p:nvPr/>
        </p:nvSpPr>
        <p:spPr>
          <a:xfrm>
            <a:off x="2587625" y="2741613"/>
            <a:ext cx="0" cy="515937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3C0743AA-82FD-F5FC-3AB0-54524B9D0A61}"/>
              </a:ext>
            </a:extLst>
          </p:cNvPr>
          <p:cNvSpPr/>
          <p:nvPr/>
        </p:nvSpPr>
        <p:spPr>
          <a:xfrm>
            <a:off x="2651125" y="2752725"/>
            <a:ext cx="1020763" cy="5492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Password</a:t>
            </a:r>
          </a:p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>
                <a:solidFill>
                  <a:srgbClr val="808080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Alice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4B9E42BF-77A0-80FA-5D7D-236EAECA3690}"/>
              </a:ext>
            </a:extLst>
          </p:cNvPr>
          <p:cNvSpPr/>
          <p:nvPr/>
        </p:nvSpPr>
        <p:spPr>
          <a:xfrm>
            <a:off x="3700463" y="2741613"/>
            <a:ext cx="0" cy="515937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0975" name="Group 15">
            <a:extLst>
              <a:ext uri="{FF2B5EF4-FFF2-40B4-BE49-F238E27FC236}">
                <a16:creationId xmlns:a16="http://schemas.microsoft.com/office/drawing/2014/main" id="{FD99130D-58BB-34ED-8F1F-3AFDDC5E0DA2}"/>
              </a:ext>
            </a:extLst>
          </p:cNvPr>
          <p:cNvGrpSpPr>
            <a:grpSpLocks/>
          </p:cNvGrpSpPr>
          <p:nvPr/>
        </p:nvGrpSpPr>
        <p:grpSpPr bwMode="auto">
          <a:xfrm>
            <a:off x="3659188" y="3492500"/>
            <a:ext cx="1649412" cy="549275"/>
            <a:chOff x="3659760" y="3492359"/>
            <a:chExt cx="1649518" cy="550079"/>
          </a:xfrm>
        </p:grpSpPr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D7D55120-9DC0-EDCA-26F0-0D865A1A383A}"/>
                </a:ext>
              </a:extLst>
            </p:cNvPr>
            <p:cNvSpPr/>
            <p:nvPr/>
          </p:nvSpPr>
          <p:spPr>
            <a:xfrm>
              <a:off x="3667698" y="3492359"/>
              <a:ext cx="1641580" cy="52305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64B8DE0-1C06-53D2-C0DF-84B19E8FCC8E}"/>
                </a:ext>
              </a:extLst>
            </p:cNvPr>
            <p:cNvSpPr/>
            <p:nvPr/>
          </p:nvSpPr>
          <p:spPr>
            <a:xfrm>
              <a:off x="4702814" y="3589339"/>
              <a:ext cx="511208" cy="36883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Liberation Sans" pitchFamily="34"/>
                  <a:ea typeface="Noto Sans CJK SC Regular" pitchFamily="2"/>
                  <a:cs typeface="FreeSans" pitchFamily="2"/>
                </a:rPr>
                <a:t>OK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93BEDA3B-9BBF-0AFD-9DC4-4EC0D1623330}"/>
                </a:ext>
              </a:extLst>
            </p:cNvPr>
            <p:cNvSpPr/>
            <p:nvPr/>
          </p:nvSpPr>
          <p:spPr>
            <a:xfrm>
              <a:off x="3659760" y="3522566"/>
              <a:ext cx="955736" cy="51987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25A31758-4A5A-218E-253D-89E3686D4634}"/>
                </a:ext>
              </a:extLst>
            </p:cNvPr>
            <p:cNvSpPr/>
            <p:nvPr/>
          </p:nvSpPr>
          <p:spPr>
            <a:xfrm>
              <a:off x="4596445" y="3500309"/>
              <a:ext cx="0" cy="51510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  <p:sp>
        <p:nvSpPr>
          <p:cNvPr id="20" name="Line 20">
            <a:extLst>
              <a:ext uri="{FF2B5EF4-FFF2-40B4-BE49-F238E27FC236}">
                <a16:creationId xmlns:a16="http://schemas.microsoft.com/office/drawing/2014/main" id="{2DE4A94C-1543-95BE-179C-244BA25725CA}"/>
              </a:ext>
            </a:extLst>
          </p:cNvPr>
          <p:cNvSpPr/>
          <p:nvPr/>
        </p:nvSpPr>
        <p:spPr>
          <a:xfrm>
            <a:off x="5100638" y="2976563"/>
            <a:ext cx="619125" cy="1587"/>
          </a:xfrm>
          <a:prstGeom prst="line">
            <a:avLst/>
          </a:prstGeom>
          <a:noFill/>
          <a:ln w="9360" cap="sq">
            <a:solidFill>
              <a:srgbClr val="80808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34267096-FB9A-3FAF-2423-7599224412D9}"/>
              </a:ext>
            </a:extLst>
          </p:cNvPr>
          <p:cNvSpPr/>
          <p:nvPr/>
        </p:nvSpPr>
        <p:spPr>
          <a:xfrm>
            <a:off x="2047875" y="3395663"/>
            <a:ext cx="687388" cy="1068387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D04208E2-996A-666A-EE03-186C680EC61A}"/>
              </a:ext>
            </a:extLst>
          </p:cNvPr>
          <p:cNvSpPr/>
          <p:nvPr/>
        </p:nvSpPr>
        <p:spPr>
          <a:xfrm flipH="1">
            <a:off x="3687763" y="3484563"/>
            <a:ext cx="2046287" cy="1284287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FE536E42-E52D-3D23-973F-33D1E32EDD0F}"/>
              </a:ext>
            </a:extLst>
          </p:cNvPr>
          <p:cNvSpPr/>
          <p:nvPr/>
        </p:nvSpPr>
        <p:spPr>
          <a:xfrm flipV="1">
            <a:off x="5013325" y="3919538"/>
            <a:ext cx="749300" cy="479425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4" name="Line 32">
            <a:extLst>
              <a:ext uri="{FF2B5EF4-FFF2-40B4-BE49-F238E27FC236}">
                <a16:creationId xmlns:a16="http://schemas.microsoft.com/office/drawing/2014/main" id="{6D54795D-6672-65D4-BCC9-2C9CC5B5B3A5}"/>
              </a:ext>
            </a:extLst>
          </p:cNvPr>
          <p:cNvSpPr/>
          <p:nvPr/>
        </p:nvSpPr>
        <p:spPr>
          <a:xfrm flipH="1">
            <a:off x="4075113" y="4033838"/>
            <a:ext cx="403225" cy="24130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0981" name="Group 9">
            <a:extLst>
              <a:ext uri="{FF2B5EF4-FFF2-40B4-BE49-F238E27FC236}">
                <a16:creationId xmlns:a16="http://schemas.microsoft.com/office/drawing/2014/main" id="{61905F34-C4BE-06BA-ABB6-D015F88A2F1C}"/>
              </a:ext>
            </a:extLst>
          </p:cNvPr>
          <p:cNvGrpSpPr>
            <a:grpSpLocks/>
          </p:cNvGrpSpPr>
          <p:nvPr/>
        </p:nvGrpSpPr>
        <p:grpSpPr bwMode="auto">
          <a:xfrm>
            <a:off x="3906838" y="4479925"/>
            <a:ext cx="3365500" cy="569913"/>
            <a:chOff x="3907440" y="4480560"/>
            <a:chExt cx="3365280" cy="568800"/>
          </a:xfrm>
        </p:grpSpPr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E1DDC70-1375-0196-94A4-9A7EE79DA46C}"/>
                </a:ext>
              </a:extLst>
            </p:cNvPr>
            <p:cNvSpPr/>
            <p:nvPr/>
          </p:nvSpPr>
          <p:spPr>
            <a:xfrm>
              <a:off x="3913790" y="4480560"/>
              <a:ext cx="3358930" cy="524437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FF"/>
            </a:solidFill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wrap="none" lIns="90000" tIns="46800" rIns="90000" bIns="46800" anchor="ctr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935876A3-FDE8-2A4B-B7D2-037F98E43DAF}"/>
                </a:ext>
              </a:extLst>
            </p:cNvPr>
            <p:cNvSpPr/>
            <p:nvPr/>
          </p:nvSpPr>
          <p:spPr>
            <a:xfrm>
              <a:off x="6012327" y="4581962"/>
              <a:ext cx="1179435" cy="318465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80">
                  <a:latin typeface="Liberation Sans" pitchFamily="34"/>
                  <a:ea typeface="Noto Sans CJK SC Regular" pitchFamily="2"/>
                  <a:cs typeface="FreeSans" pitchFamily="2"/>
                </a:rPr>
                <a:t>“Saya Alice”</a:t>
              </a:r>
            </a:p>
          </p:txBody>
        </p:sp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A417B55B-844D-69B2-B5DC-B4F913295C34}"/>
                </a:ext>
              </a:extLst>
            </p:cNvPr>
            <p:cNvSpPr/>
            <p:nvPr/>
          </p:nvSpPr>
          <p:spPr>
            <a:xfrm>
              <a:off x="3907440" y="4510664"/>
              <a:ext cx="955613" cy="51968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Alamat IP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3C76D5D6-6754-77CE-37F8-6759124F440B}"/>
                </a:ext>
              </a:extLst>
            </p:cNvPr>
            <p:cNvSpPr/>
            <p:nvPr/>
          </p:nvSpPr>
          <p:spPr>
            <a:xfrm>
              <a:off x="4844004" y="4488482"/>
              <a:ext cx="0" cy="51651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  <p:sp>
          <p:nvSpPr>
            <p:cNvPr id="30" name="Text Box 14">
              <a:extLst>
                <a:ext uri="{FF2B5EF4-FFF2-40B4-BE49-F238E27FC236}">
                  <a16:creationId xmlns:a16="http://schemas.microsoft.com/office/drawing/2014/main" id="{66EB6493-AA9B-4E21-D06D-E7EF25801AAB}"/>
                </a:ext>
              </a:extLst>
            </p:cNvPr>
            <p:cNvSpPr/>
            <p:nvPr/>
          </p:nvSpPr>
          <p:spPr>
            <a:xfrm>
              <a:off x="4905912" y="4499573"/>
              <a:ext cx="1020696" cy="549787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Password</a:t>
              </a:r>
            </a:p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Alice</a:t>
              </a:r>
            </a:p>
          </p:txBody>
        </p:sp>
        <p:sp>
          <p:nvSpPr>
            <p:cNvPr id="31" name="Line 15">
              <a:extLst>
                <a:ext uri="{FF2B5EF4-FFF2-40B4-BE49-F238E27FC236}">
                  <a16:creationId xmlns:a16="http://schemas.microsoft.com/office/drawing/2014/main" id="{0D7AC077-E3AD-94C9-37EE-19A57CB3D712}"/>
                </a:ext>
              </a:extLst>
            </p:cNvPr>
            <p:cNvSpPr/>
            <p:nvPr/>
          </p:nvSpPr>
          <p:spPr>
            <a:xfrm>
              <a:off x="5956768" y="4488482"/>
              <a:ext cx="0" cy="51651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prstDash val="solid"/>
              <a:miter/>
            </a:ln>
          </p:spPr>
          <p:txBody>
            <a:bodyPr lIns="90000" tIns="46800" rIns="90000" bIns="46800" compatLnSpc="0"/>
            <a:lstStyle/>
            <a:p>
              <a:pPr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Liberation Sans" pitchFamily="18"/>
                <a:ea typeface="Noto Sans CJK SC Regular" pitchFamily="2"/>
                <a:cs typeface="FreeSans" pitchFamily="2"/>
              </a:endParaRPr>
            </a:p>
          </p:txBody>
        </p:sp>
      </p:grp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802A-A49E-F3F4-4DD4-67C64D03E9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keempat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BC42D73-919D-0D82-F3F6-42DD8FF5D77B}"/>
              </a:ext>
            </a:extLst>
          </p:cNvPr>
          <p:cNvSpPr/>
          <p:nvPr/>
        </p:nvSpPr>
        <p:spPr>
          <a:xfrm>
            <a:off x="828675" y="4905375"/>
            <a:ext cx="3141663" cy="46037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Comic Sans MS" pitchFamily="66"/>
                <a:ea typeface="Noto Sans CJK SC Regular" pitchFamily="2"/>
                <a:cs typeface="FreeSans" pitchFamily="2"/>
              </a:rPr>
              <a:t>Failures, drawbacks?</a:t>
            </a:r>
          </a:p>
        </p:txBody>
      </p:sp>
      <p:pic>
        <p:nvPicPr>
          <p:cNvPr id="43012" name="Picture 7" descr="Alice">
            <a:extLst>
              <a:ext uri="{FF2B5EF4-FFF2-40B4-BE49-F238E27FC236}">
                <a16:creationId xmlns:a16="http://schemas.microsoft.com/office/drawing/2014/main" id="{53CB9913-7AAA-FEB7-BD36-74E8AD8C9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" y="3089275"/>
            <a:ext cx="769938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8" descr="Bob">
            <a:extLst>
              <a:ext uri="{FF2B5EF4-FFF2-40B4-BE49-F238E27FC236}">
                <a16:creationId xmlns:a16="http://schemas.microsoft.com/office/drawing/2014/main" id="{55A2F6D1-E893-7E12-4C78-26CC12984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288" y="3048000"/>
            <a:ext cx="895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9">
            <a:extLst>
              <a:ext uri="{FF2B5EF4-FFF2-40B4-BE49-F238E27FC236}">
                <a16:creationId xmlns:a16="http://schemas.microsoft.com/office/drawing/2014/main" id="{727DF85C-065B-DC8B-C62C-8DAE35549BA1}"/>
              </a:ext>
            </a:extLst>
          </p:cNvPr>
          <p:cNvSpPr/>
          <p:nvPr/>
        </p:nvSpPr>
        <p:spPr>
          <a:xfrm>
            <a:off x="3013075" y="3157538"/>
            <a:ext cx="4076700" cy="21590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3745E5A-96BE-58E0-C3EC-D0766DE988AE}"/>
              </a:ext>
            </a:extLst>
          </p:cNvPr>
          <p:cNvSpPr/>
          <p:nvPr/>
        </p:nvSpPr>
        <p:spPr>
          <a:xfrm>
            <a:off x="4171950" y="2830513"/>
            <a:ext cx="1804988" cy="45878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Liberation Sans" pitchFamily="34"/>
                <a:ea typeface="Noto Sans CJK SC Regular" pitchFamily="2"/>
                <a:cs typeface="FreeSans" pitchFamily="2"/>
              </a:rPr>
              <a:t>“Saya Alice”</a:t>
            </a:r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B408C34C-E236-9BA9-016F-4EC511C08066}"/>
              </a:ext>
            </a:extLst>
          </p:cNvPr>
          <p:cNvSpPr/>
          <p:nvPr/>
        </p:nvSpPr>
        <p:spPr>
          <a:xfrm flipH="1">
            <a:off x="3006725" y="3668713"/>
            <a:ext cx="4075113" cy="21590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EB940BAA-7E77-D689-E9C8-0CBBE8C97B5F}"/>
              </a:ext>
            </a:extLst>
          </p:cNvPr>
          <p:cNvSpPr/>
          <p:nvPr/>
        </p:nvSpPr>
        <p:spPr>
          <a:xfrm>
            <a:off x="3014663" y="4214813"/>
            <a:ext cx="4076700" cy="21590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DB272531-ED97-6515-B032-5F0A018B2086}"/>
              </a:ext>
            </a:extLst>
          </p:cNvPr>
          <p:cNvSpPr/>
          <p:nvPr/>
        </p:nvSpPr>
        <p:spPr>
          <a:xfrm>
            <a:off x="4748213" y="3387725"/>
            <a:ext cx="381000" cy="43021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>
                <a:latin typeface="Liberation Sans" pitchFamily="34"/>
                <a:ea typeface="Noto Sans CJK SC Regular" pitchFamily="2"/>
                <a:cs typeface="FreeSans" pitchFamily="2"/>
              </a:rPr>
              <a:t>N</a:t>
            </a:r>
          </a:p>
        </p:txBody>
      </p:sp>
      <p:grpSp>
        <p:nvGrpSpPr>
          <p:cNvPr id="43019" name="Group 14">
            <a:extLst>
              <a:ext uri="{FF2B5EF4-FFF2-40B4-BE49-F238E27FC236}">
                <a16:creationId xmlns:a16="http://schemas.microsoft.com/office/drawing/2014/main" id="{71C25CC5-BC2A-8B84-6F98-8EA29C2D57D9}"/>
              </a:ext>
            </a:extLst>
          </p:cNvPr>
          <p:cNvGrpSpPr>
            <a:grpSpLocks/>
          </p:cNvGrpSpPr>
          <p:nvPr/>
        </p:nvGrpSpPr>
        <p:grpSpPr bwMode="auto">
          <a:xfrm>
            <a:off x="5165725" y="3886200"/>
            <a:ext cx="985838" cy="495300"/>
            <a:chOff x="5166000" y="3885479"/>
            <a:chExt cx="985320" cy="496800"/>
          </a:xfrm>
        </p:grpSpPr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49250B0F-3EC7-B724-876F-095F4C2B77DF}"/>
                </a:ext>
              </a:extLst>
            </p:cNvPr>
            <p:cNvSpPr/>
            <p:nvPr/>
          </p:nvSpPr>
          <p:spPr>
            <a:xfrm>
              <a:off x="5166000" y="3885479"/>
              <a:ext cx="985320" cy="39967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K    (R)</a:t>
              </a:r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E6B8C8D2-C826-BD39-83CC-02B022F53D1F}"/>
                </a:ext>
              </a:extLst>
            </p:cNvPr>
            <p:cNvSpPr/>
            <p:nvPr/>
          </p:nvSpPr>
          <p:spPr>
            <a:xfrm>
              <a:off x="5258027" y="4060633"/>
              <a:ext cx="498213" cy="321646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A-B</a:t>
              </a:r>
            </a:p>
          </p:txBody>
        </p:sp>
      </p:grpSp>
      <p:sp>
        <p:nvSpPr>
          <p:cNvPr id="14" name="Text Box 17">
            <a:extLst>
              <a:ext uri="{FF2B5EF4-FFF2-40B4-BE49-F238E27FC236}">
                <a16:creationId xmlns:a16="http://schemas.microsoft.com/office/drawing/2014/main" id="{50A72280-26B2-5401-6441-9963F1321E72}"/>
              </a:ext>
            </a:extLst>
          </p:cNvPr>
          <p:cNvSpPr/>
          <p:nvPr/>
        </p:nvSpPr>
        <p:spPr>
          <a:xfrm>
            <a:off x="7021513" y="3886200"/>
            <a:ext cx="2570162" cy="10033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90">
                <a:latin typeface="Liberation Sans" pitchFamily="34"/>
                <a:ea typeface="Noto Sans CJK SC Regular" pitchFamily="2"/>
                <a:cs typeface="FreeSans" pitchFamily="2"/>
              </a:rPr>
              <a:t>Alice ada, dan hanya Alice yang tahu kunci untuk men-enkrip nonce, sehingga pasti Alice!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3B3BC-2C22-A238-02CB-514C51BA659A}"/>
              </a:ext>
            </a:extLst>
          </p:cNvPr>
          <p:cNvSpPr txBox="1"/>
          <p:nvPr/>
        </p:nvSpPr>
        <p:spPr>
          <a:xfrm>
            <a:off x="476250" y="1300163"/>
            <a:ext cx="9134475" cy="1033462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Tujuan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: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menghindari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serangan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playback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Nonce: number (N)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digunakan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</a:t>
            </a:r>
            <a:r>
              <a:rPr lang="en-US" sz="1600" i="1" dirty="0" err="1">
                <a:solidFill>
                  <a:srgbClr val="CE181E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hanya</a:t>
            </a:r>
            <a:r>
              <a:rPr lang="en-US" sz="1600" i="1" dirty="0">
                <a:solidFill>
                  <a:srgbClr val="CE181E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 </a:t>
            </a:r>
            <a:r>
              <a:rPr lang="en-US" sz="1600" i="1" dirty="0" err="1">
                <a:solidFill>
                  <a:srgbClr val="CE181E"/>
                </a:solidFill>
                <a:latin typeface="Liberation Sans" pitchFamily="34"/>
                <a:ea typeface="Noto Sans CJK SC Regular" pitchFamily="2"/>
                <a:cs typeface="FreeSans" pitchFamily="2"/>
              </a:rPr>
              <a:t>sekali</a:t>
            </a:r>
            <a:endParaRPr lang="en-US" sz="1600" i="1" dirty="0">
              <a:solidFill>
                <a:srgbClr val="CE181E"/>
              </a:solidFill>
              <a:latin typeface="Liberation Sans" pitchFamily="34"/>
              <a:ea typeface="Noto Sans CJK SC Regular" pitchFamily="2"/>
              <a:cs typeface="FreeSans" pitchFamily="2"/>
            </a:endParaRPr>
          </a:p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Protocol ap4.0: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Untuk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membuktikan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Alice “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ada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”,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Bob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mengirim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nonce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ke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Alice. Alice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harus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mengembalikan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N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terenkripsi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</a:t>
            </a:r>
            <a:r>
              <a:rPr lang="en-US" sz="1600" dirty="0" err="1">
                <a:latin typeface="Liberation Sans" pitchFamily="34"/>
                <a:ea typeface="Noto Sans CJK SC Regular" pitchFamily="2"/>
                <a:cs typeface="FreeSans" pitchFamily="2"/>
              </a:rPr>
              <a:t>dengan</a:t>
            </a:r>
            <a:r>
              <a:rPr lang="en-US" sz="1600" dirty="0">
                <a:latin typeface="Liberation Sans" pitchFamily="34"/>
                <a:ea typeface="Noto Sans CJK SC Regular" pitchFamily="2"/>
                <a:cs typeface="FreeSans" pitchFamily="2"/>
              </a:rPr>
              <a:t> shared secret key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hentication: ap5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17D8-B68C-D553-E92D-50646A3501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800"/>
            <a:ext cx="9072000" cy="945000"/>
          </a:xfrm>
        </p:spPr>
        <p:txBody>
          <a:bodyPr wrap="square" lIns="91440" tIns="45720" rIns="91440" bIns="45720">
            <a:noAutofit/>
          </a:bodyPr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sz="3600">
                <a:latin typeface="Liberation Sans" pitchFamily="34"/>
              </a:rPr>
              <a:t>Authentication: usaha kelima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F1179-845D-C709-545B-DD93335033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0120" y="1204559"/>
            <a:ext cx="9210240" cy="3843000"/>
          </a:xfrm>
        </p:spPr>
        <p:txBody>
          <a:bodyPr wrap="square" lIns="91440" tIns="45720" rIns="91440" bIns="45720"/>
          <a:lstStyle/>
          <a:p>
            <a:pPr marL="342720" indent="-342720"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/>
            </a:pPr>
            <a:r>
              <a:rPr sz="2200">
                <a:latin typeface="Liberation Sans" pitchFamily="34"/>
              </a:rPr>
              <a:t>ap4.0 masih menggunakan shared key</a:t>
            </a:r>
          </a:p>
          <a:p>
            <a:pPr marL="0" lvl="1" indent="0" fontAlgn="auto" hangingPunct="0">
              <a:lnSpc>
                <a:spcPct val="100000"/>
              </a:lnSpc>
              <a:spcBef>
                <a:spcPts val="989"/>
              </a:spcBef>
              <a:spcAft>
                <a:spcPts val="244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lang="en-US" sz="2200"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</a:rPr>
              <a:t>Bisakah autentikasi menggunakan teknik public key?</a:t>
            </a:r>
          </a:p>
          <a:p>
            <a:pPr marL="342720" indent="-342720"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914040" algn="l"/>
                <a:tab pos="1828439" algn="l"/>
                <a:tab pos="2742839" algn="l"/>
                <a:tab pos="3657239" algn="l"/>
                <a:tab pos="4571639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  <a:defRPr/>
            </a:pPr>
            <a:r>
              <a:rPr sz="2200" u="sng">
                <a:solidFill>
                  <a:srgbClr val="FF0000"/>
                </a:solidFill>
                <a:latin typeface="Liberation Sans" pitchFamily="34"/>
              </a:rPr>
              <a:t>ap5.0:</a:t>
            </a:r>
            <a:r>
              <a:rPr sz="2200">
                <a:latin typeface="Liberation Sans" pitchFamily="34"/>
              </a:rPr>
              <a:t> menggunakan nonce, public key cryptography</a:t>
            </a:r>
          </a:p>
        </p:txBody>
      </p:sp>
      <p:pic>
        <p:nvPicPr>
          <p:cNvPr id="45060" name="Picture 4" descr="Alice">
            <a:extLst>
              <a:ext uri="{FF2B5EF4-FFF2-40B4-BE49-F238E27FC236}">
                <a16:creationId xmlns:a16="http://schemas.microsoft.com/office/drawing/2014/main" id="{F95804DC-AB86-7718-D57A-8966EDF63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2778125"/>
            <a:ext cx="769938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5" descr="Bob">
            <a:extLst>
              <a:ext uri="{FF2B5EF4-FFF2-40B4-BE49-F238E27FC236}">
                <a16:creationId xmlns:a16="http://schemas.microsoft.com/office/drawing/2014/main" id="{2868B2EB-517E-A099-AD4F-AA5613BD8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2736850"/>
            <a:ext cx="8969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6">
            <a:extLst>
              <a:ext uri="{FF2B5EF4-FFF2-40B4-BE49-F238E27FC236}">
                <a16:creationId xmlns:a16="http://schemas.microsoft.com/office/drawing/2014/main" id="{35FAD7D6-592E-D6A6-C2B8-D5DD61B08F56}"/>
              </a:ext>
            </a:extLst>
          </p:cNvPr>
          <p:cNvSpPr/>
          <p:nvPr/>
        </p:nvSpPr>
        <p:spPr>
          <a:xfrm>
            <a:off x="1812925" y="2846388"/>
            <a:ext cx="4075113" cy="21590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5E132B43-EAF5-D875-3941-73FD2DE5C913}"/>
              </a:ext>
            </a:extLst>
          </p:cNvPr>
          <p:cNvSpPr/>
          <p:nvPr/>
        </p:nvSpPr>
        <p:spPr>
          <a:xfrm>
            <a:off x="3175000" y="2590800"/>
            <a:ext cx="1539875" cy="4000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“Saya Alice”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CB8E73FA-E5AB-3D91-2898-2F2A41E5E33E}"/>
              </a:ext>
            </a:extLst>
          </p:cNvPr>
          <p:cNvSpPr/>
          <p:nvPr/>
        </p:nvSpPr>
        <p:spPr>
          <a:xfrm flipH="1">
            <a:off x="1773238" y="3167063"/>
            <a:ext cx="4076700" cy="215900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5B0F7375-868A-33B2-32B3-A7B1C2932495}"/>
              </a:ext>
            </a:extLst>
          </p:cNvPr>
          <p:cNvSpPr/>
          <p:nvPr/>
        </p:nvSpPr>
        <p:spPr>
          <a:xfrm>
            <a:off x="1830388" y="3556000"/>
            <a:ext cx="4075112" cy="217488"/>
          </a:xfrm>
          <a:prstGeom prst="line">
            <a:avLst/>
          </a:prstGeom>
          <a:noFill/>
          <a:ln w="5724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7D02D4E-90AC-E9A5-8062-D38CEEBCE68E}"/>
              </a:ext>
            </a:extLst>
          </p:cNvPr>
          <p:cNvSpPr/>
          <p:nvPr/>
        </p:nvSpPr>
        <p:spPr>
          <a:xfrm>
            <a:off x="2659063" y="2994025"/>
            <a:ext cx="365125" cy="3984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N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5CC51681-F1D1-660B-3B93-DBE46B5DCCA7}"/>
              </a:ext>
            </a:extLst>
          </p:cNvPr>
          <p:cNvSpPr/>
          <p:nvPr/>
        </p:nvSpPr>
        <p:spPr>
          <a:xfrm>
            <a:off x="6980238" y="2784475"/>
            <a:ext cx="2570162" cy="4000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Bob menghitung</a:t>
            </a:r>
          </a:p>
        </p:txBody>
      </p:sp>
      <p:grpSp>
        <p:nvGrpSpPr>
          <p:cNvPr id="45068" name="Group 12">
            <a:extLst>
              <a:ext uri="{FF2B5EF4-FFF2-40B4-BE49-F238E27FC236}">
                <a16:creationId xmlns:a16="http://schemas.microsoft.com/office/drawing/2014/main" id="{BFE80AE2-DF08-0FCD-3A43-AF527F2D6977}"/>
              </a:ext>
            </a:extLst>
          </p:cNvPr>
          <p:cNvGrpSpPr>
            <a:grpSpLocks/>
          </p:cNvGrpSpPr>
          <p:nvPr/>
        </p:nvGrpSpPr>
        <p:grpSpPr bwMode="auto">
          <a:xfrm>
            <a:off x="4618038" y="3206750"/>
            <a:ext cx="914400" cy="574675"/>
            <a:chOff x="4617720" y="3206160"/>
            <a:chExt cx="915119" cy="575640"/>
          </a:xfrm>
        </p:grpSpPr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BFB9DF2D-1F0F-B933-1757-F991A98ADBAA}"/>
                </a:ext>
              </a:extLst>
            </p:cNvPr>
            <p:cNvSpPr/>
            <p:nvPr/>
          </p:nvSpPr>
          <p:spPr>
            <a:xfrm>
              <a:off x="4617720" y="3322243"/>
              <a:ext cx="915119" cy="399131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K   (R)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88DDBC88-2CF5-FD07-F606-D14897E133DA}"/>
                </a:ext>
              </a:extLst>
            </p:cNvPr>
            <p:cNvSpPr/>
            <p:nvPr/>
          </p:nvSpPr>
          <p:spPr>
            <a:xfrm>
              <a:off x="4771828" y="3458997"/>
              <a:ext cx="306629" cy="322803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>
                  <a:latin typeface="Liberation Sans" pitchFamily="34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35C53F01-1D8D-CCC0-C56E-52086A122D16}"/>
                </a:ext>
              </a:extLst>
            </p:cNvPr>
            <p:cNvSpPr/>
            <p:nvPr/>
          </p:nvSpPr>
          <p:spPr>
            <a:xfrm>
              <a:off x="4757530" y="3206160"/>
              <a:ext cx="287563" cy="39913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Comic Sans MS" pitchFamily="66"/>
                  <a:ea typeface="Noto Sans CJK SC Regular" pitchFamily="2"/>
                  <a:cs typeface="FreeSans" pitchFamily="2"/>
                </a:rPr>
                <a:t>-</a:t>
              </a:r>
            </a:p>
          </p:txBody>
        </p:sp>
      </p:grpSp>
      <p:grpSp>
        <p:nvGrpSpPr>
          <p:cNvPr id="45069" name="Group 23">
            <a:extLst>
              <a:ext uri="{FF2B5EF4-FFF2-40B4-BE49-F238E27FC236}">
                <a16:creationId xmlns:a16="http://schemas.microsoft.com/office/drawing/2014/main" id="{94BF2FDE-9F75-95AB-FBDE-F82EF8287D91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2965450"/>
            <a:ext cx="2138363" cy="679450"/>
            <a:chOff x="7085880" y="2966039"/>
            <a:chExt cx="2139118" cy="679320"/>
          </a:xfrm>
        </p:grpSpPr>
        <p:sp>
          <p:nvSpPr>
            <p:cNvPr id="17" name="Text Box 24">
              <a:extLst>
                <a:ext uri="{FF2B5EF4-FFF2-40B4-BE49-F238E27FC236}">
                  <a16:creationId xmlns:a16="http://schemas.microsoft.com/office/drawing/2014/main" id="{A13E57BC-100D-FE0A-FC9A-5E7040AFB583}"/>
                </a:ext>
              </a:extLst>
            </p:cNvPr>
            <p:cNvSpPr/>
            <p:nvPr/>
          </p:nvSpPr>
          <p:spPr>
            <a:xfrm>
              <a:off x="7474955" y="3115235"/>
              <a:ext cx="1750043" cy="4587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>
                  <a:latin typeface="Liberation Sans" pitchFamily="34"/>
                  <a:ea typeface="Noto Sans CJK SC Regular" pitchFamily="2"/>
                  <a:cs typeface="FreeSans" pitchFamily="2"/>
                </a:rPr>
                <a:t>(K  (N)) = N</a:t>
              </a: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16392215-E10A-511E-128F-689D7AA8A400}"/>
                </a:ext>
              </a:extLst>
            </p:cNvPr>
            <p:cNvSpPr/>
            <p:nvPr/>
          </p:nvSpPr>
          <p:spPr>
            <a:xfrm>
              <a:off x="7759218" y="3277129"/>
              <a:ext cx="333493" cy="36823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Liberation Sans" pitchFamily="34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2D8E5FE0-88AE-AA08-C549-2BF5FD08EA1F}"/>
                </a:ext>
              </a:extLst>
            </p:cNvPr>
            <p:cNvSpPr/>
            <p:nvPr/>
          </p:nvSpPr>
          <p:spPr>
            <a:xfrm>
              <a:off x="7789391" y="2966039"/>
              <a:ext cx="287438" cy="398387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Comic Sans MS" pitchFamily="66"/>
                  <a:ea typeface="Noto Sans CJK SC Regular" pitchFamily="2"/>
                  <a:cs typeface="FreeSans" pitchFamily="2"/>
                </a:rPr>
                <a:t>-</a:t>
              </a:r>
            </a:p>
          </p:txBody>
        </p:sp>
        <p:grpSp>
          <p:nvGrpSpPr>
            <p:cNvPr id="45081" name="Group 27">
              <a:extLst>
                <a:ext uri="{FF2B5EF4-FFF2-40B4-BE49-F238E27FC236}">
                  <a16:creationId xmlns:a16="http://schemas.microsoft.com/office/drawing/2014/main" id="{E060EF70-C143-2DCF-38A0-EAD8F04DB1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5880" y="2971440"/>
              <a:ext cx="554040" cy="656999"/>
              <a:chOff x="7085880" y="2971440"/>
              <a:chExt cx="554040" cy="656999"/>
            </a:xfrm>
          </p:grpSpPr>
          <p:sp>
            <p:nvSpPr>
              <p:cNvPr id="21" name="Text Box 28">
                <a:extLst>
                  <a:ext uri="{FF2B5EF4-FFF2-40B4-BE49-F238E27FC236}">
                    <a16:creationId xmlns:a16="http://schemas.microsoft.com/office/drawing/2014/main" id="{E6ABD9B8-DE7A-1468-9137-E7FA1BBBCEE9}"/>
                  </a:ext>
                </a:extLst>
              </p:cNvPr>
              <p:cNvSpPr/>
              <p:nvPr/>
            </p:nvSpPr>
            <p:spPr>
              <a:xfrm>
                <a:off x="7085880" y="3096189"/>
                <a:ext cx="554234" cy="460287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400">
                    <a:latin typeface="Liberation Sans" pitchFamily="34"/>
                    <a:ea typeface="Noto Sans CJK SC Regular" pitchFamily="2"/>
                    <a:cs typeface="FreeSans" pitchFamily="2"/>
                  </a:rPr>
                  <a:t>K  </a:t>
                </a:r>
              </a:p>
            </p:txBody>
          </p:sp>
          <p:sp>
            <p:nvSpPr>
              <p:cNvPr id="22" name="Text Box 29">
                <a:extLst>
                  <a:ext uri="{FF2B5EF4-FFF2-40B4-BE49-F238E27FC236}">
                    <a16:creationId xmlns:a16="http://schemas.microsoft.com/office/drawing/2014/main" id="{89F108B2-DBB3-F44E-3121-A57042C4BF5E}"/>
                  </a:ext>
                </a:extLst>
              </p:cNvPr>
              <p:cNvSpPr/>
              <p:nvPr/>
            </p:nvSpPr>
            <p:spPr>
              <a:xfrm>
                <a:off x="7238334" y="3259671"/>
                <a:ext cx="331905" cy="368229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latin typeface="Liberation Sans" pitchFamily="34"/>
                    <a:ea typeface="Noto Sans CJK SC Regular" pitchFamily="2"/>
                    <a:cs typeface="FreeSans" pitchFamily="2"/>
                  </a:rPr>
                  <a:t>A</a:t>
                </a:r>
              </a:p>
            </p:txBody>
          </p:sp>
          <p:sp>
            <p:nvSpPr>
              <p:cNvPr id="23" name="Text Box 30">
                <a:extLst>
                  <a:ext uri="{FF2B5EF4-FFF2-40B4-BE49-F238E27FC236}">
                    <a16:creationId xmlns:a16="http://schemas.microsoft.com/office/drawing/2014/main" id="{CB387414-ADE2-D038-AAF1-6A49F9F3F1D1}"/>
                  </a:ext>
                </a:extLst>
              </p:cNvPr>
              <p:cNvSpPr/>
              <p:nvPr/>
            </p:nvSpPr>
            <p:spPr>
              <a:xfrm>
                <a:off x="7295504" y="2970801"/>
                <a:ext cx="301732" cy="398386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>
                    <a:latin typeface="Comic Sans MS" pitchFamily="66"/>
                    <a:ea typeface="Noto Sans CJK SC Regular" pitchFamily="2"/>
                    <a:cs typeface="FreeSans" pitchFamily="2"/>
                  </a:rPr>
                  <a:t>+</a:t>
                </a:r>
              </a:p>
            </p:txBody>
          </p:sp>
        </p:grpSp>
      </p:grpSp>
      <p:sp>
        <p:nvSpPr>
          <p:cNvPr id="24" name="Text Box 31">
            <a:extLst>
              <a:ext uri="{FF2B5EF4-FFF2-40B4-BE49-F238E27FC236}">
                <a16:creationId xmlns:a16="http://schemas.microsoft.com/office/drawing/2014/main" id="{3D54800E-C7EC-4A36-C6B3-35B1EEDB51DF}"/>
              </a:ext>
            </a:extLst>
          </p:cNvPr>
          <p:cNvSpPr/>
          <p:nvPr/>
        </p:nvSpPr>
        <p:spPr>
          <a:xfrm>
            <a:off x="6467475" y="3459163"/>
            <a:ext cx="3346450" cy="100806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>
                <a:latin typeface="Liberation Sans" pitchFamily="34"/>
                <a:ea typeface="Noto Sans CJK SC Regular" pitchFamily="2"/>
                <a:cs typeface="FreeSans" pitchFamily="2"/>
              </a:rPr>
              <a:t>Dan tahu hanya Alice yang memiliki private key, yang mengenkripsi N sebagai</a:t>
            </a:r>
          </a:p>
        </p:txBody>
      </p:sp>
      <p:grpSp>
        <p:nvGrpSpPr>
          <p:cNvPr id="45071" name="Group 32">
            <a:extLst>
              <a:ext uri="{FF2B5EF4-FFF2-40B4-BE49-F238E27FC236}">
                <a16:creationId xmlns:a16="http://schemas.microsoft.com/office/drawing/2014/main" id="{A679AB24-9BBC-518F-E875-A2D6D4F0C16B}"/>
              </a:ext>
            </a:extLst>
          </p:cNvPr>
          <p:cNvGrpSpPr>
            <a:grpSpLocks/>
          </p:cNvGrpSpPr>
          <p:nvPr/>
        </p:nvGrpSpPr>
        <p:grpSpPr bwMode="auto">
          <a:xfrm>
            <a:off x="7189788" y="4337050"/>
            <a:ext cx="1978025" cy="703263"/>
            <a:chOff x="7190280" y="4337640"/>
            <a:chExt cx="1976760" cy="702000"/>
          </a:xfrm>
        </p:grpSpPr>
        <p:sp>
          <p:nvSpPr>
            <p:cNvPr id="26" name="Text Box 33">
              <a:extLst>
                <a:ext uri="{FF2B5EF4-FFF2-40B4-BE49-F238E27FC236}">
                  <a16:creationId xmlns:a16="http://schemas.microsoft.com/office/drawing/2014/main" id="{B611D51C-02D2-ED94-0265-3F8A9DEC7318}"/>
                </a:ext>
              </a:extLst>
            </p:cNvPr>
            <p:cNvSpPr/>
            <p:nvPr/>
          </p:nvSpPr>
          <p:spPr>
            <a:xfrm>
              <a:off x="7677330" y="4524629"/>
              <a:ext cx="1489710" cy="39933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(K  (N)) = N</a:t>
              </a:r>
            </a:p>
          </p:txBody>
        </p:sp>
        <p:sp>
          <p:nvSpPr>
            <p:cNvPr id="27" name="Text Box 34">
              <a:extLst>
                <a:ext uri="{FF2B5EF4-FFF2-40B4-BE49-F238E27FC236}">
                  <a16:creationId xmlns:a16="http://schemas.microsoft.com/office/drawing/2014/main" id="{58B400A1-F320-0CA6-CF94-0EF8BCF35C01}"/>
                </a:ext>
              </a:extLst>
            </p:cNvPr>
            <p:cNvSpPr/>
            <p:nvPr/>
          </p:nvSpPr>
          <p:spPr>
            <a:xfrm>
              <a:off x="7888333" y="4640308"/>
              <a:ext cx="349027" cy="39933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28" name="Text Box 35">
              <a:extLst>
                <a:ext uri="{FF2B5EF4-FFF2-40B4-BE49-F238E27FC236}">
                  <a16:creationId xmlns:a16="http://schemas.microsoft.com/office/drawing/2014/main" id="{C83A2CE8-86A4-FA0D-EA1C-0A90FBA07C2D}"/>
                </a:ext>
              </a:extLst>
            </p:cNvPr>
            <p:cNvSpPr/>
            <p:nvPr/>
          </p:nvSpPr>
          <p:spPr>
            <a:xfrm>
              <a:off x="7862950" y="4337640"/>
              <a:ext cx="287153" cy="39933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Comic Sans MS" pitchFamily="66"/>
                  <a:ea typeface="Noto Sans CJK SC Regular" pitchFamily="2"/>
                  <a:cs typeface="FreeSans" pitchFamily="2"/>
                </a:rPr>
                <a:t>-</a:t>
              </a:r>
            </a:p>
          </p:txBody>
        </p:sp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id="{8C5C8D64-A756-B794-DB74-E8B2BCDF4B57}"/>
                </a:ext>
              </a:extLst>
            </p:cNvPr>
            <p:cNvSpPr/>
            <p:nvPr/>
          </p:nvSpPr>
          <p:spPr>
            <a:xfrm>
              <a:off x="7190280" y="4507198"/>
              <a:ext cx="490223" cy="39933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K  </a:t>
              </a:r>
            </a:p>
          </p:txBody>
        </p:sp>
        <p:sp>
          <p:nvSpPr>
            <p:cNvPr id="30" name="Text Box 37">
              <a:extLst>
                <a:ext uri="{FF2B5EF4-FFF2-40B4-BE49-F238E27FC236}">
                  <a16:creationId xmlns:a16="http://schemas.microsoft.com/office/drawing/2014/main" id="{8F748D85-A54E-C779-A786-040DB537A468}"/>
                </a:ext>
              </a:extLst>
            </p:cNvPr>
            <p:cNvSpPr/>
            <p:nvPr/>
          </p:nvSpPr>
          <p:spPr>
            <a:xfrm>
              <a:off x="7366379" y="4622877"/>
              <a:ext cx="349027" cy="397747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Liberation Sans" pitchFamily="34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31" name="Text Box 38">
              <a:extLst>
                <a:ext uri="{FF2B5EF4-FFF2-40B4-BE49-F238E27FC236}">
                  <a16:creationId xmlns:a16="http://schemas.microsoft.com/office/drawing/2014/main" id="{8DFFEF21-D3A9-2FB7-2E0B-E7658339ED5E}"/>
                </a:ext>
              </a:extLst>
            </p:cNvPr>
            <p:cNvSpPr/>
            <p:nvPr/>
          </p:nvSpPr>
          <p:spPr>
            <a:xfrm>
              <a:off x="7399696" y="4378841"/>
              <a:ext cx="303018" cy="39933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>
                  <a:latin typeface="Comic Sans MS" pitchFamily="66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5.0: security ho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5C236745-CFE7-AC22-D715-D71767925A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42771C-EBCF-40CF-B02C-D17F148245D6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19D66-E3E1-1DAE-6D8D-6FA4DCB2F0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09520"/>
            <a:ext cx="9006480" cy="787320"/>
          </a:xfrm>
        </p:spPr>
        <p:txBody>
          <a:bodyPr wrap="square" lIns="90000" tIns="46800" rIns="90000" bIns="46800" anchorCtr="0">
            <a:no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ap5.0: celah keamanan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1C536-D9F9-9BB7-3EB6-8BEB28AC19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9000" y="914400"/>
            <a:ext cx="8370000" cy="3842640"/>
          </a:xfrm>
        </p:spPr>
        <p:txBody>
          <a:bodyPr wrap="square" lIns="90000" tIns="46800" rIns="90000" bIns="46800" anchor="t" anchorCtr="0"/>
          <a:lstStyle/>
          <a:p>
            <a:pPr marL="342720" indent="-342720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</a:rPr>
              <a:t>Man (woman) in the middle attack:</a:t>
            </a:r>
            <a:r>
              <a:rPr sz="2400">
                <a:solidFill>
                  <a:srgbClr val="000000"/>
                </a:solidFill>
              </a:rPr>
              <a:t> Trudy menyamar sebagai Alice (ke Bob) dan sebagai Bob (ke Alice)</a:t>
            </a:r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28AE84A5-2EA0-A45C-A0C8-730A7933E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638" y="1906588"/>
            <a:ext cx="8826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6">
            <a:extLst>
              <a:ext uri="{FF2B5EF4-FFF2-40B4-BE49-F238E27FC236}">
                <a16:creationId xmlns:a16="http://schemas.microsoft.com/office/drawing/2014/main" id="{A8DA80FE-8037-4F73-2127-9E5E59349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1820863"/>
            <a:ext cx="1050925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7">
            <a:extLst>
              <a:ext uri="{FF2B5EF4-FFF2-40B4-BE49-F238E27FC236}">
                <a16:creationId xmlns:a16="http://schemas.microsoft.com/office/drawing/2014/main" id="{04078568-2E50-68CB-39A0-0AA411C63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814513"/>
            <a:ext cx="828675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C9B53C7-7A6D-95D8-FA36-48D69C8EC265}"/>
              </a:ext>
            </a:extLst>
          </p:cNvPr>
          <p:cNvSpPr/>
          <p:nvPr/>
        </p:nvSpPr>
        <p:spPr>
          <a:xfrm>
            <a:off x="2135188" y="2214563"/>
            <a:ext cx="24796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E1B5263-C7DE-F17B-B4C9-36007E191CA2}"/>
              </a:ext>
            </a:extLst>
          </p:cNvPr>
          <p:cNvSpPr/>
          <p:nvPr/>
        </p:nvSpPr>
        <p:spPr>
          <a:xfrm>
            <a:off x="2500313" y="1925638"/>
            <a:ext cx="1298575" cy="3683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Comic Sans MS" pitchFamily="18"/>
                <a:ea typeface="Noto Sans CJK SC Regular" pitchFamily="2"/>
                <a:cs typeface="FreeSans" pitchFamily="2"/>
              </a:rPr>
              <a:t>Saya Alice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69B1DDB-F284-4A52-2A80-D3F6A8951432}"/>
              </a:ext>
            </a:extLst>
          </p:cNvPr>
          <p:cNvSpPr/>
          <p:nvPr/>
        </p:nvSpPr>
        <p:spPr>
          <a:xfrm>
            <a:off x="5713413" y="2246313"/>
            <a:ext cx="24796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685694-6246-28E8-3D84-A2DBD1B5BB52}"/>
              </a:ext>
            </a:extLst>
          </p:cNvPr>
          <p:cNvSpPr/>
          <p:nvPr/>
        </p:nvSpPr>
        <p:spPr>
          <a:xfrm>
            <a:off x="6078538" y="1957388"/>
            <a:ext cx="1298575" cy="3683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Comic Sans MS" pitchFamily="18"/>
                <a:ea typeface="Noto Sans CJK SC Regular" pitchFamily="2"/>
                <a:cs typeface="FreeSans" pitchFamily="2"/>
              </a:rPr>
              <a:t>Saya Alice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FB5F0C9-9E6C-4978-CA49-5FF2E9AF1DBE}"/>
              </a:ext>
            </a:extLst>
          </p:cNvPr>
          <p:cNvSpPr/>
          <p:nvPr/>
        </p:nvSpPr>
        <p:spPr>
          <a:xfrm flipH="1">
            <a:off x="5756275" y="2303463"/>
            <a:ext cx="2387600" cy="231775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FC58AC-E2C0-FA37-7C6C-2395DBB872FB}"/>
              </a:ext>
            </a:extLst>
          </p:cNvPr>
          <p:cNvSpPr/>
          <p:nvPr/>
        </p:nvSpPr>
        <p:spPr>
          <a:xfrm>
            <a:off x="5897563" y="2233613"/>
            <a:ext cx="325437" cy="3683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Comic Sans MS" pitchFamily="18"/>
                <a:ea typeface="Noto Sans CJK SC Regular" pitchFamily="2"/>
                <a:cs typeface="FreeSans" pitchFamily="2"/>
              </a:rPr>
              <a:t>R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443C8D9-51E1-C520-6A7A-B772390FAFBE}"/>
              </a:ext>
            </a:extLst>
          </p:cNvPr>
          <p:cNvSpPr/>
          <p:nvPr/>
        </p:nvSpPr>
        <p:spPr>
          <a:xfrm>
            <a:off x="5788025" y="2674938"/>
            <a:ext cx="24796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7119" name="Group 13">
            <a:extLst>
              <a:ext uri="{FF2B5EF4-FFF2-40B4-BE49-F238E27FC236}">
                <a16:creationId xmlns:a16="http://schemas.microsoft.com/office/drawing/2014/main" id="{82817D47-9427-DC5D-1D9E-A9543C5A9BAC}"/>
              </a:ext>
            </a:extLst>
          </p:cNvPr>
          <p:cNvGrpSpPr>
            <a:grpSpLocks/>
          </p:cNvGrpSpPr>
          <p:nvPr/>
        </p:nvGrpSpPr>
        <p:grpSpPr bwMode="auto">
          <a:xfrm>
            <a:off x="7196138" y="2300288"/>
            <a:ext cx="838200" cy="625475"/>
            <a:chOff x="7196039" y="2299680"/>
            <a:chExt cx="837720" cy="6256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37DDA9-8F74-0120-5FD4-F89FFE9EE167}"/>
                </a:ext>
              </a:extLst>
            </p:cNvPr>
            <p:cNvSpPr/>
            <p:nvPr/>
          </p:nvSpPr>
          <p:spPr>
            <a:xfrm>
              <a:off x="7351525" y="2556939"/>
              <a:ext cx="336357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T</a:t>
              </a:r>
            </a:p>
          </p:txBody>
        </p:sp>
        <p:grpSp>
          <p:nvGrpSpPr>
            <p:cNvPr id="47169" name="Group 15">
              <a:extLst>
                <a:ext uri="{FF2B5EF4-FFF2-40B4-BE49-F238E27FC236}">
                  <a16:creationId xmlns:a16="http://schemas.microsoft.com/office/drawing/2014/main" id="{9B116FB8-310D-0A49-47D1-850C912147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6039" y="2299680"/>
              <a:ext cx="837720" cy="488879"/>
              <a:chOff x="7196039" y="2299680"/>
              <a:chExt cx="837720" cy="488879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4D6C7E3-169B-B313-2427-9A61CFD200EB}"/>
                  </a:ext>
                </a:extLst>
              </p:cNvPr>
              <p:cNvSpPr/>
              <p:nvPr/>
            </p:nvSpPr>
            <p:spPr>
              <a:xfrm>
                <a:off x="7196039" y="2420369"/>
                <a:ext cx="837720" cy="36842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latin typeface="Comic Sans MS" pitchFamily="18"/>
                    <a:ea typeface="Noto Sans CJK SC Regular" pitchFamily="2"/>
                    <a:cs typeface="FreeSans" pitchFamily="2"/>
                  </a:rPr>
                  <a:t>K   (R)</a:t>
                </a: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EFA1B23-9DE7-8580-9042-25E417895662}"/>
                  </a:ext>
                </a:extLst>
              </p:cNvPr>
              <p:cNvSpPr/>
              <p:nvPr/>
            </p:nvSpPr>
            <p:spPr>
              <a:xfrm>
                <a:off x="7362631" y="2299680"/>
                <a:ext cx="274481" cy="36842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solidFill>
                      <a:srgbClr val="FF0000"/>
                    </a:solidFill>
                    <a:latin typeface="Comic Sans MS" pitchFamily="18"/>
                    <a:ea typeface="Noto Sans CJK SC Regular" pitchFamily="2"/>
                    <a:cs typeface="FreeSans" pitchFamily="2"/>
                  </a:rPr>
                  <a:t>-</a:t>
                </a:r>
              </a:p>
            </p:txBody>
          </p:sp>
        </p:grpSp>
      </p:grp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74A3052-46AD-140A-5B49-10DED56D2532}"/>
              </a:ext>
            </a:extLst>
          </p:cNvPr>
          <p:cNvSpPr/>
          <p:nvPr/>
        </p:nvSpPr>
        <p:spPr>
          <a:xfrm flipH="1">
            <a:off x="5830888" y="2813050"/>
            <a:ext cx="2386012" cy="233363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87A229D-DFE1-F569-2AFC-940F20E26F06}"/>
              </a:ext>
            </a:extLst>
          </p:cNvPr>
          <p:cNvSpPr/>
          <p:nvPr/>
        </p:nvSpPr>
        <p:spPr>
          <a:xfrm>
            <a:off x="5791200" y="2778125"/>
            <a:ext cx="2459038" cy="3365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latin typeface="Comic Sans MS" pitchFamily="18"/>
                <a:ea typeface="Noto Sans CJK SC Regular" pitchFamily="2"/>
                <a:cs typeface="FreeSans" pitchFamily="2"/>
              </a:rPr>
              <a:t>Send me your public key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09888002-0E7B-85F3-8DA3-2AC6CCA19D59}"/>
              </a:ext>
            </a:extLst>
          </p:cNvPr>
          <p:cNvSpPr/>
          <p:nvPr/>
        </p:nvSpPr>
        <p:spPr>
          <a:xfrm>
            <a:off x="5864225" y="3243263"/>
            <a:ext cx="24796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7123" name="Group 21">
            <a:extLst>
              <a:ext uri="{FF2B5EF4-FFF2-40B4-BE49-F238E27FC236}">
                <a16:creationId xmlns:a16="http://schemas.microsoft.com/office/drawing/2014/main" id="{D9B61E88-FCC0-262C-3D6F-E03DAFB981FA}"/>
              </a:ext>
            </a:extLst>
          </p:cNvPr>
          <p:cNvGrpSpPr>
            <a:grpSpLocks/>
          </p:cNvGrpSpPr>
          <p:nvPr/>
        </p:nvGrpSpPr>
        <p:grpSpPr bwMode="auto">
          <a:xfrm>
            <a:off x="7675563" y="2914650"/>
            <a:ext cx="525462" cy="638175"/>
            <a:chOff x="7674840" y="2914920"/>
            <a:chExt cx="526680" cy="637559"/>
          </a:xfrm>
        </p:grpSpPr>
        <p:grpSp>
          <p:nvGrpSpPr>
            <p:cNvPr id="47164" name="Group 22">
              <a:extLst>
                <a:ext uri="{FF2B5EF4-FFF2-40B4-BE49-F238E27FC236}">
                  <a16:creationId xmlns:a16="http://schemas.microsoft.com/office/drawing/2014/main" id="{278BD5BC-80FC-9710-1B08-E3FAE7ED3C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74840" y="3059279"/>
              <a:ext cx="526680" cy="493200"/>
              <a:chOff x="7674840" y="3059279"/>
              <a:chExt cx="526680" cy="493200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1B69091F-2940-9F16-C673-84322F3B3FBC}"/>
                  </a:ext>
                </a:extLst>
              </p:cNvPr>
              <p:cNvSpPr/>
              <p:nvPr/>
            </p:nvSpPr>
            <p:spPr>
              <a:xfrm>
                <a:off x="7829184" y="3184535"/>
                <a:ext cx="335739" cy="367944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solidFill>
                      <a:srgbClr val="FF0000"/>
                    </a:solidFill>
                    <a:latin typeface="Comic Sans MS" pitchFamily="18"/>
                    <a:ea typeface="Noto Sans CJK SC Regular" pitchFamily="2"/>
                    <a:cs typeface="FreeSans" pitchFamily="2"/>
                  </a:rPr>
                  <a:t>T</a:t>
                </a: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C84E8023-377A-15FD-984A-040025537AE0}"/>
                  </a:ext>
                </a:extLst>
              </p:cNvPr>
              <p:cNvSpPr/>
              <p:nvPr/>
            </p:nvSpPr>
            <p:spPr>
              <a:xfrm>
                <a:off x="7674840" y="3059244"/>
                <a:ext cx="526680" cy="367944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latin typeface="Comic Sans MS" pitchFamily="18"/>
                    <a:ea typeface="Noto Sans CJK SC Regular" pitchFamily="2"/>
                    <a:cs typeface="FreeSans" pitchFamily="2"/>
                  </a:rPr>
                  <a:t>K   </a:t>
                </a:r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9689103-CA01-C0E4-51E4-CFC77AE16210}"/>
                </a:ext>
              </a:extLst>
            </p:cNvPr>
            <p:cNvSpPr/>
            <p:nvPr/>
          </p:nvSpPr>
          <p:spPr>
            <a:xfrm>
              <a:off x="7864190" y="2914920"/>
              <a:ext cx="291186" cy="367944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</p:grp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64B93D34-FC4D-436F-0C50-15A38D302231}"/>
              </a:ext>
            </a:extLst>
          </p:cNvPr>
          <p:cNvSpPr/>
          <p:nvPr/>
        </p:nvSpPr>
        <p:spPr>
          <a:xfrm flipH="1">
            <a:off x="2093913" y="2835275"/>
            <a:ext cx="2387600" cy="233363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159347EE-AF36-8D52-B780-5E9CE5D299C3}"/>
              </a:ext>
            </a:extLst>
          </p:cNvPr>
          <p:cNvSpPr/>
          <p:nvPr/>
        </p:nvSpPr>
        <p:spPr>
          <a:xfrm>
            <a:off x="2125663" y="3208338"/>
            <a:ext cx="24796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7126" name="Group 28">
            <a:extLst>
              <a:ext uri="{FF2B5EF4-FFF2-40B4-BE49-F238E27FC236}">
                <a16:creationId xmlns:a16="http://schemas.microsoft.com/office/drawing/2014/main" id="{FB132B14-4357-F05E-F038-A2F1259D7251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2820988"/>
            <a:ext cx="836613" cy="625475"/>
            <a:chOff x="3517200" y="2820240"/>
            <a:chExt cx="837720" cy="62567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67A5B4D-2D5B-1A1E-C1FA-A5A9AA5BD454}"/>
                </a:ext>
              </a:extLst>
            </p:cNvPr>
            <p:cNvSpPr/>
            <p:nvPr/>
          </p:nvSpPr>
          <p:spPr>
            <a:xfrm>
              <a:off x="3666622" y="3077499"/>
              <a:ext cx="349712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grpSp>
          <p:nvGrpSpPr>
            <p:cNvPr id="47161" name="Group 30">
              <a:extLst>
                <a:ext uri="{FF2B5EF4-FFF2-40B4-BE49-F238E27FC236}">
                  <a16:creationId xmlns:a16="http://schemas.microsoft.com/office/drawing/2014/main" id="{7F0F8FCF-5B49-86FD-FD80-37ABEB43E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7200" y="2820240"/>
              <a:ext cx="837720" cy="488879"/>
              <a:chOff x="3517200" y="2820240"/>
              <a:chExt cx="837720" cy="488879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7D98C9-B97D-3647-7B27-D5C5663F304A}"/>
                  </a:ext>
                </a:extLst>
              </p:cNvPr>
              <p:cNvSpPr/>
              <p:nvPr/>
            </p:nvSpPr>
            <p:spPr>
              <a:xfrm>
                <a:off x="3517200" y="2940929"/>
                <a:ext cx="837720" cy="36842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latin typeface="Comic Sans MS" pitchFamily="18"/>
                    <a:ea typeface="Noto Sans CJK SC Regular" pitchFamily="2"/>
                    <a:cs typeface="FreeSans" pitchFamily="2"/>
                  </a:rPr>
                  <a:t>K   (R)</a:t>
                </a: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937E538-95A2-4024-F635-47EAE7DA0186}"/>
                  </a:ext>
                </a:extLst>
              </p:cNvPr>
              <p:cNvSpPr/>
              <p:nvPr/>
            </p:nvSpPr>
            <p:spPr>
              <a:xfrm>
                <a:off x="3684109" y="2820240"/>
                <a:ext cx="275000" cy="36842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solidFill>
                      <a:srgbClr val="FF0000"/>
                    </a:solidFill>
                    <a:latin typeface="Comic Sans MS" pitchFamily="18"/>
                    <a:ea typeface="Noto Sans CJK SC Regular" pitchFamily="2"/>
                    <a:cs typeface="FreeSans" pitchFamily="2"/>
                  </a:rPr>
                  <a:t>-</a:t>
                </a:r>
              </a:p>
            </p:txBody>
          </p:sp>
        </p:grpSp>
      </p:grp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254083B4-C018-3AFF-07D2-14D338320A94}"/>
              </a:ext>
            </a:extLst>
          </p:cNvPr>
          <p:cNvSpPr/>
          <p:nvPr/>
        </p:nvSpPr>
        <p:spPr>
          <a:xfrm flipH="1">
            <a:off x="2168525" y="3346450"/>
            <a:ext cx="2386013" cy="231775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8019147-87EC-8E13-9F23-17E995EEA12D}"/>
              </a:ext>
            </a:extLst>
          </p:cNvPr>
          <p:cNvSpPr/>
          <p:nvPr/>
        </p:nvSpPr>
        <p:spPr>
          <a:xfrm>
            <a:off x="2128838" y="3311525"/>
            <a:ext cx="2459037" cy="3365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latin typeface="Comic Sans MS" pitchFamily="18"/>
                <a:ea typeface="Noto Sans CJK SC Regular" pitchFamily="2"/>
                <a:cs typeface="FreeSans" pitchFamily="2"/>
              </a:rPr>
              <a:t>Send me your public key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B955009C-97DE-1512-19C2-141252987C38}"/>
              </a:ext>
            </a:extLst>
          </p:cNvPr>
          <p:cNvSpPr/>
          <p:nvPr/>
        </p:nvSpPr>
        <p:spPr>
          <a:xfrm>
            <a:off x="2200275" y="3776663"/>
            <a:ext cx="2481263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7130" name="Group 36">
            <a:extLst>
              <a:ext uri="{FF2B5EF4-FFF2-40B4-BE49-F238E27FC236}">
                <a16:creationId xmlns:a16="http://schemas.microsoft.com/office/drawing/2014/main" id="{F62CEBA2-9E6E-1EDB-AC6E-E70B1BB513E9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379788"/>
            <a:ext cx="527050" cy="636587"/>
            <a:chOff x="3885839" y="3379320"/>
            <a:chExt cx="526680" cy="637559"/>
          </a:xfrm>
        </p:grpSpPr>
        <p:grpSp>
          <p:nvGrpSpPr>
            <p:cNvPr id="47156" name="Group 37">
              <a:extLst>
                <a:ext uri="{FF2B5EF4-FFF2-40B4-BE49-F238E27FC236}">
                  <a16:creationId xmlns:a16="http://schemas.microsoft.com/office/drawing/2014/main" id="{5691649E-DAAD-1117-BA3A-E2E9BABCCB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5839" y="3523679"/>
              <a:ext cx="526680" cy="493200"/>
              <a:chOff x="3885839" y="3523679"/>
              <a:chExt cx="526680" cy="493200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2CFDD80-FA82-DAD7-318E-FC339A3E394E}"/>
                  </a:ext>
                </a:extLst>
              </p:cNvPr>
              <p:cNvSpPr/>
              <p:nvPr/>
            </p:nvSpPr>
            <p:spPr>
              <a:xfrm>
                <a:off x="4034959" y="3649607"/>
                <a:ext cx="347419" cy="367272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solidFill>
                      <a:srgbClr val="FF0000"/>
                    </a:solidFill>
                    <a:latin typeface="Comic Sans MS" pitchFamily="18"/>
                    <a:ea typeface="Noto Sans CJK SC Regular" pitchFamily="2"/>
                    <a:cs typeface="FreeSans" pitchFamily="2"/>
                  </a:rPr>
                  <a:t>A</a:t>
                </a: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7E5C64A-8E45-A805-6DA6-7FDA1D635552}"/>
                  </a:ext>
                </a:extLst>
              </p:cNvPr>
              <p:cNvSpPr/>
              <p:nvPr/>
            </p:nvSpPr>
            <p:spPr>
              <a:xfrm>
                <a:off x="3885839" y="3524002"/>
                <a:ext cx="526680" cy="367273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noFill/>
              <a:ln>
                <a:noFill/>
                <a:prstDash val="solid"/>
              </a:ln>
            </p:spPr>
            <p:txBody>
              <a:bodyPr wrap="none" lIns="90000" tIns="46800" rIns="90000" bIns="46800" compatLnSpc="0">
                <a:spAutoFit/>
              </a:bodyPr>
              <a:lstStyle/>
              <a:p>
                <a:pPr algn="ctr" eaLnBrk="1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>
                    <a:latin typeface="Comic Sans MS" pitchFamily="18"/>
                    <a:ea typeface="Noto Sans CJK SC Regular" pitchFamily="2"/>
                    <a:cs typeface="FreeSans" pitchFamily="2"/>
                  </a:rPr>
                  <a:t>K   </a:t>
                </a:r>
              </a:p>
            </p:txBody>
          </p:sp>
        </p:grp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8352C93-C79D-8324-EAFE-912D09DC29DD}"/>
                </a:ext>
              </a:extLst>
            </p:cNvPr>
            <p:cNvSpPr/>
            <p:nvPr/>
          </p:nvSpPr>
          <p:spPr>
            <a:xfrm>
              <a:off x="4076205" y="3379320"/>
              <a:ext cx="290309" cy="36886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</p:grp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40F50267-4A0C-90B2-5A40-6C98B72AF2FB}"/>
              </a:ext>
            </a:extLst>
          </p:cNvPr>
          <p:cNvSpPr/>
          <p:nvPr/>
        </p:nvSpPr>
        <p:spPr>
          <a:xfrm flipH="1">
            <a:off x="5913438" y="4154488"/>
            <a:ext cx="23907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7132" name="Group 42">
            <a:extLst>
              <a:ext uri="{FF2B5EF4-FFF2-40B4-BE49-F238E27FC236}">
                <a16:creationId xmlns:a16="http://schemas.microsoft.com/office/drawing/2014/main" id="{2FF99A9F-2607-869E-1510-1B3D99947D4F}"/>
              </a:ext>
            </a:extLst>
          </p:cNvPr>
          <p:cNvGrpSpPr>
            <a:grpSpLocks/>
          </p:cNvGrpSpPr>
          <p:nvPr/>
        </p:nvGrpSpPr>
        <p:grpSpPr bwMode="auto">
          <a:xfrm>
            <a:off x="6632575" y="3725863"/>
            <a:ext cx="873125" cy="625475"/>
            <a:chOff x="6632279" y="3726000"/>
            <a:chExt cx="872640" cy="62567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047C4C6-BD17-FB6F-E07A-35DCE6F0BFF7}"/>
                </a:ext>
              </a:extLst>
            </p:cNvPr>
            <p:cNvSpPr/>
            <p:nvPr/>
          </p:nvSpPr>
          <p:spPr>
            <a:xfrm>
              <a:off x="6787768" y="3983259"/>
              <a:ext cx="336363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T</a:t>
              </a: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C15ADFD-C4FB-2926-74E3-274567E88884}"/>
                </a:ext>
              </a:extLst>
            </p:cNvPr>
            <p:cNvSpPr/>
            <p:nvPr/>
          </p:nvSpPr>
          <p:spPr>
            <a:xfrm>
              <a:off x="6632279" y="3870509"/>
              <a:ext cx="872640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Comic Sans MS" pitchFamily="18"/>
                  <a:ea typeface="Noto Sans CJK SC Regular" pitchFamily="2"/>
                  <a:cs typeface="FreeSans" pitchFamily="2"/>
                </a:rPr>
                <a:t>K   (m)</a:t>
              </a: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670A58D-06C5-DACF-E193-0D0B85DE73D5}"/>
                </a:ext>
              </a:extLst>
            </p:cNvPr>
            <p:cNvSpPr/>
            <p:nvPr/>
          </p:nvSpPr>
          <p:spPr>
            <a:xfrm>
              <a:off x="6714783" y="3726000"/>
              <a:ext cx="290352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</p:grpSp>
      <p:grpSp>
        <p:nvGrpSpPr>
          <p:cNvPr id="47133" name="Group 46">
            <a:extLst>
              <a:ext uri="{FF2B5EF4-FFF2-40B4-BE49-F238E27FC236}">
                <a16:creationId xmlns:a16="http://schemas.microsoft.com/office/drawing/2014/main" id="{882E8B7D-2B72-884B-2030-894C226D8587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4162425"/>
            <a:ext cx="1570038" cy="573088"/>
            <a:chOff x="4394160" y="4163040"/>
            <a:chExt cx="1570679" cy="57204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A7740D7-1ED0-A4ED-C180-B09320456B42}"/>
                </a:ext>
              </a:extLst>
            </p:cNvPr>
            <p:cNvSpPr/>
            <p:nvPr/>
          </p:nvSpPr>
          <p:spPr>
            <a:xfrm>
              <a:off x="4867428" y="4418161"/>
              <a:ext cx="301748" cy="305827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T</a:t>
              </a: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838F26-9E00-98B7-A5CC-0B6272E371B1}"/>
                </a:ext>
              </a:extLst>
            </p:cNvPr>
            <p:cNvSpPr/>
            <p:nvPr/>
          </p:nvSpPr>
          <p:spPr>
            <a:xfrm>
              <a:off x="4394160" y="4270793"/>
              <a:ext cx="1570679" cy="3375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latin typeface="Comic Sans MS" pitchFamily="18"/>
                  <a:ea typeface="Noto Sans CJK SC Regular" pitchFamily="2"/>
                  <a:cs typeface="FreeSans" pitchFamily="2"/>
                </a:rPr>
                <a:t>m = K  (K   (m))</a:t>
              </a: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F2AB048-0EA6-0417-4739-3DB8C7363C45}"/>
                </a:ext>
              </a:extLst>
            </p:cNvPr>
            <p:cNvSpPr/>
            <p:nvPr/>
          </p:nvSpPr>
          <p:spPr>
            <a:xfrm>
              <a:off x="5288288" y="4163040"/>
              <a:ext cx="290631" cy="367626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37F286B-B90B-F4C3-5DBE-E877FA4C5F80}"/>
                </a:ext>
              </a:extLst>
            </p:cNvPr>
            <p:cNvSpPr/>
            <p:nvPr/>
          </p:nvSpPr>
          <p:spPr>
            <a:xfrm>
              <a:off x="5294640" y="4427668"/>
              <a:ext cx="301748" cy="307412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T</a:t>
              </a: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CD76C00-9D40-63D4-378E-A66D6119C0A0}"/>
                </a:ext>
              </a:extLst>
            </p:cNvPr>
            <p:cNvSpPr/>
            <p:nvPr/>
          </p:nvSpPr>
          <p:spPr>
            <a:xfrm>
              <a:off x="4875369" y="4163040"/>
              <a:ext cx="274749" cy="367626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-</a:t>
              </a:r>
            </a:p>
          </p:txBody>
        </p:sp>
      </p:grp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F199176-5F6F-227A-3CA5-3358F5DB0320}"/>
              </a:ext>
            </a:extLst>
          </p:cNvPr>
          <p:cNvSpPr/>
          <p:nvPr/>
        </p:nvSpPr>
        <p:spPr>
          <a:xfrm>
            <a:off x="4324350" y="3984625"/>
            <a:ext cx="1711325" cy="338138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latin typeface="Comic Sans MS" pitchFamily="18"/>
                <a:ea typeface="Noto Sans CJK SC Regular" pitchFamily="2"/>
                <a:cs typeface="FreeSans" pitchFamily="2"/>
              </a:rPr>
              <a:t>Trudy mendapat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6E8A903-BAA6-82D4-0214-D1612B5F8A94}"/>
              </a:ext>
            </a:extLst>
          </p:cNvPr>
          <p:cNvSpPr/>
          <p:nvPr/>
        </p:nvSpPr>
        <p:spPr>
          <a:xfrm>
            <a:off x="4095750" y="4510088"/>
            <a:ext cx="2205038" cy="82391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>
                <a:latin typeface="Comic Sans MS" pitchFamily="18"/>
                <a:ea typeface="Noto Sans CJK SC Regular" pitchFamily="2"/>
                <a:cs typeface="FreeSans" pitchFamily="2"/>
              </a:rPr>
              <a:t>sends m to Alice encrypted with Alice’s public key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7D7AD59C-0EFD-396A-6E38-D4CA480FD3E4}"/>
              </a:ext>
            </a:extLst>
          </p:cNvPr>
          <p:cNvSpPr/>
          <p:nvPr/>
        </p:nvSpPr>
        <p:spPr>
          <a:xfrm flipH="1">
            <a:off x="1965325" y="4773613"/>
            <a:ext cx="2390775" cy="0"/>
          </a:xfrm>
          <a:prstGeom prst="line">
            <a:avLst/>
          </a:prstGeom>
          <a:noFill/>
          <a:ln w="9360" cap="sq">
            <a:solidFill>
              <a:srgbClr val="000000"/>
            </a:solidFill>
            <a:prstDash val="solid"/>
            <a:miter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grpSp>
        <p:nvGrpSpPr>
          <p:cNvPr id="47137" name="Group 55">
            <a:extLst>
              <a:ext uri="{FF2B5EF4-FFF2-40B4-BE49-F238E27FC236}">
                <a16:creationId xmlns:a16="http://schemas.microsoft.com/office/drawing/2014/main" id="{99B66F16-6616-47E4-A08C-960932985200}"/>
              </a:ext>
            </a:extLst>
          </p:cNvPr>
          <p:cNvGrpSpPr>
            <a:grpSpLocks/>
          </p:cNvGrpSpPr>
          <p:nvPr/>
        </p:nvGrpSpPr>
        <p:grpSpPr bwMode="auto">
          <a:xfrm>
            <a:off x="2871788" y="4324350"/>
            <a:ext cx="804862" cy="625475"/>
            <a:chOff x="2872080" y="4324320"/>
            <a:chExt cx="803880" cy="625678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DAF24BC-A810-4B69-E886-F601C47EB829}"/>
                </a:ext>
              </a:extLst>
            </p:cNvPr>
            <p:cNvSpPr/>
            <p:nvPr/>
          </p:nvSpPr>
          <p:spPr>
            <a:xfrm>
              <a:off x="2989412" y="4581578"/>
              <a:ext cx="347238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B6385F0-2178-7BD6-9878-6B1EDF1210B7}"/>
                </a:ext>
              </a:extLst>
            </p:cNvPr>
            <p:cNvSpPr/>
            <p:nvPr/>
          </p:nvSpPr>
          <p:spPr>
            <a:xfrm>
              <a:off x="2872080" y="4468830"/>
              <a:ext cx="803880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Comic Sans MS" pitchFamily="18"/>
                  <a:ea typeface="Noto Sans CJK SC Regular" pitchFamily="2"/>
                  <a:cs typeface="FreeSans" pitchFamily="2"/>
                </a:rPr>
                <a:t>K  (m)</a:t>
              </a: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7EDA70C-9398-FB30-E051-233EB2005A5A}"/>
                </a:ext>
              </a:extLst>
            </p:cNvPr>
            <p:cNvSpPr/>
            <p:nvPr/>
          </p:nvSpPr>
          <p:spPr>
            <a:xfrm>
              <a:off x="2921232" y="4324320"/>
              <a:ext cx="290159" cy="3684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</p:grpSp>
      <p:grpSp>
        <p:nvGrpSpPr>
          <p:cNvPr id="47138" name="Group 59">
            <a:extLst>
              <a:ext uri="{FF2B5EF4-FFF2-40B4-BE49-F238E27FC236}">
                <a16:creationId xmlns:a16="http://schemas.microsoft.com/office/drawing/2014/main" id="{E47F2AAB-0701-8BF9-107F-F20E1930C090}"/>
              </a:ext>
            </a:extLst>
          </p:cNvPr>
          <p:cNvGrpSpPr>
            <a:grpSpLocks/>
          </p:cNvGrpSpPr>
          <p:nvPr/>
        </p:nvGrpSpPr>
        <p:grpSpPr bwMode="auto">
          <a:xfrm>
            <a:off x="427038" y="4687888"/>
            <a:ext cx="1749425" cy="633412"/>
            <a:chOff x="426600" y="4688280"/>
            <a:chExt cx="1750319" cy="633239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E851DB5-5FE1-98F6-F353-B3677A1BF6FD}"/>
                </a:ext>
              </a:extLst>
            </p:cNvPr>
            <p:cNvSpPr/>
            <p:nvPr/>
          </p:nvSpPr>
          <p:spPr>
            <a:xfrm>
              <a:off x="966626" y="4942211"/>
              <a:ext cx="349428" cy="36819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CEB0754-E83E-E6A6-ABFF-B6419B171498}"/>
                </a:ext>
              </a:extLst>
            </p:cNvPr>
            <p:cNvSpPr/>
            <p:nvPr/>
          </p:nvSpPr>
          <p:spPr>
            <a:xfrm>
              <a:off x="426600" y="4796201"/>
              <a:ext cx="1750319" cy="36819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Comic Sans MS" pitchFamily="18"/>
                  <a:ea typeface="Noto Sans CJK SC Regular" pitchFamily="2"/>
                  <a:cs typeface="FreeSans" pitchFamily="2"/>
                </a:rPr>
                <a:t>m = K  (K   (m))</a:t>
              </a: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0C873B6-24DB-E06B-C8CF-E7C5EEC9A33A}"/>
                </a:ext>
              </a:extLst>
            </p:cNvPr>
            <p:cNvSpPr/>
            <p:nvPr/>
          </p:nvSpPr>
          <p:spPr>
            <a:xfrm>
              <a:off x="1411353" y="4688280"/>
              <a:ext cx="290660" cy="36819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+</a:t>
              </a: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7AC1EBC-65FB-0B99-EEF4-6841811BC9D5}"/>
                </a:ext>
              </a:extLst>
            </p:cNvPr>
            <p:cNvSpPr/>
            <p:nvPr/>
          </p:nvSpPr>
          <p:spPr>
            <a:xfrm>
              <a:off x="1393881" y="4953320"/>
              <a:ext cx="349428" cy="36819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A</a:t>
              </a: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DCCDE9F-1C5D-312E-1EDA-E03DD79BC83E}"/>
                </a:ext>
              </a:extLst>
            </p:cNvPr>
            <p:cNvSpPr/>
            <p:nvPr/>
          </p:nvSpPr>
          <p:spPr>
            <a:xfrm>
              <a:off x="996803" y="4688280"/>
              <a:ext cx="276366" cy="368199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wrap="none" lIns="90000" tIns="46800" rIns="90000" bIns="46800" compatLnSpc="0">
              <a:spAutoFit/>
            </a:bodyPr>
            <a:lstStyle/>
            <a:p>
              <a:pPr algn="ctr" eaLnBrk="1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rgbClr val="FF0000"/>
                  </a:solidFill>
                  <a:latin typeface="Comic Sans MS" pitchFamily="18"/>
                  <a:ea typeface="Noto Sans CJK SC Regular" pitchFamily="2"/>
                  <a:cs typeface="FreeSans" pitchFamily="2"/>
                </a:rPr>
                <a:t>-</a:t>
              </a:r>
            </a:p>
          </p:txBody>
        </p:sp>
      </p:grp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E879976-64FF-BE1D-C9F9-99D778875504}"/>
              </a:ext>
            </a:extLst>
          </p:cNvPr>
          <p:cNvSpPr/>
          <p:nvPr/>
        </p:nvSpPr>
        <p:spPr>
          <a:xfrm>
            <a:off x="2482850" y="2732088"/>
            <a:ext cx="325438" cy="3683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wrap="none" lIns="90000" tIns="46800" rIns="90000" bIns="46800" compatLnSpc="0">
            <a:spAutoFit/>
          </a:bodyPr>
          <a:lstStyle/>
          <a:p>
            <a:pPr algn="ctr"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Comic Sans MS" pitchFamily="18"/>
                <a:ea typeface="Noto Sans CJK SC Regular" pitchFamily="2"/>
                <a:cs typeface="FreeSans" pitchFamily="2"/>
              </a:rPr>
              <a:t>R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46133962-9F93-2668-FC9A-2C3C58BBB4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AC25B1-13F1-4D83-A83E-31D6CCE602EC}" type="slidenum">
              <a:rPr altLang="en-US">
                <a:latin typeface="Liberation Serif"/>
                <a:ea typeface="DejaVu Sans"/>
                <a:cs typeface="DejaVu Sans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altLang="en-US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62DB9-9CFB-8833-E029-79CEF63661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280" y="209520"/>
            <a:ext cx="9189360" cy="787320"/>
          </a:xfrm>
        </p:spPr>
        <p:txBody>
          <a:bodyPr wrap="square" lIns="90000" tIns="46800" rIns="90000" bIns="46800" anchorCtr="0">
            <a:no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ap5.0: celah keamanan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53B20-7712-3AC1-AF8B-B0A891894C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9000" y="914400"/>
            <a:ext cx="8370000" cy="1004040"/>
          </a:xfrm>
        </p:spPr>
        <p:txBody>
          <a:bodyPr wrap="square" lIns="90000" tIns="46800" rIns="90000" bIns="46800" anchor="t" anchorCtr="0"/>
          <a:lstStyle/>
          <a:p>
            <a:pPr marL="342720" indent="-342720" eaLnBrk="1" fontAlgn="auto">
              <a:spcBef>
                <a:spcPts val="598"/>
              </a:spcBef>
              <a:spcAft>
                <a:spcPts val="0"/>
              </a:spcAft>
              <a:defRPr/>
            </a:pPr>
            <a:r>
              <a:rPr sz="2400">
                <a:solidFill>
                  <a:srgbClr val="FF0000"/>
                </a:solidFill>
              </a:rPr>
              <a:t>Man (woman) in the middle attack:</a:t>
            </a:r>
            <a:r>
              <a:rPr sz="2400">
                <a:solidFill>
                  <a:srgbClr val="000000"/>
                </a:solidFill>
              </a:rPr>
              <a:t> Trudy menyamar sebagai Alice (ke Bob) dan sebagai Bob (ke Alice)</a:t>
            </a:r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90D032F5-DCC3-1DA2-3786-D33B21DEF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638" y="1906588"/>
            <a:ext cx="8826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6">
            <a:extLst>
              <a:ext uri="{FF2B5EF4-FFF2-40B4-BE49-F238E27FC236}">
                <a16:creationId xmlns:a16="http://schemas.microsoft.com/office/drawing/2014/main" id="{A8A03BAB-E273-7729-D485-4E33A0CEC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1820863"/>
            <a:ext cx="1050925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9" name="Picture 7">
            <a:extLst>
              <a:ext uri="{FF2B5EF4-FFF2-40B4-BE49-F238E27FC236}">
                <a16:creationId xmlns:a16="http://schemas.microsoft.com/office/drawing/2014/main" id="{FEFBC07E-E03C-F7B0-C22F-5D15A3B24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814513"/>
            <a:ext cx="828675" cy="76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029B7C2-546B-64D7-149F-6986F3640446}"/>
              </a:ext>
            </a:extLst>
          </p:cNvPr>
          <p:cNvSpPr/>
          <p:nvPr/>
        </p:nvSpPr>
        <p:spPr>
          <a:xfrm>
            <a:off x="2135188" y="2212975"/>
            <a:ext cx="2479675" cy="0"/>
          </a:xfrm>
          <a:prstGeom prst="line">
            <a:avLst/>
          </a:prstGeom>
          <a:noFill/>
          <a:ln w="38160" cap="sq">
            <a:solidFill>
              <a:srgbClr val="00000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DF4F566-5E54-0AA5-3633-F0609FCBA789}"/>
              </a:ext>
            </a:extLst>
          </p:cNvPr>
          <p:cNvSpPr/>
          <p:nvPr/>
        </p:nvSpPr>
        <p:spPr>
          <a:xfrm>
            <a:off x="5713413" y="2246313"/>
            <a:ext cx="2479675" cy="0"/>
          </a:xfrm>
          <a:prstGeom prst="line">
            <a:avLst/>
          </a:prstGeom>
          <a:noFill/>
          <a:ln w="38160" cap="sq">
            <a:solidFill>
              <a:srgbClr val="000000"/>
            </a:solidFill>
            <a:prstDash val="solid"/>
            <a:miter/>
            <a:headEnd type="arrow"/>
            <a:tailEnd type="arrow"/>
          </a:ln>
        </p:spPr>
        <p:txBody>
          <a:bodyPr lIns="90000" tIns="46800" rIns="90000" bIns="46800" compatLnSpc="0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015BC1-7AEC-8B7C-5BE2-34CAE56E4DA3}"/>
              </a:ext>
            </a:extLst>
          </p:cNvPr>
          <p:cNvSpPr/>
          <p:nvPr/>
        </p:nvSpPr>
        <p:spPr>
          <a:xfrm>
            <a:off x="569913" y="2854325"/>
            <a:ext cx="8834437" cy="14652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lIns="182880" tIns="46800" rIns="90000" bIns="46800" compatLnSpc="0">
            <a:sp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latin typeface="Liberation Sans" pitchFamily="34"/>
                <a:ea typeface="Noto Sans CJK SC Regular" pitchFamily="2"/>
                <a:cs typeface="FreeSans" pitchFamily="2"/>
              </a:rPr>
              <a:t>Sukar dideteksi: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>
                <a:latin typeface="Liberation Sans" pitchFamily="34"/>
                <a:ea typeface="Noto Sans CJK SC Regular" pitchFamily="2"/>
                <a:cs typeface="FreeSans" pitchFamily="2"/>
              </a:rPr>
              <a:t>Bob menerima apapun yang dikirim Alice dan sebaliknya.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>
                <a:latin typeface="Liberation Sans" pitchFamily="34"/>
                <a:ea typeface="Noto Sans CJK SC Regular" pitchFamily="2"/>
                <a:cs typeface="FreeSans" pitchFamily="2"/>
              </a:rPr>
              <a:t>Masalahnya Trudy juga!</a:t>
            </a:r>
          </a:p>
          <a:p>
            <a:pPr eaLnBrk="1" fontAlgn="auto"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lang="en-US">
                <a:latin typeface="Liberation Sans" pitchFamily="34"/>
                <a:ea typeface="Noto Sans CJK SC Regular" pitchFamily="2"/>
                <a:cs typeface="FreeSans" pitchFamily="2"/>
              </a:rPr>
              <a:t>Catatan: Masalahnya adalah distribusi kunci, jika saja Bob tahu atau dapat men-dapatkan kunci publik Alice secara aman, tidak akan terjadi masalah!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E753-E459-0950-E3B8-723C621090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Autentikasi kunci publik rahasia hybrid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2A90C-5AEB-B2BA-0AF8-E01483716F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600">
                <a:solidFill>
                  <a:sysClr val="windowText" lastClr="000000"/>
                </a:solidFill>
              </a:rPr>
              <a:t>Idenya adalah menggunakan kunci publik untuk mengirimkan </a:t>
            </a:r>
            <a:r>
              <a:rPr sz="2600">
                <a:solidFill>
                  <a:srgbClr val="CE181E"/>
                </a:solidFill>
              </a:rPr>
              <a:t>kunci sesi</a:t>
            </a:r>
            <a:r>
              <a:rPr sz="2600">
                <a:solidFill>
                  <a:sysClr val="windowText" lastClr="000000"/>
                </a:solidFill>
              </a:rPr>
              <a:t> komunikasi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600">
                <a:solidFill>
                  <a:sysClr val="windowText" lastClr="000000"/>
                </a:solidFill>
              </a:rPr>
              <a:t>Harus dipunyai </a:t>
            </a:r>
            <a:r>
              <a:rPr sz="2600">
                <a:solidFill>
                  <a:srgbClr val="CE181E"/>
                </a:solidFill>
              </a:rPr>
              <a:t>autentikasi bersama</a:t>
            </a:r>
            <a:r>
              <a:rPr sz="2600">
                <a:solidFill>
                  <a:sysClr val="windowText" lastClr="000000"/>
                </a:solidFill>
              </a:rPr>
              <a:t> untuk menjamin kunci sesi dapat dipercaya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600">
                <a:solidFill>
                  <a:sysClr val="windowText" lastClr="000000"/>
                </a:solidFill>
              </a:rPr>
              <a:t>Dalam kasus ini </a:t>
            </a:r>
            <a:r>
              <a:rPr sz="2600">
                <a:solidFill>
                  <a:srgbClr val="CE181E"/>
                </a:solidFill>
              </a:rPr>
              <a:t>diasumsikan</a:t>
            </a:r>
            <a:r>
              <a:rPr sz="2600">
                <a:solidFill>
                  <a:sysClr val="windowText" lastClr="000000"/>
                </a:solidFill>
              </a:rPr>
              <a:t> bahwa Alice dan Bob sudah tahu kunci publik lawannya.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3B32B-14C5-751F-3D9A-0320941EBE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Autentikasi kunci publik rahasia hybrid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3EC6D-9E0F-DA0C-3483-E7B9B534F5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2056680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200" dirty="0">
                <a:solidFill>
                  <a:sysClr val="windowText" lastClr="000000"/>
                </a:solidFill>
              </a:rPr>
              <a:t>Pada </a:t>
            </a:r>
            <a:r>
              <a:rPr sz="1200" dirty="0" err="1">
                <a:solidFill>
                  <a:sysClr val="windowText" lastClr="000000"/>
                </a:solidFill>
              </a:rPr>
              <a:t>pesannya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ke</a:t>
            </a:r>
            <a:r>
              <a:rPr sz="1200" dirty="0">
                <a:solidFill>
                  <a:sysClr val="windowText" lastClr="000000"/>
                </a:solidFill>
              </a:rPr>
              <a:t> Bob, Alice </a:t>
            </a:r>
            <a:r>
              <a:rPr sz="1200" dirty="0" err="1">
                <a:solidFill>
                  <a:sysClr val="windowText" lastClr="000000"/>
                </a:solidFill>
              </a:rPr>
              <a:t>menyatakan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dirinya</a:t>
            </a:r>
            <a:r>
              <a:rPr sz="1200" dirty="0">
                <a:solidFill>
                  <a:sysClr val="windowText" lastClr="000000"/>
                </a:solidFill>
              </a:rPr>
              <a:t>, dan </a:t>
            </a:r>
            <a:r>
              <a:rPr sz="1200" dirty="0" err="1">
                <a:solidFill>
                  <a:sysClr val="windowText" lastClr="000000"/>
                </a:solidFill>
              </a:rPr>
              <a:t>mengirim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pesan</a:t>
            </a:r>
            <a:r>
              <a:rPr sz="1200" dirty="0">
                <a:solidFill>
                  <a:sysClr val="windowText" lastClr="000000"/>
                </a:solidFill>
              </a:rPr>
              <a:t> yang </a:t>
            </a:r>
            <a:r>
              <a:rPr sz="1200" dirty="0" err="1">
                <a:solidFill>
                  <a:sysClr val="windowText" lastClr="000000"/>
                </a:solidFill>
              </a:rPr>
              <a:t>hanya</a:t>
            </a:r>
            <a:r>
              <a:rPr sz="1200" dirty="0">
                <a:solidFill>
                  <a:sysClr val="windowText" lastClr="000000"/>
                </a:solidFill>
              </a:rPr>
              <a:t> Bob </a:t>
            </a:r>
            <a:r>
              <a:rPr sz="1200" dirty="0" err="1">
                <a:solidFill>
                  <a:sysClr val="windowText" lastClr="000000"/>
                </a:solidFill>
              </a:rPr>
              <a:t>dapat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mendekrip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dengan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kunci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pribadinya</a:t>
            </a:r>
            <a:r>
              <a:rPr sz="1200" dirty="0">
                <a:solidFill>
                  <a:sysClr val="windowText" lastClr="000000"/>
                </a:solidFill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Setelah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mendekrip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luar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dalam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dapat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didekrip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publik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Alice,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membuktikan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dialah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pengirimnya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Mengandung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sesi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baru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K</a:t>
            </a:r>
            <a:r>
              <a:rPr lang="en-US" sz="1200" baseline="-33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dan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sebuah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nonce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menjamin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kebaruan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200" dirty="0">
                <a:solidFill>
                  <a:sysClr val="windowText" lastClr="000000"/>
                </a:solidFill>
              </a:rPr>
              <a:t>Bob </a:t>
            </a:r>
            <a:r>
              <a:rPr sz="1200" dirty="0" err="1">
                <a:solidFill>
                  <a:sysClr val="windowText" lastClr="000000"/>
                </a:solidFill>
              </a:rPr>
              <a:t>mengirim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balasan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ke</a:t>
            </a:r>
            <a:r>
              <a:rPr sz="1200" dirty="0">
                <a:solidFill>
                  <a:sysClr val="windowText" lastClr="000000"/>
                </a:solidFill>
              </a:rPr>
              <a:t> Alice yang </a:t>
            </a:r>
            <a:r>
              <a:rPr sz="1200" dirty="0" err="1">
                <a:solidFill>
                  <a:sysClr val="windowText" lastClr="000000"/>
                </a:solidFill>
              </a:rPr>
              <a:t>hanya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bisa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didekrip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dengan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kunci</a:t>
            </a:r>
            <a:r>
              <a:rPr sz="1200" dirty="0">
                <a:solidFill>
                  <a:sysClr val="windowText" lastClr="000000"/>
                </a:solidFill>
              </a:rPr>
              <a:t> </a:t>
            </a:r>
            <a:r>
              <a:rPr sz="1200" dirty="0" err="1">
                <a:solidFill>
                  <a:sysClr val="windowText" lastClr="000000"/>
                </a:solidFill>
              </a:rPr>
              <a:t>pribadinya</a:t>
            </a:r>
            <a:r>
              <a:rPr sz="1200" dirty="0">
                <a:solidFill>
                  <a:sysClr val="windowText" lastClr="000000"/>
                </a:solidFill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Setelah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mendekrip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luar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dalam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dapat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didekrip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publik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Bob,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membuktikan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dialah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pengirimnya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Mengandung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sesi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lagi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 Jika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cocok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sesi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dikirimkannya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maka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keduanya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sudah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mengautentikasi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dirinya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sendiri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dan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bisa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menggunakan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itu</a:t>
            </a:r>
            <a:r>
              <a:rPr lang="en-US" sz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</p:txBody>
      </p:sp>
      <p:pic>
        <p:nvPicPr>
          <p:cNvPr id="53252" name="Picture 4">
            <a:extLst>
              <a:ext uri="{FF2B5EF4-FFF2-40B4-BE49-F238E27FC236}">
                <a16:creationId xmlns:a16="http://schemas.microsoft.com/office/drawing/2014/main" id="{18067975-1E42-BDF5-8D11-6293D910A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3" y="3538538"/>
            <a:ext cx="4532312" cy="213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A9EE-745B-9E56-DB08-272C72AD44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Smart Card/Smart Token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78FD2-CC5C-DE65-C41C-9FAA52D103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RFID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Magnetic strips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Chips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Cryptographic calculator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1575-7E21-8B49-483D-FA693D159C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Biometrik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83C84-141D-A070-95F5-A3A4D2EB0D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Menggunakan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karakteristik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fisik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manusia</a:t>
            </a:r>
            <a:endParaRPr sz="2400" dirty="0">
              <a:solidFill>
                <a:sysClr val="windowText" lastClr="000000"/>
              </a:solidFill>
            </a:endParaRPr>
          </a:p>
          <a:p>
            <a:pPr marL="0" lvl="1" indent="0" fontAlgn="auto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Fingerprint</a:t>
            </a:r>
          </a:p>
          <a:p>
            <a:pPr marL="0" lvl="1" indent="0" fontAlgn="auto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Hand geometry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dan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ukuran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jari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marL="0" lvl="1" indent="0" fontAlgn="auto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Retina dan iris</a:t>
            </a:r>
          </a:p>
          <a:p>
            <a:pPr marL="0" lvl="1" indent="0" fontAlgn="auto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Voice, Face</a:t>
            </a:r>
          </a:p>
          <a:p>
            <a:pPr marL="0" lvl="1" indent="0" fontAlgn="auto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Facial features (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hidung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jarak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mata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  <a:p>
            <a:pPr marL="0" lvl="1" indent="0" fontAlgn="auto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Handwriting, signature, hand motion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F05D-8E47-27AC-046B-D94B262772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Biometrik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51C02-9E15-57EE-4801-20CDFCAFB32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571320" algn="l"/>
                <a:tab pos="1485719" algn="l"/>
                <a:tab pos="2400119" algn="l"/>
                <a:tab pos="331451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  <a:defRPr/>
            </a:pPr>
            <a:r>
              <a:rPr>
                <a:solidFill>
                  <a:sysClr val="windowText" lastClr="000000"/>
                </a:solidFill>
              </a:rPr>
              <a:t>Penggunaan umum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Situasi khusus, keamanan fisik</a:t>
            </a:r>
          </a:p>
          <a:p>
            <a:pPr eaLnBrk="1" fontAlgn="auto" hangingPunct="1">
              <a:spcBef>
                <a:spcPts val="1199"/>
              </a:spcBef>
              <a:spcAft>
                <a:spcPts val="298"/>
              </a:spcAft>
              <a:buSzPct val="45000"/>
              <a:buFont typeface="StarSymbol"/>
              <a:buChar char="●"/>
              <a:tabLst>
                <a:tab pos="171360" algn="l"/>
                <a:tab pos="1085759" algn="l"/>
                <a:tab pos="2000160" algn="l"/>
                <a:tab pos="2914560" algn="l"/>
                <a:tab pos="3828959" algn="l"/>
                <a:tab pos="4743360" algn="l"/>
                <a:tab pos="5657760" algn="l"/>
                <a:tab pos="6572160" algn="l"/>
                <a:tab pos="7486560" algn="l"/>
                <a:tab pos="8400960" algn="l"/>
                <a:tab pos="9315360" algn="l"/>
              </a:tabLst>
              <a:defRPr/>
            </a:pPr>
            <a:r>
              <a:rPr>
                <a:solidFill>
                  <a:sysClr val="windowText" lastClr="000000"/>
                </a:solidFill>
              </a:rPr>
              <a:t>Gabungan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685799" algn="l"/>
                <a:tab pos="1600200" algn="l"/>
                <a:tab pos="2514600" algn="l"/>
                <a:tab pos="3429000" algn="l"/>
                <a:tab pos="4343400" algn="l"/>
                <a:tab pos="5257800" algn="l"/>
                <a:tab pos="6172200" algn="l"/>
                <a:tab pos="7086600" algn="l"/>
                <a:tab pos="8000999" algn="l"/>
                <a:tab pos="8915399" algn="l"/>
              </a:tabLst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Multiple biometrics (sidik jadi, iris mata)</a:t>
            </a:r>
          </a:p>
          <a:p>
            <a:pPr marL="0" lvl="1" indent="0" fontAlgn="auto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tabLst>
                <a:tab pos="685799" algn="l"/>
                <a:tab pos="1600200" algn="l"/>
                <a:tab pos="2514600" algn="l"/>
                <a:tab pos="3429000" algn="l"/>
                <a:tab pos="4343400" algn="l"/>
                <a:tab pos="5257800" algn="l"/>
                <a:tab pos="6172200" algn="l"/>
                <a:tab pos="7086600" algn="l"/>
                <a:tab pos="8000999" algn="l"/>
                <a:tab pos="8915399" algn="l"/>
              </a:tabLst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Biometrik dan PIN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Biometrik dan token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AD7E-29F1-E992-94C7-A9F306C8CB0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572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Vulnerability in Authentication (Password)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E1010-BC8A-CB26-B114-02723CA546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Setiap password dapat ditebak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Tingkat kekuatan suatu password ditentukan oleh berapa banyak tebakan harus dilakukan.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9B4F6-6A8F-DE44-8361-4EED488AC0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572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Vulnerability in Authentication (Password)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68245-C533-E557-A79C-6AC2CE8713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 err="1">
                <a:solidFill>
                  <a:sysClr val="windowText" lastClr="000000"/>
                </a:solidFill>
              </a:rPr>
              <a:t>Untuk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meningkatkan</a:t>
            </a:r>
            <a:r>
              <a:rPr sz="2000" dirty="0">
                <a:solidFill>
                  <a:sysClr val="windowText" lastClr="000000"/>
                </a:solidFill>
              </a:rPr>
              <a:t> security password: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hanya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menggunakan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karakter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a-z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Gunakan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yang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panjang</a:t>
            </a:r>
            <a:endParaRPr lang="en-US" sz="20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Hindari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penggunaan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nama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atau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kata yang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umum</a:t>
            </a:r>
            <a:endParaRPr lang="en-US" sz="20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Gunakan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sesuatu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mudah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diingat</a:t>
            </a:r>
            <a:endParaRPr lang="en-US" sz="20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Gunakan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yang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bervariasi</a:t>
            </a:r>
            <a:endParaRPr lang="en-US" sz="20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Ganti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secara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berkala</a:t>
            </a:r>
            <a:endParaRPr lang="en-US" sz="2000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Jangan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catat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password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Jangan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beritahu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orang lain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4852-87F2-963A-64DB-14A4B89AE6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572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Vulnerability in Authentication (Biometrics)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DAEBD-BACF-4E1E-062E-2598D8A82B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 dirty="0" err="1">
                <a:solidFill>
                  <a:sysClr val="windowText" lastClr="000000"/>
                </a:solidFill>
              </a:rPr>
              <a:t>Permasalahan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dari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penggunaan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biometri</a:t>
            </a:r>
            <a:r>
              <a:rPr sz="2800" dirty="0">
                <a:solidFill>
                  <a:sysClr val="windowText" lastClr="000000"/>
                </a:solidFill>
              </a:rPr>
              <a:t>: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 dirty="0" err="1">
                <a:solidFill>
                  <a:sysClr val="windowText" lastClr="000000"/>
                </a:solidFill>
              </a:rPr>
              <a:t>Perangkat</a:t>
            </a:r>
            <a:r>
              <a:rPr sz="2800" dirty="0">
                <a:solidFill>
                  <a:sysClr val="windowText" lastClr="000000"/>
                </a:solidFill>
              </a:rPr>
              <a:t> yang </a:t>
            </a:r>
            <a:r>
              <a:rPr sz="2800" dirty="0" err="1">
                <a:solidFill>
                  <a:sysClr val="windowText" lastClr="000000"/>
                </a:solidFill>
              </a:rPr>
              <a:t>digunakan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relatif</a:t>
            </a:r>
            <a:r>
              <a:rPr sz="2800" dirty="0">
                <a:solidFill>
                  <a:sysClr val="windowText" lastClr="000000"/>
                </a:solidFill>
              </a:rPr>
              <a:t> mahal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 dirty="0">
                <a:solidFill>
                  <a:sysClr val="windowText" lastClr="000000"/>
                </a:solidFill>
              </a:rPr>
              <a:t>Tingkat </a:t>
            </a:r>
            <a:r>
              <a:rPr sz="2800" dirty="0" err="1">
                <a:solidFill>
                  <a:sysClr val="windowText" lastClr="000000"/>
                </a:solidFill>
              </a:rPr>
              <a:t>akurasi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dari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perangkat</a:t>
            </a:r>
            <a:endParaRPr sz="2800" dirty="0">
              <a:solidFill>
                <a:sysClr val="windowText" lastClr="000000"/>
              </a:solidFill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False positive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8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False negative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 dirty="0" err="1">
                <a:solidFill>
                  <a:sysClr val="windowText" lastClr="000000"/>
                </a:solidFill>
              </a:rPr>
              <a:t>Kemungkinan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dirty="0" err="1">
                <a:solidFill>
                  <a:sysClr val="windowText" lastClr="000000"/>
                </a:solidFill>
              </a:rPr>
              <a:t>terjadinya</a:t>
            </a:r>
            <a:r>
              <a:rPr sz="2800" dirty="0">
                <a:solidFill>
                  <a:sysClr val="windowText" lastClr="000000"/>
                </a:solidFill>
              </a:rPr>
              <a:t> </a:t>
            </a:r>
            <a:r>
              <a:rPr sz="2800" i="1" dirty="0">
                <a:solidFill>
                  <a:sysClr val="windowText" lastClr="000000"/>
                </a:solidFill>
              </a:rPr>
              <a:t>biometric forgeries </a:t>
            </a:r>
            <a:r>
              <a:rPr sz="2800" dirty="0">
                <a:solidFill>
                  <a:sysClr val="windowText" lastClr="000000"/>
                </a:solidFill>
              </a:rPr>
              <a:t>(</a:t>
            </a:r>
            <a:r>
              <a:rPr sz="2800" dirty="0" err="1">
                <a:solidFill>
                  <a:sysClr val="windowText" lastClr="000000"/>
                </a:solidFill>
              </a:rPr>
              <a:t>contoh</a:t>
            </a:r>
            <a:r>
              <a:rPr sz="2800" dirty="0">
                <a:solidFill>
                  <a:sysClr val="windowText" lastClr="000000"/>
                </a:solidFill>
              </a:rPr>
              <a:t>: gummy fingers)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AEFA-7E46-93F4-1FC0-2D56D52E40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0CF60-095A-012B-B1FB-FD14E1AC25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endParaRPr>
              <a:solidFill>
                <a:sysClr val="windowText" lastClr="000000"/>
              </a:solidFill>
            </a:endParaRPr>
          </a:p>
        </p:txBody>
      </p:sp>
      <p:pic>
        <p:nvPicPr>
          <p:cNvPr id="67588" name="Picture 4">
            <a:extLst>
              <a:ext uri="{FF2B5EF4-FFF2-40B4-BE49-F238E27FC236}">
                <a16:creationId xmlns:a16="http://schemas.microsoft.com/office/drawing/2014/main" id="{9474BA07-C9B9-2C9E-3017-AA7F1DEB3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0"/>
            <a:ext cx="8021637" cy="566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>
            <a:extLst>
              <a:ext uri="{FF2B5EF4-FFF2-40B4-BE49-F238E27FC236}">
                <a16:creationId xmlns:a16="http://schemas.microsoft.com/office/drawing/2014/main" id="{64E0B856-AE37-324E-9C70-9AA63BD24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34"/>
          <a:stretch>
            <a:fillRect/>
          </a:stretch>
        </p:blipFill>
        <p:spPr bwMode="auto">
          <a:xfrm>
            <a:off x="1666875" y="1568450"/>
            <a:ext cx="67246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DA39C-F3A6-45DE-7ADB-07EAFEECDB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ysClr val="windowText" lastClr="000000"/>
                </a:solidFill>
              </a:rPr>
              <a:t>Vulnerability in Authentication (Tokens)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1864D-AA33-4E93-164E-74311B9AF3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Salah satu serangan pada tokens, atau sesuatu yang dimiliki user, adalah skimming pada mesin ATM.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Mendapatkan informasi dari magnetic card pada kartu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Merekam pin yang dimasukkan pada mesin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Membuat dummy card dengan data yang diperoleh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:a16="http://schemas.microsoft.com/office/drawing/2014/main" id="{249CF589-3B51-CE82-497B-4F6CBD15C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79388"/>
            <a:ext cx="3268662" cy="521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3">
            <a:extLst>
              <a:ext uri="{FF2B5EF4-FFF2-40B4-BE49-F238E27FC236}">
                <a16:creationId xmlns:a16="http://schemas.microsoft.com/office/drawing/2014/main" id="{463592B9-8055-F2EC-B6FD-135241AF4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206375"/>
            <a:ext cx="2846387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Picture 4">
            <a:extLst>
              <a:ext uri="{FF2B5EF4-FFF2-40B4-BE49-F238E27FC236}">
                <a16:creationId xmlns:a16="http://schemas.microsoft.com/office/drawing/2014/main" id="{32EA9B8B-E201-F10A-D921-2AF76EAFE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038" y="2560638"/>
            <a:ext cx="3779837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B79E-C3EC-8DD9-4EC8-AD3A30F10D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Hash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F97E0-CEA0-8829-204A-43817387AA5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Hash Function, </a:t>
            </a:r>
            <a:r>
              <a:rPr sz="2400" dirty="0" err="1">
                <a:solidFill>
                  <a:sysClr val="windowText" lastClr="000000"/>
                </a:solidFill>
              </a:rPr>
              <a:t>merupakan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fungsi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satu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arah</a:t>
            </a:r>
            <a:endParaRPr sz="2400" dirty="0"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y = F(x)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Nilai yang </a:t>
            </a:r>
            <a:r>
              <a:rPr sz="2400" dirty="0" err="1">
                <a:solidFill>
                  <a:sysClr val="windowText" lastClr="000000"/>
                </a:solidFill>
              </a:rPr>
              <a:t>dihasilkan</a:t>
            </a:r>
            <a:r>
              <a:rPr sz="2400" dirty="0">
                <a:solidFill>
                  <a:sysClr val="windowText" lastClr="000000"/>
                </a:solidFill>
              </a:rPr>
              <a:t> oleh </a:t>
            </a:r>
            <a:r>
              <a:rPr sz="2400" dirty="0" err="1">
                <a:solidFill>
                  <a:sysClr val="windowText" lastClr="000000"/>
                </a:solidFill>
              </a:rPr>
              <a:t>fungsi</a:t>
            </a:r>
            <a:r>
              <a:rPr sz="2400" dirty="0">
                <a:solidFill>
                  <a:sysClr val="windowText" lastClr="000000"/>
                </a:solidFill>
              </a:rPr>
              <a:t> hash </a:t>
            </a:r>
            <a:r>
              <a:rPr sz="2400" dirty="0" err="1">
                <a:solidFill>
                  <a:sysClr val="windowText" lastClr="000000"/>
                </a:solidFill>
              </a:rPr>
              <a:t>disebut</a:t>
            </a:r>
            <a:r>
              <a:rPr sz="2400" dirty="0">
                <a:solidFill>
                  <a:sysClr val="windowText" lastClr="000000"/>
                </a:solidFill>
              </a:rPr>
              <a:t> message digest </a:t>
            </a:r>
            <a:r>
              <a:rPr sz="2400" dirty="0" err="1">
                <a:solidFill>
                  <a:sysClr val="windowText" lastClr="000000"/>
                </a:solidFill>
              </a:rPr>
              <a:t>atau</a:t>
            </a:r>
            <a:r>
              <a:rPr sz="2400" dirty="0">
                <a:solidFill>
                  <a:sysClr val="windowText" lastClr="000000"/>
                </a:solidFill>
              </a:rPr>
              <a:t> hash values.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Fungsi</a:t>
            </a:r>
            <a:r>
              <a:rPr sz="2400" dirty="0">
                <a:solidFill>
                  <a:sysClr val="windowText" lastClr="000000"/>
                </a:solidFill>
              </a:rPr>
              <a:t> hash </a:t>
            </a:r>
            <a:r>
              <a:rPr sz="2400" dirty="0" err="1">
                <a:solidFill>
                  <a:sysClr val="windowText" lastClr="000000"/>
                </a:solidFill>
              </a:rPr>
              <a:t>harus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memenuhi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beberapa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hal</a:t>
            </a:r>
            <a:r>
              <a:rPr sz="2400" dirty="0">
                <a:solidFill>
                  <a:sysClr val="windowText" lastClr="000000"/>
                </a:solidFill>
              </a:rPr>
              <a:t>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Sulit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dilakukan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reverse hash function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dari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segi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komputasi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diberikan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input 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berbeda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sulit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mendapatkan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hash value 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sama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045B-3512-1F68-E005-21F41FFB94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Hash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F9FB6-CAFB-1146-230F-8E37864938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Fungsi hash beroperasi pada dua block data untuk menghasilkan hash code.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Ukuran block data bergantung pada algoritma yang digunakan.</a:t>
            </a:r>
          </a:p>
        </p:txBody>
      </p:sp>
      <p:pic>
        <p:nvPicPr>
          <p:cNvPr id="77828" name="Picture 4">
            <a:extLst>
              <a:ext uri="{FF2B5EF4-FFF2-40B4-BE49-F238E27FC236}">
                <a16:creationId xmlns:a16="http://schemas.microsoft.com/office/drawing/2014/main" id="{46F6C4C2-FCD1-48DA-D588-6C3A2D3CF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2681288"/>
            <a:ext cx="6638925" cy="225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E433-49F5-3619-02AC-76C9BCEA56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Hash Function</a:t>
            </a:r>
          </a:p>
        </p:txBody>
      </p:sp>
      <p:pic>
        <p:nvPicPr>
          <p:cNvPr id="79875" name="Picture 3">
            <a:extLst>
              <a:ext uri="{FF2B5EF4-FFF2-40B4-BE49-F238E27FC236}">
                <a16:creationId xmlns:a16="http://schemas.microsoft.com/office/drawing/2014/main" id="{ED85DA54-04AD-7999-5634-6012B490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82775"/>
            <a:ext cx="8380413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2D1B-9533-A751-8610-C91CBB994D6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MD5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B6E47-0E9E-5E17-A856-422F344A6D6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442692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>
                <a:solidFill>
                  <a:sysClr val="windowText" lastClr="000000"/>
                </a:solidFill>
              </a:rPr>
              <a:t>MD5 </a:t>
            </a:r>
            <a:r>
              <a:rPr sz="2000" dirty="0" err="1">
                <a:solidFill>
                  <a:sysClr val="windowText" lastClr="000000"/>
                </a:solidFill>
              </a:rPr>
              <a:t>dibuat</a:t>
            </a:r>
            <a:r>
              <a:rPr sz="2000" dirty="0">
                <a:solidFill>
                  <a:sysClr val="windowText" lastClr="000000"/>
                </a:solidFill>
              </a:rPr>
              <a:t> oleh Ron Rivest, salah </a:t>
            </a:r>
            <a:r>
              <a:rPr sz="2000" dirty="0" err="1">
                <a:solidFill>
                  <a:sysClr val="windowText" lastClr="000000"/>
                </a:solidFill>
              </a:rPr>
              <a:t>satu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fungsi</a:t>
            </a:r>
            <a:r>
              <a:rPr sz="2000" dirty="0">
                <a:solidFill>
                  <a:sysClr val="windowText" lastClr="000000"/>
                </a:solidFill>
              </a:rPr>
              <a:t> hash yang </a:t>
            </a:r>
            <a:r>
              <a:rPr sz="2000" dirty="0" err="1">
                <a:solidFill>
                  <a:sysClr val="windowText" lastClr="000000"/>
                </a:solidFill>
              </a:rPr>
              <a:t>banyak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digunakan</a:t>
            </a:r>
            <a:r>
              <a:rPr sz="2000" dirty="0">
                <a:solidFill>
                  <a:sysClr val="windowText" lastClr="000000"/>
                </a:solidFill>
              </a:rPr>
              <a:t>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>
                <a:solidFill>
                  <a:sysClr val="windowText" lastClr="000000"/>
                </a:solidFill>
              </a:rPr>
              <a:t>MD5 </a:t>
            </a:r>
            <a:r>
              <a:rPr sz="2000" dirty="0" err="1">
                <a:solidFill>
                  <a:sysClr val="windowText" lastClr="000000"/>
                </a:solidFill>
              </a:rPr>
              <a:t>merupakan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perbaikan</a:t>
            </a:r>
            <a:r>
              <a:rPr sz="2000" dirty="0">
                <a:solidFill>
                  <a:sysClr val="windowText" lastClr="000000"/>
                </a:solidFill>
              </a:rPr>
              <a:t> MD4 </a:t>
            </a:r>
            <a:r>
              <a:rPr sz="2000" dirty="0" err="1">
                <a:solidFill>
                  <a:sysClr val="windowText" lastClr="000000"/>
                </a:solidFill>
              </a:rPr>
              <a:t>setelah</a:t>
            </a:r>
            <a:r>
              <a:rPr sz="2000" dirty="0">
                <a:solidFill>
                  <a:sysClr val="windowText" lastClr="000000"/>
                </a:solidFill>
              </a:rPr>
              <a:t> MD4 </a:t>
            </a:r>
            <a:r>
              <a:rPr sz="2000" dirty="0" err="1">
                <a:solidFill>
                  <a:sysClr val="windowText" lastClr="000000"/>
                </a:solidFill>
              </a:rPr>
              <a:t>sukses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dibobol</a:t>
            </a:r>
            <a:endParaRPr sz="2000" dirty="0"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>
                <a:solidFill>
                  <a:sysClr val="windowText" lastClr="000000"/>
                </a:solidFill>
              </a:rPr>
              <a:t>MD5 </a:t>
            </a:r>
            <a:r>
              <a:rPr sz="2000" dirty="0" err="1">
                <a:solidFill>
                  <a:sysClr val="windowText" lastClr="000000"/>
                </a:solidFill>
              </a:rPr>
              <a:t>menerima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masukan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berupa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pesan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dengan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ukuran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sembarang</a:t>
            </a:r>
            <a:r>
              <a:rPr sz="2000" dirty="0">
                <a:solidFill>
                  <a:sysClr val="windowText" lastClr="000000"/>
                </a:solidFill>
              </a:rPr>
              <a:t>, dan </a:t>
            </a:r>
            <a:r>
              <a:rPr sz="2000" dirty="0" err="1">
                <a:solidFill>
                  <a:sysClr val="windowText" lastClr="000000"/>
                </a:solidFill>
              </a:rPr>
              <a:t>menghasilkan</a:t>
            </a:r>
            <a:r>
              <a:rPr sz="2000" dirty="0">
                <a:solidFill>
                  <a:sysClr val="windowText" lastClr="000000"/>
                </a:solidFill>
              </a:rPr>
              <a:t> message digest yang </a:t>
            </a:r>
            <a:r>
              <a:rPr sz="2000" dirty="0" err="1">
                <a:solidFill>
                  <a:sysClr val="windowText" lastClr="000000"/>
                </a:solidFill>
              </a:rPr>
              <a:t>panjangnya</a:t>
            </a:r>
            <a:r>
              <a:rPr sz="2000" dirty="0">
                <a:solidFill>
                  <a:sysClr val="windowText" lastClr="000000"/>
                </a:solidFill>
              </a:rPr>
              <a:t> 128 bit</a:t>
            </a:r>
          </a:p>
        </p:txBody>
      </p:sp>
      <p:pic>
        <p:nvPicPr>
          <p:cNvPr id="81924" name="Picture 4">
            <a:extLst>
              <a:ext uri="{FF2B5EF4-FFF2-40B4-BE49-F238E27FC236}">
                <a16:creationId xmlns:a16="http://schemas.microsoft.com/office/drawing/2014/main" id="{76657209-2B06-4F9D-D947-FD4E916FE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3" y="1304925"/>
            <a:ext cx="3989387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F4D2-800D-1D3C-EAEA-77DAAE0228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MD5</a:t>
            </a:r>
          </a:p>
        </p:txBody>
      </p:sp>
      <p:pic>
        <p:nvPicPr>
          <p:cNvPr id="83971" name="Picture 3">
            <a:extLst>
              <a:ext uri="{FF2B5EF4-FFF2-40B4-BE49-F238E27FC236}">
                <a16:creationId xmlns:a16="http://schemas.microsoft.com/office/drawing/2014/main" id="{47ED162A-FB4B-2045-4594-62D97D8CD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185863"/>
            <a:ext cx="3579813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3FE7-3B58-A00C-2F98-DC39AE62FF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Pembuatan MD5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38605-2BBB-5A86-53BB-026DCCF7E7B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1. Penambahan padding bits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2. Penambahan nilai panjang plain text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3. Inisialisasi buffer Message Digest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4. Pengolahan pesan dalam block berukuran 512 bit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58A7-B292-1B31-6298-1A7B0BC2C51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Pembuatan MD5 (Langkah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E669F-A060-5E75-7A07-A4B35352ABF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Input </a:t>
            </a:r>
            <a:r>
              <a:rPr sz="2400" dirty="0" err="1">
                <a:solidFill>
                  <a:sysClr val="windowText" lastClr="000000"/>
                </a:solidFill>
              </a:rPr>
              <a:t>dipecah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kedalam</a:t>
            </a:r>
            <a:r>
              <a:rPr sz="2400" dirty="0">
                <a:solidFill>
                  <a:sysClr val="windowText" lastClr="000000"/>
                </a:solidFill>
              </a:rPr>
              <a:t> block </a:t>
            </a:r>
            <a:r>
              <a:rPr sz="2400" dirty="0" err="1">
                <a:solidFill>
                  <a:sysClr val="windowText" lastClr="000000"/>
                </a:solidFill>
              </a:rPr>
              <a:t>berukuran</a:t>
            </a:r>
            <a:r>
              <a:rPr sz="2400" dirty="0">
                <a:solidFill>
                  <a:sysClr val="windowText" lastClr="000000"/>
                </a:solidFill>
              </a:rPr>
              <a:t> 512 bit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Dilakukan</a:t>
            </a:r>
            <a:r>
              <a:rPr sz="2400" dirty="0">
                <a:solidFill>
                  <a:sysClr val="windowText" lastClr="000000"/>
                </a:solidFill>
              </a:rPr>
              <a:t> padding agar </a:t>
            </a:r>
            <a:r>
              <a:rPr sz="2400" dirty="0" err="1">
                <a:solidFill>
                  <a:sysClr val="windowText" lastClr="000000"/>
                </a:solidFill>
              </a:rPr>
              <a:t>panjangnya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dapat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dibagi</a:t>
            </a:r>
            <a:r>
              <a:rPr sz="2400" dirty="0">
                <a:solidFill>
                  <a:sysClr val="windowText" lastClr="000000"/>
                </a:solidFill>
              </a:rPr>
              <a:t> oleh 512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Proses padding: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Tambahkan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bit ‘1’ pada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bagian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akhir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Diikuti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bit ‘0’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sampai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64 bit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kurang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dari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kelipatan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512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448 mod 512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D60B-58B1-43C2-3A4C-B2B32E9B03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Pembuatan MD5 (Langkah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8E98-933F-25B7-F3CB-8C7F24D3BB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Sisa 64 bit terakhir (dari langkah sebelumnya) diisi dengan nilai integer yang merepresentasikan panjang data awal, dalam bit.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Setelah langkah ini, data memiliki panjang dengan kelipatan 512 bit, atau setara dengan 16 (32-bit) words.</a:t>
            </a: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9BC4-7A8C-7FAE-07CB-D5A8878D9B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Pembuatan MD5 (Langkah 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71995-2200-3090-5A72-BF47232EF7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>
                <a:solidFill>
                  <a:sysClr val="windowText" lastClr="000000"/>
                </a:solidFill>
              </a:rPr>
              <a:t>Menggunakan 4 buffer (A, B, C, D) masing-masing berukuran 32-bit.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800">
                <a:solidFill>
                  <a:sysClr val="windowText" lastClr="000000"/>
                </a:solidFill>
              </a:rPr>
              <a:t>Inisialisasi keempat register (dengan nilai hexa, dimulai dari low-order bytes)</a:t>
            </a:r>
          </a:p>
        </p:txBody>
      </p:sp>
      <p:pic>
        <p:nvPicPr>
          <p:cNvPr id="92164" name="Picture 4">
            <a:extLst>
              <a:ext uri="{FF2B5EF4-FFF2-40B4-BE49-F238E27FC236}">
                <a16:creationId xmlns:a16="http://schemas.microsoft.com/office/drawing/2014/main" id="{ECFD4F29-6A68-8C2F-DA7C-FF25ACC96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316288"/>
            <a:ext cx="3305175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0A75-531A-6DFB-1455-C6BFCAD746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Pembuatan MD5 (Langkah 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63986-B228-0DFF-5B00-BC1B0F0E02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Fungsi yang masing-masing menggunakan 3 (32-bit) input dan menghasilkan 1 (32-bit) output.</a:t>
            </a:r>
          </a:p>
        </p:txBody>
      </p:sp>
      <p:pic>
        <p:nvPicPr>
          <p:cNvPr id="94212" name="Picture 4">
            <a:extLst>
              <a:ext uri="{FF2B5EF4-FFF2-40B4-BE49-F238E27FC236}">
                <a16:creationId xmlns:a16="http://schemas.microsoft.com/office/drawing/2014/main" id="{EC309A9A-0AE1-B003-3437-EE9397AD4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2952750"/>
            <a:ext cx="4610100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C698A-341F-22D3-42AA-A3DA754E9E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MD5 hashes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D3044-419C-4E7E-3F47-D49C346F1A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i="1">
                <a:solidFill>
                  <a:sysClr val="windowText" lastClr="000000"/>
                </a:solidFill>
              </a:rPr>
              <a:t>Message digest </a:t>
            </a:r>
            <a:r>
              <a:rPr sz="2400">
                <a:solidFill>
                  <a:sysClr val="windowText" lastClr="000000"/>
                </a:solidFill>
              </a:rPr>
              <a:t>yang dihasilkan dituliskan dalam digit hexa.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400">
                <a:solidFill>
                  <a:sysClr val="windowText" lastClr="000000"/>
                </a:solidFill>
                <a:latin typeface="Courier New" pitchFamily="49"/>
              </a:rPr>
              <a:t>&gt;&gt;&gt; import hashlib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400">
                <a:solidFill>
                  <a:sysClr val="windowText" lastClr="000000"/>
                </a:solidFill>
                <a:latin typeface="Courier New" pitchFamily="49"/>
              </a:rPr>
              <a:t>&gt;&gt;&gt; print hashlib.md5("The quick brown fox jumps over the lazy dog").hexdigest()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400">
                <a:solidFill>
                  <a:srgbClr val="CE181E"/>
                </a:solidFill>
                <a:latin typeface="Courier New" pitchFamily="49"/>
              </a:rPr>
              <a:t>9e107d9d372bb6826bd81d3542a419d6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400">
                <a:solidFill>
                  <a:sysClr val="windowText" lastClr="000000"/>
                </a:solidFill>
                <a:latin typeface="Courier New" pitchFamily="49"/>
              </a:rPr>
              <a:t>&gt;&gt;&gt; print hashlib.md5("The quick brown fox jumps over the lazy dog</a:t>
            </a:r>
            <a:r>
              <a:rPr sz="1400">
                <a:solidFill>
                  <a:sysClr val="windowText" lastClr="000000"/>
                </a:solidFill>
                <a:highlight>
                  <a:srgbClr val="FFF200"/>
                </a:highlight>
                <a:latin typeface="Courier New" pitchFamily="49"/>
              </a:rPr>
              <a:t>.</a:t>
            </a:r>
            <a:r>
              <a:rPr sz="1400">
                <a:solidFill>
                  <a:sysClr val="windowText" lastClr="000000"/>
                </a:solidFill>
                <a:latin typeface="Courier New" pitchFamily="49"/>
              </a:rPr>
              <a:t>").hexdigest()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1400">
                <a:solidFill>
                  <a:srgbClr val="CE181E"/>
                </a:solidFill>
                <a:latin typeface="Courier New" pitchFamily="49"/>
              </a:rPr>
              <a:t>e4d909c290d0fb1ca068ffaddf22cbd0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>
                <a:solidFill>
                  <a:sysClr val="windowText" lastClr="000000"/>
                </a:solidFill>
              </a:rPr>
              <a:t>Perubahan kecil pada pesan memberikan hasil yang berbeda, dikenal dengan </a:t>
            </a:r>
            <a:r>
              <a:rPr sz="2400" i="1">
                <a:solidFill>
                  <a:sysClr val="windowText" lastClr="000000"/>
                </a:solidFill>
              </a:rPr>
              <a:t>Avalanche effect</a:t>
            </a:r>
            <a:r>
              <a:rPr sz="2400">
                <a:solidFill>
                  <a:sysClr val="windowText" lastClr="000000"/>
                </a:solidFill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0E19-BD1A-5530-7A6D-E662EB1225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Digital Signature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CFC43-6ABD-CB12-FA6D-67EC04C886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Mekanisme dimana proses autentikasi dilakukan dengan menambahkan bit pattern pada file.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Menggunakan kriptografi asimetrik.</a:t>
            </a: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2B8D-4750-1A4F-C438-B5505C5BF6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Digital Signature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6BA81-428B-1C5A-89EF-BD8530D627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i="1">
                <a:solidFill>
                  <a:sysClr val="windowText" lastClr="000000"/>
                </a:solidFill>
              </a:rPr>
              <a:t>Digital signature</a:t>
            </a:r>
            <a:r>
              <a:rPr sz="2000">
                <a:solidFill>
                  <a:sysClr val="windowText" lastClr="000000"/>
                </a:solidFill>
              </a:rPr>
              <a:t> harus memenuhi dua persyaratan berikut: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Unforgeable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; Jika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menandatangani pesan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dengan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Sig(S,M)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maka tidak ada orang lain yang dapat menghasilkan [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M,Sig(S,M)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].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Authentic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; Jika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menerima [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M,Sig(S,M)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] yang diakui dari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dapat mengecek apakah signature tersebut benar dari </a:t>
            </a:r>
            <a:r>
              <a:rPr lang="en-US" sz="18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</a:t>
            </a:r>
            <a:r>
              <a:rPr lang="en-US" sz="18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</p:txBody>
      </p:sp>
      <p:pic>
        <p:nvPicPr>
          <p:cNvPr id="100356" name="Picture 4">
            <a:extLst>
              <a:ext uri="{FF2B5EF4-FFF2-40B4-BE49-F238E27FC236}">
                <a16:creationId xmlns:a16="http://schemas.microsoft.com/office/drawing/2014/main" id="{0E765359-09FC-C8AB-C238-F33CD58C4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947988"/>
            <a:ext cx="7542213" cy="219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563E-FA7E-D946-AA3C-1F8E22512D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Digital Signature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126D9-A56C-0A25-66DA-760025189C4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Persyaratan tambahan untuk </a:t>
            </a:r>
            <a:r>
              <a:rPr i="1">
                <a:solidFill>
                  <a:sysClr val="windowText" lastClr="000000"/>
                </a:solidFill>
              </a:rPr>
              <a:t>digital signature</a:t>
            </a:r>
            <a:r>
              <a:rPr>
                <a:solidFill>
                  <a:sysClr val="windowText" lastClr="000000"/>
                </a:solidFill>
              </a:rPr>
              <a:t>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 dapat diubah; Setelah ditransmisikan, </a:t>
            </a:r>
            <a:r>
              <a:rPr lang="en-US" sz="32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tidak dapat diubah oleh </a:t>
            </a:r>
            <a:r>
              <a:rPr lang="en-US" sz="32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sz="32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ataupun pihak ketiga.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 dapat digunakan kembali; Jika pesan sebelumnya dikirim kembali, akan terdeteksi oleh </a:t>
            </a:r>
            <a:r>
              <a:rPr lang="en-US" sz="32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R</a:t>
            </a: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4740-31DD-CA27-3219-7ADDA9C631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Digital Signature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33EF3-57F3-958E-3222-59D3DFA233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/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>
                <a:solidFill>
                  <a:sysClr val="windowText" lastClr="000000"/>
                </a:solidFill>
              </a:rPr>
              <a:t>Hal yang dibutuhkan untuk membuat </a:t>
            </a:r>
            <a:r>
              <a:rPr i="1">
                <a:solidFill>
                  <a:sysClr val="windowText" lastClr="000000"/>
                </a:solidFill>
              </a:rPr>
              <a:t>digital signature</a:t>
            </a:r>
            <a:r>
              <a:rPr>
                <a:solidFill>
                  <a:sysClr val="windowText" lastClr="000000"/>
                </a:solidFill>
              </a:rPr>
              <a:t>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Kriptografi asimetrik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3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Fungsi </a:t>
            </a:r>
            <a:r>
              <a:rPr lang="en-US" sz="3200" i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hash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endParaRPr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i="1">
                <a:solidFill>
                  <a:sysClr val="windowText" lastClr="000000"/>
                </a:solidFill>
              </a:rPr>
              <a:t>Digital Certificate</a:t>
            </a:r>
            <a:r>
              <a:rPr>
                <a:solidFill>
                  <a:sysClr val="windowText" lastClr="000000"/>
                </a:solidFill>
              </a:rPr>
              <a:t>: dokumen elektronik yang memiliki </a:t>
            </a:r>
            <a:r>
              <a:rPr i="1">
                <a:solidFill>
                  <a:sysClr val="windowText" lastClr="000000"/>
                </a:solidFill>
              </a:rPr>
              <a:t>digital signature</a:t>
            </a:r>
            <a:r>
              <a:rPr>
                <a:solidFill>
                  <a:sysClr val="windowText" lastClr="000000"/>
                </a:solidFill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8E22-870D-9B0B-CEBE-054973BFAB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Digital Signature Verification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570FD-6E09-B9BB-92D1-069EF643A11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Proses </a:t>
            </a:r>
            <a:r>
              <a:rPr sz="2400" dirty="0" err="1">
                <a:solidFill>
                  <a:sysClr val="windowText" lastClr="000000"/>
                </a:solidFill>
              </a:rPr>
              <a:t>verifikasi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dilakukan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dengan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langkah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berikut</a:t>
            </a:r>
            <a:endParaRPr sz="2400" dirty="0">
              <a:solidFill>
                <a:sysClr val="windowText" lastClr="000000"/>
              </a:solidFill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1. </a:t>
            </a:r>
            <a:r>
              <a:rPr sz="2400" dirty="0" err="1">
                <a:solidFill>
                  <a:sysClr val="windowText" lastClr="000000"/>
                </a:solidFill>
              </a:rPr>
              <a:t>Hitung</a:t>
            </a:r>
            <a:r>
              <a:rPr sz="2400" dirty="0">
                <a:solidFill>
                  <a:sysClr val="windowText" lastClr="000000"/>
                </a:solidFill>
              </a:rPr>
              <a:t> current hash value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Menghitung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hash value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dari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diterima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2. </a:t>
            </a:r>
            <a:r>
              <a:rPr sz="2400" dirty="0" err="1">
                <a:solidFill>
                  <a:sysClr val="windowText" lastClr="000000"/>
                </a:solidFill>
              </a:rPr>
              <a:t>Hitung</a:t>
            </a:r>
            <a:r>
              <a:rPr sz="2400" dirty="0">
                <a:solidFill>
                  <a:sysClr val="windowText" lastClr="000000"/>
                </a:solidFill>
              </a:rPr>
              <a:t> original hash value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Melakukan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proses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dekripsi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untuk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mendapatkan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nilai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hash value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sebelum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dienkripsi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>
                <a:solidFill>
                  <a:sysClr val="windowText" lastClr="000000"/>
                </a:solidFill>
              </a:rPr>
              <a:t>3. </a:t>
            </a:r>
            <a:r>
              <a:rPr sz="2400" dirty="0" err="1">
                <a:solidFill>
                  <a:sysClr val="windowText" lastClr="000000"/>
                </a:solidFill>
              </a:rPr>
              <a:t>Bandingkan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kedua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nilai</a:t>
            </a:r>
            <a:r>
              <a:rPr sz="2400" dirty="0">
                <a:solidFill>
                  <a:sysClr val="windowText" lastClr="000000"/>
                </a:solidFill>
              </a:rPr>
              <a:t> hash value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kedua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nilai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identik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proses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verifikasi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berhasil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 Jika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invalid digital signature</a:t>
            </a: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77BB-9782-172E-6971-89859945F97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Invalid Signatures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12B2C-39C5-A24D-3215-F060C2E8FD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400" dirty="0" err="1">
                <a:solidFill>
                  <a:sysClr val="windowText" lastClr="000000"/>
                </a:solidFill>
              </a:rPr>
              <a:t>Kemungkinan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dirty="0" err="1">
                <a:solidFill>
                  <a:sysClr val="windowText" lastClr="000000"/>
                </a:solidFill>
              </a:rPr>
              <a:t>penyebab</a:t>
            </a:r>
            <a:r>
              <a:rPr sz="2400" dirty="0">
                <a:solidFill>
                  <a:sysClr val="windowText" lastClr="000000"/>
                </a:solidFill>
              </a:rPr>
              <a:t> </a:t>
            </a:r>
            <a:r>
              <a:rPr sz="2400" i="1" dirty="0">
                <a:solidFill>
                  <a:sysClr val="windowText" lastClr="000000"/>
                </a:solidFill>
              </a:rPr>
              <a:t>invalid digital signatures</a:t>
            </a:r>
            <a:r>
              <a:rPr sz="2400" dirty="0">
                <a:solidFill>
                  <a:sysClr val="windowText" lastClr="000000"/>
                </a:solidFill>
              </a:rPr>
              <a:t>: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digital signature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diubah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dan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dilakukan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proses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dekripsi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original hash value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diperoleh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nilai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dari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asli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pesan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diubah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setelah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dilakukan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proses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signing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current hash value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dihitung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berbeda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original hash value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publik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tidak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berkorespondensi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dengan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kunci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privat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digunakan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pada proses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signing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,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original hash value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diperoleh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setelah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proses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dekripsi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bukan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i="1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original hash value 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yang 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sebenarnya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DCA5-BC83-7E84-4407-1E0DAEB121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26080"/>
            <a:ext cx="9071640" cy="946440"/>
          </a:xfrm>
        </p:spPr>
        <p:txBody>
          <a:bodyPr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olidFill>
                  <a:sysClr val="windowText" lastClr="000000"/>
                </a:solidFill>
              </a:rPr>
              <a:t>Quantum Cryptography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9CC1E-8782-7AD3-87DE-AD23338F88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26600"/>
            <a:ext cx="9071640" cy="3288239"/>
          </a:xfrm>
        </p:spPr>
        <p:txBody>
          <a:bodyPr>
            <a:noAutofit/>
          </a:bodyPr>
          <a:lstStyle/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>
                <a:solidFill>
                  <a:sysClr val="windowText" lastClr="000000"/>
                </a:solidFill>
              </a:rPr>
              <a:t>TUGAS 3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 err="1">
                <a:solidFill>
                  <a:sysClr val="windowText" lastClr="000000"/>
                </a:solidFill>
              </a:rPr>
              <a:t>Buatlah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sebuah</a:t>
            </a:r>
            <a:r>
              <a:rPr sz="2000" dirty="0">
                <a:solidFill>
                  <a:sysClr val="windowText" lastClr="000000"/>
                </a:solidFill>
              </a:rPr>
              <a:t> tulisan yang </a:t>
            </a:r>
            <a:r>
              <a:rPr sz="2000" dirty="0" err="1">
                <a:solidFill>
                  <a:sysClr val="windowText" lastClr="000000"/>
                </a:solidFill>
              </a:rPr>
              <a:t>menjawab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pertanyaan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dibawah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ini</a:t>
            </a:r>
            <a:r>
              <a:rPr sz="2000" dirty="0">
                <a:solidFill>
                  <a:sysClr val="windowText" lastClr="000000"/>
                </a:solidFill>
              </a:rPr>
              <a:t>.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itu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quantum cryptography?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Apa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melatarbelakangi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kemunculannya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?</a:t>
            </a:r>
          </a:p>
          <a:p>
            <a:pPr lvl="1" fontAlgn="auto" hangingPunct="0">
              <a:spcBef>
                <a:spcPts val="1417"/>
              </a:spcBef>
              <a:spcAft>
                <a:spcPts val="0"/>
              </a:spcAft>
              <a:buSzPct val="75000"/>
              <a:buFont typeface="StarSymbol"/>
              <a:buChar char="–"/>
              <a:defRPr/>
            </a:pP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Jika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ada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algoritma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yang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menggunakan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quantum cryptography,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jelaskan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cara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kerja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algoritma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en-US" sz="20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tersebut</a:t>
            </a:r>
            <a:r>
              <a:rPr lang="en-US" sz="20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.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 err="1">
                <a:solidFill>
                  <a:sysClr val="windowText" lastClr="000000"/>
                </a:solidFill>
              </a:rPr>
              <a:t>Kirim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ke</a:t>
            </a:r>
            <a:r>
              <a:rPr sz="2000" dirty="0">
                <a:solidFill>
                  <a:sysClr val="windowText" lastClr="000000"/>
                </a:solidFill>
              </a:rPr>
              <a:t> </a:t>
            </a:r>
            <a:r>
              <a:rPr sz="2000" dirty="0" err="1">
                <a:solidFill>
                  <a:sysClr val="windowText" lastClr="000000"/>
                </a:solidFill>
              </a:rPr>
              <a:t>muhammad.faris.ruriawan</a:t>
            </a:r>
            <a:r>
              <a:rPr sz="2000" dirty="0">
                <a:solidFill>
                  <a:sysClr val="windowText" lastClr="000000"/>
                </a:solidFill>
              </a:rPr>
              <a:t>[at]gmail.com</a:t>
            </a:r>
          </a:p>
          <a:p>
            <a:pPr eaLnBrk="1" fontAlgn="auto"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/>
            </a:pPr>
            <a:r>
              <a:rPr sz="2000" dirty="0">
                <a:solidFill>
                  <a:sysClr val="windowText" lastClr="000000"/>
                </a:solidFill>
              </a:rPr>
              <a:t>Format subject dan </a:t>
            </a:r>
            <a:r>
              <a:rPr sz="2000" dirty="0" err="1">
                <a:solidFill>
                  <a:sysClr val="windowText" lastClr="000000"/>
                </a:solidFill>
              </a:rPr>
              <a:t>judul</a:t>
            </a:r>
            <a:r>
              <a:rPr sz="2000" dirty="0">
                <a:solidFill>
                  <a:sysClr val="windowText" lastClr="000000"/>
                </a:solidFill>
              </a:rPr>
              <a:t>: KELAS_KAMSIS_TUGAS3_NIM_Nama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2221</Words>
  <Application>Microsoft Office PowerPoint</Application>
  <PresentationFormat>Custom</PresentationFormat>
  <Paragraphs>438</Paragraphs>
  <Slides>53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Calibri</vt:lpstr>
      <vt:lpstr>Arial</vt:lpstr>
      <vt:lpstr>Liberation Sans</vt:lpstr>
      <vt:lpstr>Comic Sans MS</vt:lpstr>
      <vt:lpstr>Liberation Serif</vt:lpstr>
      <vt:lpstr>DejaVu Sans</vt:lpstr>
      <vt:lpstr>Noto Sans CJK SC Regular</vt:lpstr>
      <vt:lpstr>FreeSans</vt:lpstr>
      <vt:lpstr>Tahoma</vt:lpstr>
      <vt:lpstr>StarSymbol</vt:lpstr>
      <vt:lpstr>Default</vt:lpstr>
      <vt:lpstr>Title3</vt:lpstr>
      <vt:lpstr>PowerPoint Presentation</vt:lpstr>
      <vt:lpstr>Identification vs Authentication</vt:lpstr>
      <vt:lpstr>Authentication</vt:lpstr>
      <vt:lpstr>Authentication</vt:lpstr>
      <vt:lpstr>Password</vt:lpstr>
      <vt:lpstr>PowerPoint Presentation</vt:lpstr>
      <vt:lpstr>Skema Dasar Password</vt:lpstr>
      <vt:lpstr>Password pada *NIX</vt:lpstr>
      <vt:lpstr>Salt</vt:lpstr>
      <vt:lpstr>Dictionary Attack</vt:lpstr>
      <vt:lpstr>Authentication</vt:lpstr>
      <vt:lpstr>Challenge-response Authentication</vt:lpstr>
      <vt:lpstr>Challenge-response Authentication</vt:lpstr>
      <vt:lpstr>Authentication: usaha kedua</vt:lpstr>
      <vt:lpstr>Authentication: usaha kedua</vt:lpstr>
      <vt:lpstr>Authentication: usaha ketiga</vt:lpstr>
      <vt:lpstr>Authentication: usaha ketiga</vt:lpstr>
      <vt:lpstr>Authentication: usaha ketiga (rev.)</vt:lpstr>
      <vt:lpstr>Authentication: usaha ketiga (rev.)</vt:lpstr>
      <vt:lpstr>Authentication: usaha keempat</vt:lpstr>
      <vt:lpstr>Authentication: usaha kelima</vt:lpstr>
      <vt:lpstr>ap5.0: celah keamanan</vt:lpstr>
      <vt:lpstr>ap5.0: celah keamanan</vt:lpstr>
      <vt:lpstr>Autentikasi kunci publik rahasia hybrid</vt:lpstr>
      <vt:lpstr>Autentikasi kunci publik rahasia hybrid</vt:lpstr>
      <vt:lpstr>Smart Card/Smart Token</vt:lpstr>
      <vt:lpstr>Biometrik</vt:lpstr>
      <vt:lpstr>Biometrik</vt:lpstr>
      <vt:lpstr>Vulnerability in Authentication (Password)</vt:lpstr>
      <vt:lpstr>Vulnerability in Authentication (Password)</vt:lpstr>
      <vt:lpstr>Vulnerability in Authentication (Biometrics)</vt:lpstr>
      <vt:lpstr>PowerPoint Presentation</vt:lpstr>
      <vt:lpstr>PowerPoint Presentation</vt:lpstr>
      <vt:lpstr>Vulnerability in Authentication (Tokens)</vt:lpstr>
      <vt:lpstr>PowerPoint Presentation</vt:lpstr>
      <vt:lpstr>Hash Function</vt:lpstr>
      <vt:lpstr>Hash Function</vt:lpstr>
      <vt:lpstr>Hash Function</vt:lpstr>
      <vt:lpstr>MD5</vt:lpstr>
      <vt:lpstr>MD5</vt:lpstr>
      <vt:lpstr>Pembuatan MD5</vt:lpstr>
      <vt:lpstr>Pembuatan MD5 (Langkah 1)</vt:lpstr>
      <vt:lpstr>Pembuatan MD5 (Langkah 2)</vt:lpstr>
      <vt:lpstr>Pembuatan MD5 (Langkah 3)</vt:lpstr>
      <vt:lpstr>Pembuatan MD5 (Langkah 4)</vt:lpstr>
      <vt:lpstr>MD5 hashes</vt:lpstr>
      <vt:lpstr>Digital Signature</vt:lpstr>
      <vt:lpstr>Digital Signature</vt:lpstr>
      <vt:lpstr>Digital Signature</vt:lpstr>
      <vt:lpstr>Digital Signature</vt:lpstr>
      <vt:lpstr>Digital Signature Verification</vt:lpstr>
      <vt:lpstr>Invalid Signatures</vt:lpstr>
      <vt:lpstr>Quantum Cryptography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AL QARNIE</cp:lastModifiedBy>
  <cp:revision>33</cp:revision>
  <dcterms:created xsi:type="dcterms:W3CDTF">2018-09-02T16:12:32Z</dcterms:created>
  <dcterms:modified xsi:type="dcterms:W3CDTF">2026-03-21T15:26:58Z</dcterms:modified>
</cp:coreProperties>
</file>